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320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Unlike a traditional static graph, where we build the graph and then run algorithms on it, a dynamic graph is continuously changing. For example, in a social network, new connections are constantly being created and old connections can disappear.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 thousand threads update the same adjacency at once without synchronisation, we observe races, lost updates and corruption. This pressure is modest on CPUs with few threads, but severe on GPUs. Our question is how to permit such concurrency correctly and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synchronization with locks, atomics and CAS is already difficult, and SIMT execution makes it worse through divergence and deadlock risk. Our motivation is a general-purpose GPU-STM abstraction that hides this complexity and avoids such bugs, while staying close to specialized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1  —  INTRODUCTION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800" b="1" i="0">
                <a:solidFill>
                  <a:srgbClr val="1F3A5F"/>
                </a:solidFill>
                <a:latin typeface="Arial"/>
              </a:defRPr>
            </a:pPr>
            <a:r>
              <a:t>What is a Dynamic Graph?</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1</a:t>
            </a:r>
          </a:p>
        </p:txBody>
      </p:sp>
      <p:sp>
        <p:nvSpPr>
          <p:cNvPr id="8" name="TextBox 7"/>
          <p:cNvSpPr txBox="1"/>
          <p:nvPr/>
        </p:nvSpPr>
        <p:spPr>
          <a:xfrm>
            <a:off x="548640" y="1325880"/>
            <a:ext cx="11091672" cy="411480"/>
          </a:xfrm>
          <a:prstGeom prst="rect">
            <a:avLst/>
          </a:prstGeom>
          <a:noFill/>
        </p:spPr>
        <p:txBody>
          <a:bodyPr wrap="square">
            <a:spAutoFit/>
          </a:bodyPr>
          <a:lstStyle/>
          <a:p>
            <a:pPr algn="l">
              <a:defRPr sz="1300" b="0" i="1">
                <a:solidFill>
                  <a:srgbClr val="333333"/>
                </a:solidFill>
                <a:latin typeface="Arial"/>
              </a:defRPr>
            </a:pPr>
            <a:r>
              <a:t>A dynamic graph G(t) = (V(t), E(t)) is a graph whose vertex and edge sets change over time through insertions and deletions.</a:t>
            </a:r>
          </a:p>
        </p:txBody>
      </p:sp>
      <p:sp>
        <p:nvSpPr>
          <p:cNvPr id="9" name="TextBox 8"/>
          <p:cNvSpPr txBox="1"/>
          <p:nvPr/>
        </p:nvSpPr>
        <p:spPr>
          <a:xfrm>
            <a:off x="548640" y="1920240"/>
            <a:ext cx="3291840" cy="320040"/>
          </a:xfrm>
          <a:prstGeom prst="rect">
            <a:avLst/>
          </a:prstGeom>
          <a:noFill/>
        </p:spPr>
        <p:txBody>
          <a:bodyPr wrap="square">
            <a:spAutoFit/>
          </a:bodyPr>
          <a:lstStyle/>
          <a:p>
            <a:pPr algn="l">
              <a:defRPr sz="1400" b="1" i="0">
                <a:solidFill>
                  <a:srgbClr val="000000"/>
                </a:solidFill>
                <a:latin typeface="Arial"/>
              </a:defRPr>
            </a:pPr>
            <a:r>
              <a:t>Static graph — fixed structure</a:t>
            </a:r>
          </a:p>
        </p:txBody>
      </p:sp>
      <p:cxnSp>
        <p:nvCxnSpPr>
          <p:cNvPr id="10" name="Connector 9"/>
          <p:cNvCxnSpPr/>
          <p:nvPr/>
        </p:nvCxnSpPr>
        <p:spPr>
          <a:xfrm flipV="1">
            <a:off x="1371600" y="2606039"/>
            <a:ext cx="868679" cy="1828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240279" y="2606039"/>
            <a:ext cx="548641" cy="64008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788920"/>
            <a:ext cx="1417320" cy="4572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2788920"/>
            <a:ext cx="320040" cy="10058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97280" y="251460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15" name="Oval 14"/>
          <p:cNvSpPr/>
          <p:nvPr/>
        </p:nvSpPr>
        <p:spPr>
          <a:xfrm>
            <a:off x="1965960" y="233172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16" name="Oval 15"/>
          <p:cNvSpPr/>
          <p:nvPr/>
        </p:nvSpPr>
        <p:spPr>
          <a:xfrm>
            <a:off x="2514600" y="297180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17" name="Oval 16"/>
          <p:cNvSpPr/>
          <p:nvPr/>
        </p:nvSpPr>
        <p:spPr>
          <a:xfrm>
            <a:off x="1417320" y="3520440"/>
            <a:ext cx="548640" cy="548640"/>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18" name="TextBox 17"/>
          <p:cNvSpPr txBox="1"/>
          <p:nvPr/>
        </p:nvSpPr>
        <p:spPr>
          <a:xfrm>
            <a:off x="548640" y="4206240"/>
            <a:ext cx="3291840" cy="274320"/>
          </a:xfrm>
          <a:prstGeom prst="rect">
            <a:avLst/>
          </a:prstGeom>
          <a:noFill/>
        </p:spPr>
        <p:txBody>
          <a:bodyPr wrap="square">
            <a:spAutoFit/>
          </a:bodyPr>
          <a:lstStyle/>
          <a:p>
            <a:pPr algn="l">
              <a:defRPr sz="1100" b="0" i="0">
                <a:solidFill>
                  <a:srgbClr val="5A5A5A"/>
                </a:solidFill>
                <a:latin typeface="Arial"/>
              </a:defRPr>
            </a:pPr>
            <a:r>
              <a:t>Built once, then analysed.</a:t>
            </a:r>
          </a:p>
        </p:txBody>
      </p:sp>
      <p:cxnSp>
        <p:nvCxnSpPr>
          <p:cNvPr id="19" name="Connector 18"/>
          <p:cNvCxnSpPr/>
          <p:nvPr/>
        </p:nvCxnSpPr>
        <p:spPr>
          <a:xfrm>
            <a:off x="4114800" y="1920240"/>
            <a:ext cx="0" cy="265176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80560" y="1920240"/>
            <a:ext cx="3840480" cy="320040"/>
          </a:xfrm>
          <a:prstGeom prst="rect">
            <a:avLst/>
          </a:prstGeom>
          <a:noFill/>
        </p:spPr>
        <p:txBody>
          <a:bodyPr wrap="square">
            <a:spAutoFit/>
          </a:bodyPr>
          <a:lstStyle/>
          <a:p>
            <a:pPr algn="l">
              <a:defRPr sz="1400" b="1" i="0">
                <a:solidFill>
                  <a:srgbClr val="000000"/>
                </a:solidFill>
                <a:latin typeface="Arial"/>
              </a:defRPr>
            </a:pPr>
            <a:r>
              <a:t>Dynamic graph — evolving structure</a:t>
            </a:r>
          </a:p>
        </p:txBody>
      </p:sp>
      <p:sp>
        <p:nvSpPr>
          <p:cNvPr id="21" name="TextBox 20"/>
          <p:cNvSpPr txBox="1"/>
          <p:nvPr/>
        </p:nvSpPr>
        <p:spPr>
          <a:xfrm>
            <a:off x="4480560" y="2331720"/>
            <a:ext cx="1554480" cy="274320"/>
          </a:xfrm>
          <a:prstGeom prst="rect">
            <a:avLst/>
          </a:prstGeom>
          <a:noFill/>
        </p:spPr>
        <p:txBody>
          <a:bodyPr wrap="square">
            <a:spAutoFit/>
          </a:bodyPr>
          <a:lstStyle/>
          <a:p>
            <a:pPr algn="ctr">
              <a:defRPr sz="1100" b="0" i="0">
                <a:solidFill>
                  <a:srgbClr val="5A5A5A"/>
                </a:solidFill>
                <a:latin typeface="Arial"/>
              </a:defRPr>
            </a:pPr>
            <a:r>
              <a:t>Before</a:t>
            </a:r>
          </a:p>
        </p:txBody>
      </p:sp>
      <p:cxnSp>
        <p:nvCxnSpPr>
          <p:cNvPr id="22" name="Connector 21"/>
          <p:cNvCxnSpPr/>
          <p:nvPr/>
        </p:nvCxnSpPr>
        <p:spPr>
          <a:xfrm flipV="1">
            <a:off x="4946904" y="2798063"/>
            <a:ext cx="594360" cy="13716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541264" y="2798063"/>
            <a:ext cx="320040" cy="50292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46904" y="2935224"/>
            <a:ext cx="914400" cy="36576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46904" y="2935224"/>
            <a:ext cx="137160" cy="777239"/>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709160" y="269748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27" name="Oval 26"/>
          <p:cNvSpPr/>
          <p:nvPr/>
        </p:nvSpPr>
        <p:spPr>
          <a:xfrm>
            <a:off x="5303520" y="25603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28" name="Oval 27"/>
          <p:cNvSpPr/>
          <p:nvPr/>
        </p:nvSpPr>
        <p:spPr>
          <a:xfrm>
            <a:off x="5623560" y="30632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29" name="Oval 28"/>
          <p:cNvSpPr/>
          <p:nvPr/>
        </p:nvSpPr>
        <p:spPr>
          <a:xfrm>
            <a:off x="4846320" y="34747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30" name="TextBox 29"/>
          <p:cNvSpPr txBox="1"/>
          <p:nvPr/>
        </p:nvSpPr>
        <p:spPr>
          <a:xfrm>
            <a:off x="6263640" y="2971800"/>
            <a:ext cx="640080" cy="320040"/>
          </a:xfrm>
          <a:prstGeom prst="rect">
            <a:avLst/>
          </a:prstGeom>
          <a:noFill/>
        </p:spPr>
        <p:txBody>
          <a:bodyPr wrap="square">
            <a:spAutoFit/>
          </a:bodyPr>
          <a:lstStyle/>
          <a:p>
            <a:pPr algn="ctr">
              <a:defRPr sz="2000" b="0" i="0">
                <a:solidFill>
                  <a:srgbClr val="1F3A5F"/>
                </a:solidFill>
                <a:latin typeface="Arial"/>
              </a:defRPr>
            </a:pPr>
            <a:r>
              <a:t>→</a:t>
            </a:r>
          </a:p>
        </p:txBody>
      </p:sp>
      <p:sp>
        <p:nvSpPr>
          <p:cNvPr id="31" name="TextBox 30"/>
          <p:cNvSpPr txBox="1"/>
          <p:nvPr/>
        </p:nvSpPr>
        <p:spPr>
          <a:xfrm>
            <a:off x="6080760" y="3291840"/>
            <a:ext cx="1005840" cy="274320"/>
          </a:xfrm>
          <a:prstGeom prst="rect">
            <a:avLst/>
          </a:prstGeom>
          <a:noFill/>
        </p:spPr>
        <p:txBody>
          <a:bodyPr wrap="square">
            <a:spAutoFit/>
          </a:bodyPr>
          <a:lstStyle/>
          <a:p>
            <a:pPr algn="ctr">
              <a:defRPr sz="1100" b="0" i="0">
                <a:solidFill>
                  <a:srgbClr val="000000"/>
                </a:solidFill>
                <a:latin typeface="Arial"/>
              </a:defRPr>
            </a:pPr>
            <a:r>
              <a:t>+ (A, E)</a:t>
            </a:r>
          </a:p>
        </p:txBody>
      </p:sp>
      <p:sp>
        <p:nvSpPr>
          <p:cNvPr id="32" name="TextBox 31"/>
          <p:cNvSpPr txBox="1"/>
          <p:nvPr/>
        </p:nvSpPr>
        <p:spPr>
          <a:xfrm>
            <a:off x="7040880" y="2331720"/>
            <a:ext cx="1737360" cy="274320"/>
          </a:xfrm>
          <a:prstGeom prst="rect">
            <a:avLst/>
          </a:prstGeom>
          <a:noFill/>
        </p:spPr>
        <p:txBody>
          <a:bodyPr wrap="square">
            <a:spAutoFit/>
          </a:bodyPr>
          <a:lstStyle/>
          <a:p>
            <a:pPr algn="ctr">
              <a:defRPr sz="1100" b="0" i="0">
                <a:solidFill>
                  <a:srgbClr val="5A5A5A"/>
                </a:solidFill>
                <a:latin typeface="Arial"/>
              </a:defRPr>
            </a:pPr>
            <a:r>
              <a:t>After</a:t>
            </a:r>
          </a:p>
        </p:txBody>
      </p:sp>
      <p:cxnSp>
        <p:nvCxnSpPr>
          <p:cNvPr id="33" name="Connector 32"/>
          <p:cNvCxnSpPr/>
          <p:nvPr/>
        </p:nvCxnSpPr>
        <p:spPr>
          <a:xfrm flipV="1">
            <a:off x="7507224" y="2798063"/>
            <a:ext cx="594359" cy="13716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01583" y="2798063"/>
            <a:ext cx="320041" cy="502921"/>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507224" y="2935224"/>
            <a:ext cx="914400" cy="36576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507224" y="2935224"/>
            <a:ext cx="91440" cy="777239"/>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507224" y="2935224"/>
            <a:ext cx="1097280" cy="822960"/>
          </a:xfrm>
          <a:prstGeom prst="line">
            <a:avLst/>
          </a:prstGeom>
          <a:ln w="22225">
            <a:solidFill>
              <a:srgbClr val="C00000"/>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269480" y="269748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A</a:t>
            </a:r>
          </a:p>
        </p:txBody>
      </p:sp>
      <p:sp>
        <p:nvSpPr>
          <p:cNvPr id="39" name="Oval 38"/>
          <p:cNvSpPr/>
          <p:nvPr/>
        </p:nvSpPr>
        <p:spPr>
          <a:xfrm>
            <a:off x="7863840" y="25603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B</a:t>
            </a:r>
          </a:p>
        </p:txBody>
      </p:sp>
      <p:sp>
        <p:nvSpPr>
          <p:cNvPr id="40" name="Oval 39"/>
          <p:cNvSpPr/>
          <p:nvPr/>
        </p:nvSpPr>
        <p:spPr>
          <a:xfrm>
            <a:off x="8183879" y="30632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C</a:t>
            </a:r>
          </a:p>
        </p:txBody>
      </p:sp>
      <p:sp>
        <p:nvSpPr>
          <p:cNvPr id="41" name="Oval 40"/>
          <p:cNvSpPr/>
          <p:nvPr/>
        </p:nvSpPr>
        <p:spPr>
          <a:xfrm>
            <a:off x="7360920" y="347472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D</a:t>
            </a:r>
          </a:p>
        </p:txBody>
      </p:sp>
      <p:sp>
        <p:nvSpPr>
          <p:cNvPr id="42" name="Oval 41"/>
          <p:cNvSpPr/>
          <p:nvPr/>
        </p:nvSpPr>
        <p:spPr>
          <a:xfrm>
            <a:off x="8366760" y="3520440"/>
            <a:ext cx="475488" cy="475488"/>
          </a:xfrm>
          <a:prstGeom prst="ellipse">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00000"/>
                </a:solidFill>
                <a:latin typeface="Arial"/>
              </a:defRPr>
            </a:pPr>
            <a:r>
              <a:t>E</a:t>
            </a:r>
          </a:p>
        </p:txBody>
      </p:sp>
      <p:sp>
        <p:nvSpPr>
          <p:cNvPr id="43" name="TextBox 42"/>
          <p:cNvSpPr txBox="1"/>
          <p:nvPr/>
        </p:nvSpPr>
        <p:spPr>
          <a:xfrm>
            <a:off x="4480560" y="4206240"/>
            <a:ext cx="4297680" cy="274320"/>
          </a:xfrm>
          <a:prstGeom prst="rect">
            <a:avLst/>
          </a:prstGeom>
          <a:noFill/>
        </p:spPr>
        <p:txBody>
          <a:bodyPr wrap="square">
            <a:spAutoFit/>
          </a:bodyPr>
          <a:lstStyle/>
          <a:p>
            <a:pPr algn="l">
              <a:defRPr sz="1100" b="0" i="0">
                <a:solidFill>
                  <a:srgbClr val="5A5A5A"/>
                </a:solidFill>
                <a:latin typeface="Arial"/>
              </a:defRPr>
            </a:pPr>
            <a:r>
              <a:t>Edge (A, E) inserted; deletions analogous.</a:t>
            </a:r>
          </a:p>
        </p:txBody>
      </p:sp>
      <p:cxnSp>
        <p:nvCxnSpPr>
          <p:cNvPr id="44" name="Connector 43"/>
          <p:cNvCxnSpPr/>
          <p:nvPr/>
        </p:nvCxnSpPr>
        <p:spPr>
          <a:xfrm>
            <a:off x="9052560" y="1920240"/>
            <a:ext cx="0" cy="265176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326880" y="1920240"/>
            <a:ext cx="2286000" cy="320040"/>
          </a:xfrm>
          <a:prstGeom prst="rect">
            <a:avLst/>
          </a:prstGeom>
          <a:noFill/>
        </p:spPr>
        <p:txBody>
          <a:bodyPr wrap="square">
            <a:spAutoFit/>
          </a:bodyPr>
          <a:lstStyle/>
          <a:p>
            <a:pPr algn="l">
              <a:defRPr sz="1400" b="1" i="0">
                <a:solidFill>
                  <a:srgbClr val="000000"/>
                </a:solidFill>
                <a:latin typeface="Arial"/>
              </a:defRPr>
            </a:pPr>
            <a:r>
              <a:t>Typical examples</a:t>
            </a:r>
          </a:p>
        </p:txBody>
      </p:sp>
      <p:sp>
        <p:nvSpPr>
          <p:cNvPr id="46" name="TextBox 45"/>
          <p:cNvSpPr txBox="1"/>
          <p:nvPr/>
        </p:nvSpPr>
        <p:spPr>
          <a:xfrm>
            <a:off x="9326880" y="2377440"/>
            <a:ext cx="2286000" cy="1828800"/>
          </a:xfrm>
          <a:prstGeom prst="rect">
            <a:avLst/>
          </a:prstGeom>
          <a:noFill/>
        </p:spPr>
        <p:txBody>
          <a:bodyPr wrap="square">
            <a:spAutoFit/>
          </a:bodyPr>
          <a:lstStyle/>
          <a:p>
            <a:pPr algn="l">
              <a:spcBef>
                <a:spcPts val="0"/>
              </a:spcBef>
              <a:spcAft>
                <a:spcPts val="400"/>
              </a:spcAft>
            </a:pPr>
            <a:r>
              <a:rPr sz="1200">
                <a:solidFill>
                  <a:srgbClr val="000000"/>
                </a:solidFill>
                <a:latin typeface="Arial"/>
              </a:rPr>
              <a:t>•  Social networks</a:t>
            </a:r>
          </a:p>
          <a:p>
            <a:pPr algn="l">
              <a:spcBef>
                <a:spcPts val="0"/>
              </a:spcBef>
              <a:spcAft>
                <a:spcPts val="400"/>
              </a:spcAft>
            </a:pPr>
            <a:r>
              <a:rPr sz="1200">
                <a:solidFill>
                  <a:srgbClr val="000000"/>
                </a:solidFill>
                <a:latin typeface="Arial"/>
              </a:rPr>
              <a:t>•  Road networks</a:t>
            </a:r>
          </a:p>
          <a:p>
            <a:pPr algn="l">
              <a:spcBef>
                <a:spcPts val="0"/>
              </a:spcBef>
              <a:spcAft>
                <a:spcPts val="400"/>
              </a:spcAft>
            </a:pPr>
            <a:r>
              <a:rPr sz="1200">
                <a:solidFill>
                  <a:srgbClr val="000000"/>
                </a:solidFill>
                <a:latin typeface="Arial"/>
              </a:rPr>
              <a:t>•  Communication networks</a:t>
            </a:r>
          </a:p>
          <a:p>
            <a:pPr algn="l">
              <a:spcBef>
                <a:spcPts val="0"/>
              </a:spcBef>
              <a:spcAft>
                <a:spcPts val="400"/>
              </a:spcAft>
            </a:pPr>
            <a:r>
              <a:rPr sz="1200">
                <a:solidFill>
                  <a:srgbClr val="000000"/>
                </a:solidFill>
                <a:latin typeface="Arial"/>
              </a:rPr>
              <a:t>•  Recommendation graphs</a:t>
            </a:r>
          </a:p>
        </p:txBody>
      </p:sp>
      <p:sp>
        <p:nvSpPr>
          <p:cNvPr id="47" name="TextBox 46"/>
          <p:cNvSpPr txBox="1"/>
          <p:nvPr/>
        </p:nvSpPr>
        <p:spPr>
          <a:xfrm>
            <a:off x="548640" y="5029200"/>
            <a:ext cx="11091672" cy="822960"/>
          </a:xfrm>
          <a:prstGeom prst="rect">
            <a:avLst/>
          </a:prstGeom>
          <a:noFill/>
        </p:spPr>
        <p:txBody>
          <a:bodyPr wrap="square">
            <a:spAutoFit/>
          </a:bodyPr>
          <a:lstStyle/>
          <a:p>
            <a:pPr algn="l">
              <a:defRPr sz="1300" b="0" i="0">
                <a:solidFill>
                  <a:srgbClr val="000000"/>
                </a:solidFill>
                <a:latin typeface="Arial"/>
              </a:defRPr>
            </a:pPr>
            <a:r>
              <a:t>Key idea:  unlike static analysis, the graph is updated continuously as new data arrives, e.g. new friendships formed or roads closed.</a:t>
            </a:r>
          </a:p>
        </p:txBody>
      </p:sp>
      <p:cxnSp>
        <p:nvCxnSpPr>
          <p:cNvPr id="48" name="Connector 47"/>
          <p:cNvCxnSpPr/>
          <p:nvPr/>
        </p:nvCxnSpPr>
        <p:spPr>
          <a:xfrm>
            <a:off x="548640" y="489204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2  —  PROBLEM</a:t>
            </a:r>
          </a:p>
        </p:txBody>
      </p:sp>
      <p:sp>
        <p:nvSpPr>
          <p:cNvPr id="3" name="TextBox 2"/>
          <p:cNvSpPr txBox="1"/>
          <p:nvPr/>
        </p:nvSpPr>
        <p:spPr>
          <a:xfrm>
            <a:off x="548640" y="457200"/>
            <a:ext cx="11064240" cy="523220"/>
          </a:xfrm>
          <a:prstGeom prst="rect">
            <a:avLst/>
          </a:prstGeom>
          <a:noFill/>
        </p:spPr>
        <p:txBody>
          <a:bodyPr wrap="square">
            <a:spAutoFit/>
          </a:bodyPr>
          <a:lstStyle/>
          <a:p>
            <a:pPr algn="l">
              <a:defRPr sz="2800" b="1" i="0">
                <a:solidFill>
                  <a:srgbClr val="1F3A5F"/>
                </a:solidFill>
                <a:latin typeface="Arial"/>
              </a:defRPr>
            </a:pPr>
            <a:r>
              <a:rPr lang="en-IN" dirty="0"/>
              <a:t>Why concurrent updates are a problem?</a:t>
            </a:r>
            <a:endParaRPr dirty="0"/>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2</a:t>
            </a:r>
          </a:p>
        </p:txBody>
      </p:sp>
      <p:sp>
        <p:nvSpPr>
          <p:cNvPr id="8" name="TextBox 7"/>
          <p:cNvSpPr txBox="1"/>
          <p:nvPr/>
        </p:nvSpPr>
        <p:spPr>
          <a:xfrm>
            <a:off x="548640" y="1325880"/>
            <a:ext cx="11091672" cy="292388"/>
          </a:xfrm>
          <a:prstGeom prst="rect">
            <a:avLst/>
          </a:prstGeom>
          <a:noFill/>
        </p:spPr>
        <p:txBody>
          <a:bodyPr wrap="square">
            <a:spAutoFit/>
          </a:bodyPr>
          <a:lstStyle/>
          <a:p>
            <a:pPr algn="l">
              <a:defRPr sz="1300" b="0" i="1">
                <a:solidFill>
                  <a:srgbClr val="333333"/>
                </a:solidFill>
                <a:latin typeface="Arial"/>
              </a:defRPr>
            </a:pPr>
            <a:r>
              <a:rPr dirty="0"/>
              <a:t>Consider </a:t>
            </a:r>
            <a:r>
              <a:rPr lang="en-IN" dirty="0"/>
              <a:t>multiple</a:t>
            </a:r>
            <a:r>
              <a:rPr dirty="0"/>
              <a:t> threads applying updates concurrently, many targeting the same vertex.</a:t>
            </a:r>
          </a:p>
        </p:txBody>
      </p:sp>
      <p:sp>
        <p:nvSpPr>
          <p:cNvPr id="9" name="TextBox 8"/>
          <p:cNvSpPr txBox="1"/>
          <p:nvPr/>
        </p:nvSpPr>
        <p:spPr>
          <a:xfrm>
            <a:off x="1590040" y="1907827"/>
            <a:ext cx="3474720" cy="320040"/>
          </a:xfrm>
          <a:prstGeom prst="rect">
            <a:avLst/>
          </a:prstGeom>
          <a:noFill/>
        </p:spPr>
        <p:txBody>
          <a:bodyPr wrap="square">
            <a:spAutoFit/>
          </a:bodyPr>
          <a:lstStyle/>
          <a:p>
            <a:pPr algn="l">
              <a:defRPr sz="1400" b="1" i="0">
                <a:solidFill>
                  <a:srgbClr val="000000"/>
                </a:solidFill>
                <a:latin typeface="Arial"/>
              </a:defRPr>
            </a:pPr>
            <a:r>
              <a:t>Concurrent updates to vertex A</a:t>
            </a:r>
          </a:p>
        </p:txBody>
      </p:sp>
      <p:sp>
        <p:nvSpPr>
          <p:cNvPr id="10" name="TextBox 9"/>
          <p:cNvSpPr txBox="1"/>
          <p:nvPr/>
        </p:nvSpPr>
        <p:spPr>
          <a:xfrm>
            <a:off x="1590040" y="2319308"/>
            <a:ext cx="3017520" cy="201168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T1: </a:t>
            </a:r>
            <a:r>
              <a:rPr sz="1200" b="0" dirty="0">
                <a:solidFill>
                  <a:srgbClr val="000000"/>
                </a:solidFill>
                <a:latin typeface="Arial"/>
              </a:rPr>
              <a:t>Insert (A, E)</a:t>
            </a:r>
          </a:p>
          <a:p>
            <a:pPr algn="l">
              <a:spcBef>
                <a:spcPts val="0"/>
              </a:spcBef>
              <a:spcAft>
                <a:spcPts val="400"/>
              </a:spcAft>
            </a:pPr>
            <a:r>
              <a:rPr sz="1200" b="1" dirty="0">
                <a:solidFill>
                  <a:srgbClr val="000000"/>
                </a:solidFill>
                <a:latin typeface="Arial"/>
              </a:rPr>
              <a:t>•  T2: </a:t>
            </a:r>
            <a:r>
              <a:rPr sz="1200" b="0" dirty="0">
                <a:solidFill>
                  <a:srgbClr val="000000"/>
                </a:solidFill>
                <a:latin typeface="Arial"/>
              </a:rPr>
              <a:t>Delete (A, B)</a:t>
            </a:r>
          </a:p>
          <a:p>
            <a:pPr algn="l">
              <a:spcBef>
                <a:spcPts val="0"/>
              </a:spcBef>
              <a:spcAft>
                <a:spcPts val="400"/>
              </a:spcAft>
            </a:pPr>
            <a:r>
              <a:rPr sz="1200" b="1" dirty="0">
                <a:solidFill>
                  <a:srgbClr val="000000"/>
                </a:solidFill>
                <a:latin typeface="Arial"/>
              </a:rPr>
              <a:t>•  T3: </a:t>
            </a:r>
            <a:r>
              <a:rPr sz="1200" b="0" dirty="0">
                <a:solidFill>
                  <a:srgbClr val="000000"/>
                </a:solidFill>
                <a:latin typeface="Arial"/>
              </a:rPr>
              <a:t>Insert (A, F)</a:t>
            </a:r>
          </a:p>
          <a:p>
            <a:pPr algn="l">
              <a:spcBef>
                <a:spcPts val="0"/>
              </a:spcBef>
              <a:spcAft>
                <a:spcPts val="400"/>
              </a:spcAft>
            </a:pPr>
            <a:r>
              <a:rPr sz="1200" b="1" dirty="0">
                <a:solidFill>
                  <a:srgbClr val="000000"/>
                </a:solidFill>
                <a:latin typeface="Arial"/>
              </a:rPr>
              <a:t>•  T4: </a:t>
            </a:r>
            <a:r>
              <a:rPr sz="1200" b="0" dirty="0">
                <a:solidFill>
                  <a:srgbClr val="000000"/>
                </a:solidFill>
                <a:latin typeface="Arial"/>
              </a:rPr>
              <a:t>Insert (A, G)</a:t>
            </a:r>
          </a:p>
          <a:p>
            <a:pPr algn="l">
              <a:spcBef>
                <a:spcPts val="0"/>
              </a:spcBef>
              <a:spcAft>
                <a:spcPts val="400"/>
              </a:spcAft>
            </a:pPr>
            <a:r>
              <a:rPr sz="1200" b="1" dirty="0">
                <a:solidFill>
                  <a:srgbClr val="000000"/>
                </a:solidFill>
                <a:latin typeface="Arial"/>
              </a:rPr>
              <a:t>•  T5: </a:t>
            </a:r>
            <a:r>
              <a:rPr sz="1200" b="0" dirty="0">
                <a:solidFill>
                  <a:srgbClr val="000000"/>
                </a:solidFill>
                <a:latin typeface="Arial"/>
              </a:rPr>
              <a:t>Delete (A, C)  ...</a:t>
            </a:r>
          </a:p>
        </p:txBody>
      </p:sp>
      <p:sp>
        <p:nvSpPr>
          <p:cNvPr id="11" name="Rounded Rectangle 10"/>
          <p:cNvSpPr/>
          <p:nvPr/>
        </p:nvSpPr>
        <p:spPr>
          <a:xfrm>
            <a:off x="4790439" y="2685068"/>
            <a:ext cx="1554480" cy="100584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F3A5F"/>
                </a:solidFill>
                <a:latin typeface="Arial"/>
              </a:defRPr>
            </a:pPr>
            <a:r>
              <a:t>Vertex A</a:t>
            </a:r>
            <a:br/>
            <a:r>
              <a:t>adjacency</a:t>
            </a:r>
          </a:p>
        </p:txBody>
      </p:sp>
      <p:cxnSp>
        <p:nvCxnSpPr>
          <p:cNvPr id="12" name="Connector 11"/>
          <p:cNvCxnSpPr/>
          <p:nvPr/>
        </p:nvCxnSpPr>
        <p:spPr>
          <a:xfrm>
            <a:off x="4607560" y="2456468"/>
            <a:ext cx="182879" cy="7315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07560" y="2822228"/>
            <a:ext cx="182879" cy="36576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07560" y="3142268"/>
            <a:ext cx="182879" cy="457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07560" y="3187988"/>
            <a:ext cx="182879" cy="274320"/>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607560" y="3187988"/>
            <a:ext cx="182879" cy="594359"/>
          </a:xfrm>
          <a:prstGeom prst="line">
            <a:avLst/>
          </a:prstGeom>
          <a:ln w="12700">
            <a:solidFill>
              <a:srgbClr val="5A5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99000" y="3828068"/>
            <a:ext cx="1737360" cy="274320"/>
          </a:xfrm>
          <a:prstGeom prst="rect">
            <a:avLst/>
          </a:prstGeom>
          <a:noFill/>
        </p:spPr>
        <p:txBody>
          <a:bodyPr wrap="square">
            <a:spAutoFit/>
          </a:bodyPr>
          <a:lstStyle/>
          <a:p>
            <a:pPr algn="l">
              <a:defRPr sz="1100" b="0" i="0">
                <a:solidFill>
                  <a:srgbClr val="5A5A5A"/>
                </a:solidFill>
                <a:latin typeface="Arial"/>
              </a:defRPr>
            </a:pPr>
            <a:r>
              <a:t>shared adjacency structure</a:t>
            </a:r>
          </a:p>
        </p:txBody>
      </p:sp>
      <p:cxnSp>
        <p:nvCxnSpPr>
          <p:cNvPr id="18" name="Connector 17"/>
          <p:cNvCxnSpPr/>
          <p:nvPr/>
        </p:nvCxnSpPr>
        <p:spPr>
          <a:xfrm>
            <a:off x="6664960" y="1907827"/>
            <a:ext cx="0" cy="2697481"/>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85000" y="1907827"/>
            <a:ext cx="2743200" cy="320040"/>
          </a:xfrm>
          <a:prstGeom prst="rect">
            <a:avLst/>
          </a:prstGeom>
          <a:noFill/>
        </p:spPr>
        <p:txBody>
          <a:bodyPr wrap="square">
            <a:spAutoFit/>
          </a:bodyPr>
          <a:lstStyle/>
          <a:p>
            <a:pPr algn="l">
              <a:defRPr sz="1400" b="1" i="0">
                <a:solidFill>
                  <a:srgbClr val="000000"/>
                </a:solidFill>
                <a:latin typeface="Arial"/>
              </a:defRPr>
            </a:pPr>
            <a:r>
              <a:t>Without synchronisation</a:t>
            </a:r>
          </a:p>
        </p:txBody>
      </p:sp>
      <p:sp>
        <p:nvSpPr>
          <p:cNvPr id="20" name="TextBox 19"/>
          <p:cNvSpPr txBox="1"/>
          <p:nvPr/>
        </p:nvSpPr>
        <p:spPr>
          <a:xfrm>
            <a:off x="6985000" y="2319308"/>
            <a:ext cx="2743200" cy="228600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Race conditions</a:t>
            </a:r>
            <a:r>
              <a:rPr sz="1200" b="0" dirty="0">
                <a:solidFill>
                  <a:srgbClr val="000000"/>
                </a:solidFill>
                <a:latin typeface="Arial"/>
              </a:rPr>
              <a:t> — concurrent modification of shared state.</a:t>
            </a:r>
          </a:p>
          <a:p>
            <a:pPr algn="l">
              <a:spcBef>
                <a:spcPts val="0"/>
              </a:spcBef>
              <a:spcAft>
                <a:spcPts val="400"/>
              </a:spcAft>
            </a:pPr>
            <a:r>
              <a:rPr sz="1200" b="1" dirty="0">
                <a:solidFill>
                  <a:srgbClr val="000000"/>
                </a:solidFill>
                <a:latin typeface="Arial"/>
              </a:rPr>
              <a:t>•  Lost updates</a:t>
            </a:r>
            <a:r>
              <a:rPr sz="1200" b="0" dirty="0">
                <a:solidFill>
                  <a:srgbClr val="000000"/>
                </a:solidFill>
                <a:latin typeface="Arial"/>
              </a:rPr>
              <a:t> — one update overwrites another.</a:t>
            </a:r>
          </a:p>
          <a:p>
            <a:pPr algn="l">
              <a:spcBef>
                <a:spcPts val="0"/>
              </a:spcBef>
              <a:spcAft>
                <a:spcPts val="400"/>
              </a:spcAft>
            </a:pPr>
            <a:r>
              <a:rPr sz="1200" b="1" dirty="0">
                <a:solidFill>
                  <a:srgbClr val="000000"/>
                </a:solidFill>
                <a:latin typeface="Arial"/>
              </a:rPr>
              <a:t>•  Inconsistent state</a:t>
            </a:r>
            <a:r>
              <a:rPr sz="1200" b="0" dirty="0">
                <a:solidFill>
                  <a:srgbClr val="000000"/>
                </a:solidFill>
                <a:latin typeface="Arial"/>
              </a:rPr>
              <a:t> — result does not reflect requested updates.</a:t>
            </a:r>
          </a:p>
          <a:p>
            <a:pPr algn="l">
              <a:spcBef>
                <a:spcPts val="0"/>
              </a:spcBef>
              <a:spcAft>
                <a:spcPts val="400"/>
              </a:spcAft>
            </a:pPr>
            <a:r>
              <a:rPr sz="1200" b="1" dirty="0">
                <a:solidFill>
                  <a:srgbClr val="000000"/>
                </a:solidFill>
                <a:latin typeface="Arial"/>
              </a:rPr>
              <a:t>•  Corruption</a:t>
            </a:r>
            <a:r>
              <a:rPr sz="1200" b="0" dirty="0">
                <a:solidFill>
                  <a:srgbClr val="000000"/>
                </a:solidFill>
                <a:latin typeface="Arial"/>
              </a:rPr>
              <a:t> — structural invariants violated.</a:t>
            </a:r>
          </a:p>
        </p:txBody>
      </p:sp>
      <p:cxnSp>
        <p:nvCxnSpPr>
          <p:cNvPr id="25" name="Connector 24"/>
          <p:cNvCxnSpPr/>
          <p:nvPr/>
        </p:nvCxnSpPr>
        <p:spPr>
          <a:xfrm>
            <a:off x="548640" y="48463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5029200"/>
            <a:ext cx="11091672" cy="320040"/>
          </a:xfrm>
          <a:prstGeom prst="rect">
            <a:avLst/>
          </a:prstGeom>
          <a:noFill/>
        </p:spPr>
        <p:txBody>
          <a:bodyPr wrap="square">
            <a:spAutoFit/>
          </a:bodyPr>
          <a:lstStyle/>
          <a:p>
            <a:pPr algn="ctr">
              <a:defRPr sz="1100" b="0" i="0">
                <a:solidFill>
                  <a:srgbClr val="5A5A5A"/>
                </a:solidFill>
                <a:latin typeface="Arial"/>
              </a:defRPr>
            </a:pPr>
            <a:r>
              <a:t>Research question</a:t>
            </a:r>
          </a:p>
        </p:txBody>
      </p:sp>
      <p:sp>
        <p:nvSpPr>
          <p:cNvPr id="27" name="TextBox 26"/>
          <p:cNvSpPr txBox="1"/>
          <p:nvPr/>
        </p:nvSpPr>
        <p:spPr>
          <a:xfrm>
            <a:off x="1371600" y="5349240"/>
            <a:ext cx="9445752" cy="731520"/>
          </a:xfrm>
          <a:prstGeom prst="rect">
            <a:avLst/>
          </a:prstGeom>
          <a:noFill/>
        </p:spPr>
        <p:txBody>
          <a:bodyPr wrap="square">
            <a:spAutoFit/>
          </a:bodyPr>
          <a:lstStyle/>
          <a:p>
            <a:pPr algn="ctr">
              <a:defRPr sz="1500" b="1" i="0">
                <a:solidFill>
                  <a:srgbClr val="1F3A5F"/>
                </a:solidFill>
                <a:latin typeface="Arial"/>
              </a:defRPr>
            </a:pPr>
            <a:r>
              <a:rPr dirty="0"/>
              <a:t>How can thousands of GPU threads update a shared dynamic graph concurrently while preserving correctness and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3  —  MOTIVATION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600" b="1" i="0">
                <a:solidFill>
                  <a:srgbClr val="1F3A5F"/>
                </a:solidFill>
                <a:latin typeface="Arial"/>
              </a:defRPr>
            </a:pPr>
            <a:r>
              <a:rPr dirty="0"/>
              <a:t>Why Do We Need a Synchronization Abstraction?</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rPr dirty="0"/>
              <a:t>General-Purpose STM for Concurrent Dynamic </a:t>
            </a:r>
            <a:r>
              <a:rPr dirty="0" err="1"/>
              <a:t>GraphUpdates</a:t>
            </a:r>
            <a:r>
              <a:rPr dirty="0"/>
              <a:t>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3</a:t>
            </a:r>
          </a:p>
        </p:txBody>
      </p:sp>
      <p:sp>
        <p:nvSpPr>
          <p:cNvPr id="8" name="TextBox 7"/>
          <p:cNvSpPr txBox="1"/>
          <p:nvPr/>
        </p:nvSpPr>
        <p:spPr>
          <a:xfrm>
            <a:off x="548640" y="1325880"/>
            <a:ext cx="11091672" cy="365760"/>
          </a:xfrm>
          <a:prstGeom prst="rect">
            <a:avLst/>
          </a:prstGeom>
          <a:noFill/>
        </p:spPr>
        <p:txBody>
          <a:bodyPr wrap="square">
            <a:spAutoFit/>
          </a:bodyPr>
          <a:lstStyle/>
          <a:p>
            <a:pPr algn="l">
              <a:defRPr sz="1300" b="0" i="1">
                <a:solidFill>
                  <a:srgbClr val="333333"/>
                </a:solidFill>
                <a:latin typeface="Arial"/>
              </a:defRPr>
            </a:pPr>
            <a:r>
              <a:rPr dirty="0"/>
              <a:t>Manual GPU synchronization with locks, atomics, and CAS is complex and error-prone.</a:t>
            </a:r>
          </a:p>
        </p:txBody>
      </p:sp>
      <p:sp>
        <p:nvSpPr>
          <p:cNvPr id="20" name="TextBox 19"/>
          <p:cNvSpPr txBox="1"/>
          <p:nvPr/>
        </p:nvSpPr>
        <p:spPr>
          <a:xfrm>
            <a:off x="4114800" y="1756750"/>
            <a:ext cx="3017520" cy="320040"/>
          </a:xfrm>
          <a:prstGeom prst="rect">
            <a:avLst/>
          </a:prstGeom>
          <a:noFill/>
        </p:spPr>
        <p:txBody>
          <a:bodyPr wrap="square">
            <a:spAutoFit/>
          </a:bodyPr>
          <a:lstStyle/>
          <a:p>
            <a:pPr algn="l">
              <a:defRPr sz="1400" b="1" i="0">
                <a:solidFill>
                  <a:srgbClr val="000000"/>
                </a:solidFill>
                <a:latin typeface="Arial"/>
              </a:defRPr>
            </a:pPr>
            <a:r>
              <a:rPr u="sng" dirty="0"/>
              <a:t>Why GPUs make it harder (SIMT)</a:t>
            </a:r>
          </a:p>
        </p:txBody>
      </p:sp>
      <p:sp>
        <p:nvSpPr>
          <p:cNvPr id="21" name="TextBox 20"/>
          <p:cNvSpPr txBox="1"/>
          <p:nvPr/>
        </p:nvSpPr>
        <p:spPr>
          <a:xfrm>
            <a:off x="4160520" y="2203704"/>
            <a:ext cx="3017520" cy="320040"/>
          </a:xfrm>
          <a:prstGeom prst="rect">
            <a:avLst/>
          </a:prstGeom>
          <a:noFill/>
        </p:spPr>
        <p:txBody>
          <a:bodyPr wrap="square">
            <a:spAutoFit/>
          </a:bodyPr>
          <a:lstStyle/>
          <a:p>
            <a:pPr algn="l">
              <a:defRPr sz="1100" b="0" i="0">
                <a:solidFill>
                  <a:srgbClr val="5A5A5A"/>
                </a:solidFill>
                <a:latin typeface="Arial"/>
              </a:defRPr>
            </a:pPr>
            <a:r>
              <a:rPr dirty="0"/>
              <a:t>Developers add locks, atomics, CAS, retries, ordering.</a:t>
            </a:r>
          </a:p>
        </p:txBody>
      </p:sp>
      <p:sp>
        <p:nvSpPr>
          <p:cNvPr id="22" name="Rounded Rectangle 21"/>
          <p:cNvSpPr/>
          <p:nvPr/>
        </p:nvSpPr>
        <p:spPr>
          <a:xfrm>
            <a:off x="4297680" y="2660904"/>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Fine-grained locks</a:t>
            </a:r>
          </a:p>
        </p:txBody>
      </p:sp>
      <p:sp>
        <p:nvSpPr>
          <p:cNvPr id="23" name="TextBox 22"/>
          <p:cNvSpPr txBox="1"/>
          <p:nvPr/>
        </p:nvSpPr>
        <p:spPr>
          <a:xfrm>
            <a:off x="5303520" y="2953512"/>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4" name="Rounded Rectangle 23"/>
          <p:cNvSpPr/>
          <p:nvPr/>
        </p:nvSpPr>
        <p:spPr>
          <a:xfrm>
            <a:off x="4297680" y="3136392"/>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Warp divergence</a:t>
            </a:r>
          </a:p>
        </p:txBody>
      </p:sp>
      <p:sp>
        <p:nvSpPr>
          <p:cNvPr id="25" name="TextBox 24"/>
          <p:cNvSpPr txBox="1"/>
          <p:nvPr/>
        </p:nvSpPr>
        <p:spPr>
          <a:xfrm>
            <a:off x="5303520" y="3429000"/>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6" name="Rounded Rectangle 25"/>
          <p:cNvSpPr/>
          <p:nvPr/>
        </p:nvSpPr>
        <p:spPr>
          <a:xfrm>
            <a:off x="4297680" y="3611880"/>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Deadlock / livelock risk</a:t>
            </a:r>
          </a:p>
        </p:txBody>
      </p:sp>
      <p:sp>
        <p:nvSpPr>
          <p:cNvPr id="27" name="TextBox 26"/>
          <p:cNvSpPr txBox="1"/>
          <p:nvPr/>
        </p:nvSpPr>
        <p:spPr>
          <a:xfrm>
            <a:off x="5303520" y="3904488"/>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8" name="Rounded Rectangle 27"/>
          <p:cNvSpPr/>
          <p:nvPr/>
        </p:nvSpPr>
        <p:spPr>
          <a:xfrm>
            <a:off x="4297680" y="4087368"/>
            <a:ext cx="2651760" cy="292608"/>
          </a:xfrm>
          <a:prstGeom prst="round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Complex logic</a:t>
            </a:r>
          </a:p>
        </p:txBody>
      </p:sp>
      <p:sp>
        <p:nvSpPr>
          <p:cNvPr id="29" name="TextBox 28"/>
          <p:cNvSpPr txBox="1"/>
          <p:nvPr/>
        </p:nvSpPr>
        <p:spPr>
          <a:xfrm>
            <a:off x="5303520" y="4379976"/>
            <a:ext cx="6400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30" name="Rounded Rectangle 29"/>
          <p:cNvSpPr/>
          <p:nvPr/>
        </p:nvSpPr>
        <p:spPr>
          <a:xfrm>
            <a:off x="4297680" y="4562856"/>
            <a:ext cx="2651760" cy="292608"/>
          </a:xfrm>
          <a:prstGeom prst="roundRect">
            <a:avLst/>
          </a:prstGeom>
          <a:solidFill>
            <a:srgbClr val="FFFFFF"/>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F3A5F"/>
                </a:solidFill>
                <a:latin typeface="Arial"/>
              </a:defRPr>
            </a:pPr>
            <a:r>
              <a:t>Concurrency bugs</a:t>
            </a:r>
          </a:p>
        </p:txBody>
      </p:sp>
      <p:sp>
        <p:nvSpPr>
          <p:cNvPr id="32" name="TextBox 31"/>
          <p:cNvSpPr txBox="1"/>
          <p:nvPr/>
        </p:nvSpPr>
        <p:spPr>
          <a:xfrm>
            <a:off x="8321040" y="1874519"/>
            <a:ext cx="3291840" cy="320040"/>
          </a:xfrm>
          <a:prstGeom prst="rect">
            <a:avLst/>
          </a:prstGeom>
          <a:noFill/>
        </p:spPr>
        <p:txBody>
          <a:bodyPr wrap="square">
            <a:spAutoFit/>
          </a:bodyPr>
          <a:lstStyle/>
          <a:p>
            <a:pPr algn="l">
              <a:defRPr sz="1400" b="1" i="0">
                <a:solidFill>
                  <a:srgbClr val="000000"/>
                </a:solidFill>
                <a:latin typeface="Arial"/>
              </a:defRPr>
            </a:pPr>
            <a:r>
              <a:rPr lang="en-IN" dirty="0"/>
              <a:t>Core trade-off</a:t>
            </a:r>
          </a:p>
        </p:txBody>
      </p:sp>
      <p:sp>
        <p:nvSpPr>
          <p:cNvPr id="33" name="Rounded Rectangle 32"/>
          <p:cNvSpPr/>
          <p:nvPr/>
        </p:nvSpPr>
        <p:spPr>
          <a:xfrm>
            <a:off x="8321040" y="2286000"/>
            <a:ext cx="3291840" cy="105156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58200" y="2359152"/>
            <a:ext cx="3017520" cy="292608"/>
          </a:xfrm>
          <a:prstGeom prst="rect">
            <a:avLst/>
          </a:prstGeom>
          <a:noFill/>
        </p:spPr>
        <p:txBody>
          <a:bodyPr wrap="square">
            <a:spAutoFit/>
          </a:bodyPr>
          <a:lstStyle/>
          <a:p>
            <a:pPr algn="l">
              <a:defRPr sz="1200" b="1" i="0">
                <a:solidFill>
                  <a:srgbClr val="000000"/>
                </a:solidFill>
                <a:latin typeface="Arial"/>
              </a:defRPr>
            </a:pPr>
            <a:r>
              <a:rPr dirty="0"/>
              <a:t>Specialized synchronization</a:t>
            </a:r>
          </a:p>
        </p:txBody>
      </p:sp>
      <p:cxnSp>
        <p:nvCxnSpPr>
          <p:cNvPr id="35" name="Connector 34"/>
          <p:cNvCxnSpPr/>
          <p:nvPr/>
        </p:nvCxnSpPr>
        <p:spPr>
          <a:xfrm>
            <a:off x="8458200" y="2670048"/>
            <a:ext cx="3017519"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458200" y="2743200"/>
            <a:ext cx="3017520" cy="502919"/>
          </a:xfrm>
          <a:prstGeom prst="rect">
            <a:avLst/>
          </a:prstGeom>
          <a:noFill/>
        </p:spPr>
        <p:txBody>
          <a:bodyPr wrap="square">
            <a:spAutoFit/>
          </a:bodyPr>
          <a:lstStyle/>
          <a:p>
            <a:pPr algn="l">
              <a:spcBef>
                <a:spcPts val="0"/>
              </a:spcBef>
              <a:spcAft>
                <a:spcPts val="100"/>
              </a:spcAft>
            </a:pPr>
            <a:r>
              <a:rPr sz="1100">
                <a:solidFill>
                  <a:srgbClr val="000000"/>
                </a:solidFill>
                <a:latin typeface="Arial"/>
              </a:rPr>
              <a:t>•  High performance</a:t>
            </a:r>
          </a:p>
          <a:p>
            <a:pPr algn="l">
              <a:spcBef>
                <a:spcPts val="0"/>
              </a:spcBef>
              <a:spcAft>
                <a:spcPts val="100"/>
              </a:spcAft>
            </a:pPr>
            <a:r>
              <a:rPr sz="1100">
                <a:solidFill>
                  <a:srgbClr val="000000"/>
                </a:solidFill>
                <a:latin typeface="Arial"/>
              </a:rPr>
              <a:t>•  High complexity</a:t>
            </a:r>
          </a:p>
          <a:p>
            <a:pPr algn="l">
              <a:spcBef>
                <a:spcPts val="0"/>
              </a:spcBef>
              <a:spcAft>
                <a:spcPts val="100"/>
              </a:spcAft>
            </a:pPr>
            <a:r>
              <a:rPr sz="1100">
                <a:solidFill>
                  <a:srgbClr val="000000"/>
                </a:solidFill>
                <a:latin typeface="Arial"/>
              </a:rPr>
              <a:t>•  Error-prone</a:t>
            </a:r>
          </a:p>
        </p:txBody>
      </p:sp>
      <p:sp>
        <p:nvSpPr>
          <p:cNvPr id="37" name="TextBox 36"/>
          <p:cNvSpPr txBox="1"/>
          <p:nvPr/>
        </p:nvSpPr>
        <p:spPr>
          <a:xfrm>
            <a:off x="9601200" y="3337560"/>
            <a:ext cx="731520" cy="274320"/>
          </a:xfrm>
          <a:prstGeom prst="rect">
            <a:avLst/>
          </a:prstGeom>
          <a:noFill/>
        </p:spPr>
        <p:txBody>
          <a:bodyPr wrap="square">
            <a:spAutoFit/>
          </a:bodyPr>
          <a:lstStyle/>
          <a:p>
            <a:pPr algn="ctr">
              <a:defRPr sz="1100" b="1" i="0">
                <a:solidFill>
                  <a:srgbClr val="1F3A5F"/>
                </a:solidFill>
                <a:latin typeface="Arial"/>
              </a:defRPr>
            </a:pPr>
            <a:r>
              <a:t>↓  Goal</a:t>
            </a:r>
          </a:p>
        </p:txBody>
      </p:sp>
      <p:sp>
        <p:nvSpPr>
          <p:cNvPr id="38" name="Rounded Rectangle 37"/>
          <p:cNvSpPr/>
          <p:nvPr/>
        </p:nvSpPr>
        <p:spPr>
          <a:xfrm>
            <a:off x="8321040" y="3657600"/>
            <a:ext cx="3291840" cy="960120"/>
          </a:xfrm>
          <a:prstGeom prst="roundRect">
            <a:avLst/>
          </a:prstGeom>
          <a:solidFill>
            <a:srgbClr val="EFF2F7"/>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58200" y="3703320"/>
            <a:ext cx="3017520" cy="274320"/>
          </a:xfrm>
          <a:prstGeom prst="rect">
            <a:avLst/>
          </a:prstGeom>
          <a:noFill/>
        </p:spPr>
        <p:txBody>
          <a:bodyPr wrap="square">
            <a:spAutoFit/>
          </a:bodyPr>
          <a:lstStyle/>
          <a:p>
            <a:pPr algn="l">
              <a:defRPr sz="1200" b="1" i="0">
                <a:solidFill>
                  <a:srgbClr val="1F3A5F"/>
                </a:solidFill>
                <a:latin typeface="Arial"/>
              </a:defRPr>
            </a:pPr>
            <a:r>
              <a:t>GPU-STM abstraction</a:t>
            </a:r>
          </a:p>
        </p:txBody>
      </p:sp>
      <p:cxnSp>
        <p:nvCxnSpPr>
          <p:cNvPr id="40" name="Connector 39"/>
          <p:cNvCxnSpPr/>
          <p:nvPr/>
        </p:nvCxnSpPr>
        <p:spPr>
          <a:xfrm>
            <a:off x="8458200" y="3977639"/>
            <a:ext cx="301752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458200" y="4023360"/>
            <a:ext cx="3017520" cy="548640"/>
          </a:xfrm>
          <a:prstGeom prst="rect">
            <a:avLst/>
          </a:prstGeom>
          <a:noFill/>
        </p:spPr>
        <p:txBody>
          <a:bodyPr wrap="square">
            <a:spAutoFit/>
          </a:bodyPr>
          <a:lstStyle/>
          <a:p>
            <a:pPr algn="l">
              <a:spcBef>
                <a:spcPts val="0"/>
              </a:spcBef>
              <a:spcAft>
                <a:spcPts val="300"/>
              </a:spcAft>
            </a:pPr>
            <a:r>
              <a:rPr sz="1100">
                <a:solidFill>
                  <a:srgbClr val="000000"/>
                </a:solidFill>
                <a:latin typeface="Arial"/>
              </a:rPr>
              <a:t>•  Lower complexity; fewer bugs</a:t>
            </a:r>
          </a:p>
          <a:p>
            <a:pPr algn="l">
              <a:spcBef>
                <a:spcPts val="0"/>
              </a:spcBef>
              <a:spcAft>
                <a:spcPts val="300"/>
              </a:spcAft>
            </a:pPr>
            <a:r>
              <a:rPr sz="1100">
                <a:solidFill>
                  <a:srgbClr val="000000"/>
                </a:solidFill>
                <a:latin typeface="Arial"/>
              </a:rPr>
              <a:t>•  ≈ competitive performance ?</a:t>
            </a:r>
          </a:p>
        </p:txBody>
      </p:sp>
      <p:sp>
        <p:nvSpPr>
          <p:cNvPr id="43" name="TextBox 42"/>
          <p:cNvSpPr txBox="1"/>
          <p:nvPr/>
        </p:nvSpPr>
        <p:spPr>
          <a:xfrm>
            <a:off x="77724" y="5141721"/>
            <a:ext cx="11091672" cy="274320"/>
          </a:xfrm>
          <a:prstGeom prst="rect">
            <a:avLst/>
          </a:prstGeom>
          <a:noFill/>
        </p:spPr>
        <p:txBody>
          <a:bodyPr wrap="square">
            <a:spAutoFit/>
          </a:bodyPr>
          <a:lstStyle/>
          <a:p>
            <a:pPr algn="ctr">
              <a:defRPr sz="1100" b="0" i="0">
                <a:solidFill>
                  <a:srgbClr val="5A5A5A"/>
                </a:solidFill>
                <a:latin typeface="Arial"/>
              </a:defRPr>
            </a:pPr>
            <a:r>
              <a:rPr dirty="0"/>
              <a:t>Key research goal</a:t>
            </a:r>
          </a:p>
        </p:txBody>
      </p:sp>
      <p:sp>
        <p:nvSpPr>
          <p:cNvPr id="44" name="TextBox 43"/>
          <p:cNvSpPr txBox="1"/>
          <p:nvPr/>
        </p:nvSpPr>
        <p:spPr>
          <a:xfrm>
            <a:off x="626364" y="5461761"/>
            <a:ext cx="9994392" cy="731520"/>
          </a:xfrm>
          <a:prstGeom prst="rect">
            <a:avLst/>
          </a:prstGeom>
          <a:noFill/>
        </p:spPr>
        <p:txBody>
          <a:bodyPr wrap="square">
            <a:spAutoFit/>
          </a:bodyPr>
          <a:lstStyle/>
          <a:p>
            <a:pPr algn="ctr">
              <a:defRPr sz="1500" b="1" i="0">
                <a:solidFill>
                  <a:srgbClr val="1F3A5F"/>
                </a:solidFill>
                <a:latin typeface="Arial"/>
              </a:defRPr>
            </a:pPr>
            <a:r>
              <a:t>Reduce synchronization complexity and bugs — without sacrificing significant performance.</a:t>
            </a:r>
          </a:p>
        </p:txBody>
      </p:sp>
      <p:sp>
        <p:nvSpPr>
          <p:cNvPr id="52" name="TextBox 51">
            <a:extLst>
              <a:ext uri="{FF2B5EF4-FFF2-40B4-BE49-F238E27FC236}">
                <a16:creationId xmlns:a16="http://schemas.microsoft.com/office/drawing/2014/main" id="{BE0DCBF6-05A2-97AF-70B3-27D07F2C3F97}"/>
              </a:ext>
            </a:extLst>
          </p:cNvPr>
          <p:cNvSpPr txBox="1"/>
          <p:nvPr/>
        </p:nvSpPr>
        <p:spPr>
          <a:xfrm>
            <a:off x="602403" y="1899159"/>
            <a:ext cx="2377440" cy="320040"/>
          </a:xfrm>
          <a:prstGeom prst="rect">
            <a:avLst/>
          </a:prstGeom>
          <a:noFill/>
        </p:spPr>
        <p:txBody>
          <a:bodyPr wrap="square">
            <a:spAutoFit/>
          </a:bodyPr>
          <a:lstStyle/>
          <a:p>
            <a:pPr algn="l">
              <a:defRPr sz="1400" b="1" i="0">
                <a:solidFill>
                  <a:srgbClr val="000000"/>
                </a:solidFill>
                <a:latin typeface="Arial"/>
              </a:defRPr>
            </a:pPr>
            <a:r>
              <a:rPr dirty="0"/>
              <a:t>CPU vs. GPU</a:t>
            </a:r>
          </a:p>
        </p:txBody>
      </p:sp>
      <p:sp>
        <p:nvSpPr>
          <p:cNvPr id="54" name="TextBox 53">
            <a:extLst>
              <a:ext uri="{FF2B5EF4-FFF2-40B4-BE49-F238E27FC236}">
                <a16:creationId xmlns:a16="http://schemas.microsoft.com/office/drawing/2014/main" id="{AE507B5D-D606-C75F-05FD-E044A5DB8AFD}"/>
              </a:ext>
            </a:extLst>
          </p:cNvPr>
          <p:cNvSpPr txBox="1"/>
          <p:nvPr/>
        </p:nvSpPr>
        <p:spPr>
          <a:xfrm>
            <a:off x="602403" y="2194561"/>
            <a:ext cx="2377440" cy="2286000"/>
          </a:xfrm>
          <a:prstGeom prst="rect">
            <a:avLst/>
          </a:prstGeom>
          <a:noFill/>
        </p:spPr>
        <p:txBody>
          <a:bodyPr wrap="square">
            <a:spAutoFit/>
          </a:bodyPr>
          <a:lstStyle/>
          <a:p>
            <a:pPr algn="l">
              <a:spcBef>
                <a:spcPts val="0"/>
              </a:spcBef>
              <a:spcAft>
                <a:spcPts val="400"/>
              </a:spcAft>
            </a:pPr>
            <a:r>
              <a:rPr sz="1200" b="1" dirty="0">
                <a:solidFill>
                  <a:srgbClr val="000000"/>
                </a:solidFill>
                <a:latin typeface="Arial"/>
              </a:rPr>
              <a:t>•  CPU: </a:t>
            </a:r>
            <a:r>
              <a:rPr sz="1200" b="0" dirty="0">
                <a:solidFill>
                  <a:srgbClr val="000000"/>
                </a:solidFill>
                <a:latin typeface="Arial"/>
              </a:rPr>
              <a:t>few threads; limited contention.</a:t>
            </a:r>
          </a:p>
          <a:p>
            <a:pPr algn="l">
              <a:spcBef>
                <a:spcPts val="0"/>
              </a:spcBef>
              <a:spcAft>
                <a:spcPts val="400"/>
              </a:spcAft>
            </a:pPr>
            <a:r>
              <a:rPr sz="1200" b="1" dirty="0">
                <a:solidFill>
                  <a:srgbClr val="000000"/>
                </a:solidFill>
                <a:latin typeface="Arial"/>
              </a:rPr>
              <a:t>•  GPU: </a:t>
            </a:r>
            <a:r>
              <a:rPr sz="1200" b="0" dirty="0">
                <a:solidFill>
                  <a:srgbClr val="000000"/>
                </a:solidFill>
                <a:latin typeface="Arial"/>
              </a:rPr>
              <a:t>thousands of threads; massive contention.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4  —  ABSTRACTION</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400" b="1" i="0">
                <a:solidFill>
                  <a:srgbClr val="1F3A5F"/>
                </a:solidFill>
                <a:latin typeface="Arial"/>
              </a:defRPr>
            </a:pPr>
            <a:r>
              <a:t>Software Transactional Memory (STM): The Abstraction</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4</a:t>
            </a:r>
          </a:p>
        </p:txBody>
      </p:sp>
      <p:sp>
        <p:nvSpPr>
          <p:cNvPr id="8" name="TextBox 7"/>
          <p:cNvSpPr txBox="1"/>
          <p:nvPr/>
        </p:nvSpPr>
        <p:spPr>
          <a:xfrm>
            <a:off x="548640" y="1325880"/>
            <a:ext cx="11091672" cy="365760"/>
          </a:xfrm>
          <a:prstGeom prst="rect">
            <a:avLst/>
          </a:prstGeom>
          <a:noFill/>
        </p:spPr>
        <p:txBody>
          <a:bodyPr wrap="square">
            <a:spAutoFit/>
          </a:bodyPr>
          <a:lstStyle/>
          <a:p>
            <a:pPr algn="l">
              <a:defRPr sz="1300" b="0" i="1">
                <a:solidFill>
                  <a:srgbClr val="333333"/>
                </a:solidFill>
                <a:latin typeface="Arial"/>
              </a:defRPr>
            </a:pPr>
            <a:r>
              <a:t>Instead of managing synchronization manually, programmers express operations as transactions.</a:t>
            </a:r>
          </a:p>
        </p:txBody>
      </p:sp>
      <p:sp>
        <p:nvSpPr>
          <p:cNvPr id="9" name="TextBox 8"/>
          <p:cNvSpPr txBox="1"/>
          <p:nvPr/>
        </p:nvSpPr>
        <p:spPr>
          <a:xfrm>
            <a:off x="548640" y="1874519"/>
            <a:ext cx="3200400" cy="320040"/>
          </a:xfrm>
          <a:prstGeom prst="rect">
            <a:avLst/>
          </a:prstGeom>
          <a:noFill/>
        </p:spPr>
        <p:txBody>
          <a:bodyPr wrap="square">
            <a:spAutoFit/>
          </a:bodyPr>
          <a:lstStyle/>
          <a:p>
            <a:pPr algn="l">
              <a:defRPr sz="1400" b="1" i="0">
                <a:solidFill>
                  <a:srgbClr val="000000"/>
                </a:solidFill>
                <a:latin typeface="Arial"/>
              </a:defRPr>
            </a:pPr>
            <a:r>
              <a:t>Manual synchronization</a:t>
            </a:r>
          </a:p>
        </p:txBody>
      </p:sp>
      <p:sp>
        <p:nvSpPr>
          <p:cNvPr id="10" name="Rounded Rectangle 9"/>
          <p:cNvSpPr/>
          <p:nvPr/>
        </p:nvSpPr>
        <p:spPr>
          <a:xfrm>
            <a:off x="914400" y="2331720"/>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Lock</a:t>
            </a:r>
          </a:p>
        </p:txBody>
      </p:sp>
      <p:sp>
        <p:nvSpPr>
          <p:cNvPr id="11" name="TextBox 10"/>
          <p:cNvSpPr txBox="1"/>
          <p:nvPr/>
        </p:nvSpPr>
        <p:spPr>
          <a:xfrm>
            <a:off x="914400" y="2715768"/>
            <a:ext cx="2468880" cy="201168"/>
          </a:xfrm>
          <a:prstGeom prst="rect">
            <a:avLst/>
          </a:prstGeom>
          <a:noFill/>
        </p:spPr>
        <p:txBody>
          <a:bodyPr wrap="square">
            <a:spAutoFit/>
          </a:bodyPr>
          <a:lstStyle/>
          <a:p>
            <a:pPr algn="ctr">
              <a:defRPr sz="1100" b="0" i="0">
                <a:solidFill>
                  <a:srgbClr val="5A5A5A"/>
                </a:solidFill>
                <a:latin typeface="Arial"/>
              </a:defRPr>
            </a:pPr>
            <a:r>
              <a:t>↓</a:t>
            </a:r>
          </a:p>
        </p:txBody>
      </p:sp>
      <p:sp>
        <p:nvSpPr>
          <p:cNvPr id="12" name="Rounded Rectangle 11"/>
          <p:cNvSpPr/>
          <p:nvPr/>
        </p:nvSpPr>
        <p:spPr>
          <a:xfrm>
            <a:off x="914400" y="2916936"/>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Modify graph</a:t>
            </a:r>
          </a:p>
        </p:txBody>
      </p:sp>
      <p:sp>
        <p:nvSpPr>
          <p:cNvPr id="13" name="TextBox 12"/>
          <p:cNvSpPr txBox="1"/>
          <p:nvPr/>
        </p:nvSpPr>
        <p:spPr>
          <a:xfrm>
            <a:off x="914400" y="3300984"/>
            <a:ext cx="2468880" cy="201168"/>
          </a:xfrm>
          <a:prstGeom prst="rect">
            <a:avLst/>
          </a:prstGeom>
          <a:noFill/>
        </p:spPr>
        <p:txBody>
          <a:bodyPr wrap="square">
            <a:spAutoFit/>
          </a:bodyPr>
          <a:lstStyle/>
          <a:p>
            <a:pPr algn="ctr">
              <a:defRPr sz="1100" b="0" i="0">
                <a:solidFill>
                  <a:srgbClr val="5A5A5A"/>
                </a:solidFill>
                <a:latin typeface="Arial"/>
              </a:defRPr>
            </a:pPr>
            <a:r>
              <a:t>↓</a:t>
            </a:r>
          </a:p>
        </p:txBody>
      </p:sp>
      <p:sp>
        <p:nvSpPr>
          <p:cNvPr id="14" name="Rounded Rectangle 13"/>
          <p:cNvSpPr/>
          <p:nvPr/>
        </p:nvSpPr>
        <p:spPr>
          <a:xfrm>
            <a:off x="914400" y="3502152"/>
            <a:ext cx="2468880" cy="384048"/>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000000"/>
                </a:solidFill>
                <a:latin typeface="Arial"/>
              </a:defRPr>
            </a:pPr>
            <a:r>
              <a:t>Unlock</a:t>
            </a:r>
          </a:p>
        </p:txBody>
      </p:sp>
      <p:sp>
        <p:nvSpPr>
          <p:cNvPr id="15" name="TextBox 14"/>
          <p:cNvSpPr txBox="1"/>
          <p:nvPr/>
        </p:nvSpPr>
        <p:spPr>
          <a:xfrm>
            <a:off x="548640" y="4206240"/>
            <a:ext cx="3200400" cy="320040"/>
          </a:xfrm>
          <a:prstGeom prst="rect">
            <a:avLst/>
          </a:prstGeom>
          <a:noFill/>
        </p:spPr>
        <p:txBody>
          <a:bodyPr wrap="square">
            <a:spAutoFit/>
          </a:bodyPr>
          <a:lstStyle/>
          <a:p>
            <a:pPr algn="ctr">
              <a:defRPr sz="1100" b="0" i="1">
                <a:solidFill>
                  <a:srgbClr val="5A5A5A"/>
                </a:solidFill>
                <a:latin typeface="Arial"/>
              </a:defRPr>
            </a:pPr>
            <a:r>
              <a:rPr dirty="0"/>
              <a:t>Programmer manages synchronization</a:t>
            </a:r>
          </a:p>
        </p:txBody>
      </p:sp>
      <p:sp>
        <p:nvSpPr>
          <p:cNvPr id="16" name="TextBox 15"/>
          <p:cNvSpPr txBox="1"/>
          <p:nvPr/>
        </p:nvSpPr>
        <p:spPr>
          <a:xfrm>
            <a:off x="3794760" y="3017520"/>
            <a:ext cx="502920" cy="457200"/>
          </a:xfrm>
          <a:prstGeom prst="rect">
            <a:avLst/>
          </a:prstGeom>
          <a:noFill/>
        </p:spPr>
        <p:txBody>
          <a:bodyPr wrap="square">
            <a:spAutoFit/>
          </a:bodyPr>
          <a:lstStyle/>
          <a:p>
            <a:pPr algn="ctr">
              <a:defRPr sz="2200" b="1" i="0">
                <a:solidFill>
                  <a:srgbClr val="1F3A5F"/>
                </a:solidFill>
                <a:latin typeface="Arial"/>
              </a:defRPr>
            </a:pPr>
            <a:r>
              <a:t>→</a:t>
            </a:r>
          </a:p>
        </p:txBody>
      </p:sp>
      <p:sp>
        <p:nvSpPr>
          <p:cNvPr id="17" name="TextBox 16"/>
          <p:cNvSpPr txBox="1"/>
          <p:nvPr/>
        </p:nvSpPr>
        <p:spPr>
          <a:xfrm>
            <a:off x="4434840" y="1874519"/>
            <a:ext cx="3108960" cy="320040"/>
          </a:xfrm>
          <a:prstGeom prst="rect">
            <a:avLst/>
          </a:prstGeom>
          <a:noFill/>
        </p:spPr>
        <p:txBody>
          <a:bodyPr wrap="square">
            <a:spAutoFit/>
          </a:bodyPr>
          <a:lstStyle/>
          <a:p>
            <a:pPr algn="l">
              <a:defRPr sz="1400" b="1" i="0">
                <a:solidFill>
                  <a:srgbClr val="1F3A5F"/>
                </a:solidFill>
                <a:latin typeface="Arial"/>
              </a:defRPr>
            </a:pPr>
            <a:r>
              <a:t>STM abstraction</a:t>
            </a:r>
          </a:p>
        </p:txBody>
      </p:sp>
      <p:sp>
        <p:nvSpPr>
          <p:cNvPr id="18" name="Rounded Rectangle 17"/>
          <p:cNvSpPr/>
          <p:nvPr/>
        </p:nvSpPr>
        <p:spPr>
          <a:xfrm>
            <a:off x="4434840" y="2331720"/>
            <a:ext cx="3108960" cy="1783080"/>
          </a:xfrm>
          <a:prstGeom prst="roundRect">
            <a:avLst/>
          </a:prstGeom>
          <a:solidFill>
            <a:srgbClr val="EFF2F7"/>
          </a:solidFill>
          <a:ln w="2222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7720" y="2468879"/>
            <a:ext cx="2743200" cy="320040"/>
          </a:xfrm>
          <a:prstGeom prst="rect">
            <a:avLst/>
          </a:prstGeom>
          <a:noFill/>
        </p:spPr>
        <p:txBody>
          <a:bodyPr wrap="square">
            <a:spAutoFit/>
          </a:bodyPr>
          <a:lstStyle/>
          <a:p>
            <a:pPr algn="l">
              <a:defRPr sz="1200" b="0" i="0">
                <a:solidFill>
                  <a:srgbClr val="1F3A5F"/>
                </a:solidFill>
                <a:latin typeface="Arial"/>
              </a:defRPr>
            </a:pPr>
            <a:r>
              <a:t>transaction {</a:t>
            </a:r>
          </a:p>
        </p:txBody>
      </p:sp>
      <p:sp>
        <p:nvSpPr>
          <p:cNvPr id="20" name="TextBox 19"/>
          <p:cNvSpPr txBox="1"/>
          <p:nvPr/>
        </p:nvSpPr>
        <p:spPr>
          <a:xfrm>
            <a:off x="4617720" y="2926079"/>
            <a:ext cx="2743200" cy="548640"/>
          </a:xfrm>
          <a:prstGeom prst="rect">
            <a:avLst/>
          </a:prstGeom>
          <a:noFill/>
        </p:spPr>
        <p:txBody>
          <a:bodyPr wrap="square">
            <a:spAutoFit/>
          </a:bodyPr>
          <a:lstStyle/>
          <a:p>
            <a:pPr algn="ctr">
              <a:defRPr sz="1400" b="1" i="0">
                <a:solidFill>
                  <a:srgbClr val="000000"/>
                </a:solidFill>
                <a:latin typeface="Arial"/>
              </a:defRPr>
            </a:pPr>
            <a:r>
              <a:t>Read / Modify graph</a:t>
            </a:r>
          </a:p>
        </p:txBody>
      </p:sp>
      <p:sp>
        <p:nvSpPr>
          <p:cNvPr id="21" name="TextBox 20"/>
          <p:cNvSpPr txBox="1"/>
          <p:nvPr/>
        </p:nvSpPr>
        <p:spPr>
          <a:xfrm>
            <a:off x="4617720" y="3566160"/>
            <a:ext cx="2743200" cy="320040"/>
          </a:xfrm>
          <a:prstGeom prst="rect">
            <a:avLst/>
          </a:prstGeom>
          <a:noFill/>
        </p:spPr>
        <p:txBody>
          <a:bodyPr wrap="square">
            <a:spAutoFit/>
          </a:bodyPr>
          <a:lstStyle/>
          <a:p>
            <a:pPr algn="l">
              <a:defRPr sz="1200" b="0" i="0">
                <a:solidFill>
                  <a:srgbClr val="1F3A5F"/>
                </a:solidFill>
                <a:latin typeface="Arial"/>
              </a:defRPr>
            </a:pPr>
            <a:r>
              <a:t>}</a:t>
            </a:r>
          </a:p>
        </p:txBody>
      </p:sp>
      <p:sp>
        <p:nvSpPr>
          <p:cNvPr id="22" name="TextBox 21"/>
          <p:cNvSpPr txBox="1"/>
          <p:nvPr/>
        </p:nvSpPr>
        <p:spPr>
          <a:xfrm>
            <a:off x="4434840" y="4206240"/>
            <a:ext cx="3108960" cy="320040"/>
          </a:xfrm>
          <a:prstGeom prst="rect">
            <a:avLst/>
          </a:prstGeom>
          <a:noFill/>
        </p:spPr>
        <p:txBody>
          <a:bodyPr wrap="square">
            <a:spAutoFit/>
          </a:bodyPr>
          <a:lstStyle/>
          <a:p>
            <a:pPr algn="ctr">
              <a:defRPr sz="1100" b="0" i="1">
                <a:solidFill>
                  <a:srgbClr val="1F3A5F"/>
                </a:solidFill>
                <a:latin typeface="Arial"/>
              </a:defRPr>
            </a:pPr>
            <a:r>
              <a:rPr dirty="0"/>
              <a:t>Programmer specifies operation only</a:t>
            </a:r>
          </a:p>
        </p:txBody>
      </p:sp>
      <p:sp>
        <p:nvSpPr>
          <p:cNvPr id="23" name="TextBox 22"/>
          <p:cNvSpPr txBox="1"/>
          <p:nvPr/>
        </p:nvSpPr>
        <p:spPr>
          <a:xfrm>
            <a:off x="7635240" y="3017520"/>
            <a:ext cx="502920" cy="457200"/>
          </a:xfrm>
          <a:prstGeom prst="rect">
            <a:avLst/>
          </a:prstGeom>
          <a:noFill/>
        </p:spPr>
        <p:txBody>
          <a:bodyPr wrap="square">
            <a:spAutoFit/>
          </a:bodyPr>
          <a:lstStyle/>
          <a:p>
            <a:pPr algn="ctr">
              <a:defRPr sz="2200" b="1" i="0">
                <a:solidFill>
                  <a:srgbClr val="1F3A5F"/>
                </a:solidFill>
                <a:latin typeface="Arial"/>
              </a:defRPr>
            </a:pPr>
            <a:r>
              <a:t>→</a:t>
            </a:r>
          </a:p>
        </p:txBody>
      </p:sp>
      <p:sp>
        <p:nvSpPr>
          <p:cNvPr id="24" name="TextBox 23"/>
          <p:cNvSpPr txBox="1"/>
          <p:nvPr/>
        </p:nvSpPr>
        <p:spPr>
          <a:xfrm>
            <a:off x="8275320" y="1874519"/>
            <a:ext cx="3337560" cy="320040"/>
          </a:xfrm>
          <a:prstGeom prst="rect">
            <a:avLst/>
          </a:prstGeom>
          <a:noFill/>
        </p:spPr>
        <p:txBody>
          <a:bodyPr wrap="square">
            <a:spAutoFit/>
          </a:bodyPr>
          <a:lstStyle/>
          <a:p>
            <a:pPr algn="l">
              <a:defRPr sz="1400" b="1" i="0">
                <a:solidFill>
                  <a:srgbClr val="000000"/>
                </a:solidFill>
                <a:latin typeface="Arial"/>
              </a:defRPr>
            </a:pPr>
            <a:r>
              <a:t>What STM handles</a:t>
            </a:r>
          </a:p>
        </p:txBody>
      </p:sp>
      <p:sp>
        <p:nvSpPr>
          <p:cNvPr id="25" name="Rounded Rectangle 24"/>
          <p:cNvSpPr/>
          <p:nvPr/>
        </p:nvSpPr>
        <p:spPr>
          <a:xfrm>
            <a:off x="8595360" y="2331720"/>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Read / write tracking</a:t>
            </a:r>
          </a:p>
        </p:txBody>
      </p:sp>
      <p:sp>
        <p:nvSpPr>
          <p:cNvPr id="26" name="TextBox 25"/>
          <p:cNvSpPr txBox="1"/>
          <p:nvPr/>
        </p:nvSpPr>
        <p:spPr>
          <a:xfrm>
            <a:off x="8595360" y="2679191"/>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7" name="Rounded Rectangle 26"/>
          <p:cNvSpPr/>
          <p:nvPr/>
        </p:nvSpPr>
        <p:spPr>
          <a:xfrm>
            <a:off x="8595360" y="2862072"/>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Conflict detection</a:t>
            </a:r>
          </a:p>
        </p:txBody>
      </p:sp>
      <p:sp>
        <p:nvSpPr>
          <p:cNvPr id="28" name="TextBox 27"/>
          <p:cNvSpPr txBox="1"/>
          <p:nvPr/>
        </p:nvSpPr>
        <p:spPr>
          <a:xfrm>
            <a:off x="8595360" y="3209544"/>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29" name="Rounded Rectangle 28"/>
          <p:cNvSpPr/>
          <p:nvPr/>
        </p:nvSpPr>
        <p:spPr>
          <a:xfrm>
            <a:off x="8595360" y="3392424"/>
            <a:ext cx="2697480" cy="347472"/>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000000"/>
                </a:solidFill>
                <a:latin typeface="Arial"/>
              </a:defRPr>
            </a:pPr>
            <a:r>
              <a:t>Validation</a:t>
            </a:r>
          </a:p>
        </p:txBody>
      </p:sp>
      <p:sp>
        <p:nvSpPr>
          <p:cNvPr id="30" name="TextBox 29"/>
          <p:cNvSpPr txBox="1"/>
          <p:nvPr/>
        </p:nvSpPr>
        <p:spPr>
          <a:xfrm>
            <a:off x="8595360" y="3739896"/>
            <a:ext cx="2697480" cy="182880"/>
          </a:xfrm>
          <a:prstGeom prst="rect">
            <a:avLst/>
          </a:prstGeom>
          <a:noFill/>
        </p:spPr>
        <p:txBody>
          <a:bodyPr wrap="square">
            <a:spAutoFit/>
          </a:bodyPr>
          <a:lstStyle/>
          <a:p>
            <a:pPr algn="ctr">
              <a:defRPr sz="1000" b="0" i="0">
                <a:solidFill>
                  <a:srgbClr val="5A5A5A"/>
                </a:solidFill>
                <a:latin typeface="Arial"/>
              </a:defRPr>
            </a:pPr>
            <a:r>
              <a:t>↓</a:t>
            </a:r>
          </a:p>
        </p:txBody>
      </p:sp>
      <p:sp>
        <p:nvSpPr>
          <p:cNvPr id="31" name="Rounded Rectangle 30"/>
          <p:cNvSpPr/>
          <p:nvPr/>
        </p:nvSpPr>
        <p:spPr>
          <a:xfrm>
            <a:off x="8595360" y="3922776"/>
            <a:ext cx="2697480" cy="347472"/>
          </a:xfrm>
          <a:prstGeom prst="roundRect">
            <a:avLst/>
          </a:prstGeom>
          <a:solidFill>
            <a:srgbClr val="EF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F3A5F"/>
                </a:solidFill>
                <a:latin typeface="Arial"/>
              </a:defRPr>
            </a:pPr>
            <a:r>
              <a:t>Commit / abort</a:t>
            </a:r>
          </a:p>
        </p:txBody>
      </p:sp>
      <p:sp>
        <p:nvSpPr>
          <p:cNvPr id="32" name="TextBox 31"/>
          <p:cNvSpPr txBox="1"/>
          <p:nvPr/>
        </p:nvSpPr>
        <p:spPr>
          <a:xfrm>
            <a:off x="8275320" y="4526280"/>
            <a:ext cx="3337560" cy="274320"/>
          </a:xfrm>
          <a:prstGeom prst="rect">
            <a:avLst/>
          </a:prstGeom>
          <a:noFill/>
        </p:spPr>
        <p:txBody>
          <a:bodyPr wrap="square">
            <a:spAutoFit/>
          </a:bodyPr>
          <a:lstStyle/>
          <a:p>
            <a:pPr algn="ctr">
              <a:defRPr sz="1100" b="1" i="0">
                <a:solidFill>
                  <a:srgbClr val="1F3A5F"/>
                </a:solidFill>
                <a:latin typeface="Arial"/>
              </a:defRPr>
            </a:pPr>
            <a:r>
              <a:t>STM manages synchronization</a:t>
            </a:r>
          </a:p>
        </p:txBody>
      </p:sp>
      <p:cxnSp>
        <p:nvCxnSpPr>
          <p:cNvPr id="33" name="Connector 32"/>
          <p:cNvCxnSpPr/>
          <p:nvPr/>
        </p:nvCxnSpPr>
        <p:spPr>
          <a:xfrm>
            <a:off x="548640" y="50749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212080"/>
            <a:ext cx="11091672" cy="274320"/>
          </a:xfrm>
          <a:prstGeom prst="rect">
            <a:avLst/>
          </a:prstGeom>
          <a:noFill/>
        </p:spPr>
        <p:txBody>
          <a:bodyPr wrap="square">
            <a:spAutoFit/>
          </a:bodyPr>
          <a:lstStyle/>
          <a:p>
            <a:pPr algn="ctr">
              <a:defRPr sz="1100" b="0" i="0">
                <a:solidFill>
                  <a:srgbClr val="5A5A5A"/>
                </a:solidFill>
                <a:latin typeface="Arial"/>
              </a:defRPr>
            </a:pPr>
            <a:r>
              <a:t>Takeaway</a:t>
            </a:r>
          </a:p>
        </p:txBody>
      </p:sp>
      <p:sp>
        <p:nvSpPr>
          <p:cNvPr id="35" name="TextBox 34"/>
          <p:cNvSpPr txBox="1"/>
          <p:nvPr/>
        </p:nvSpPr>
        <p:spPr>
          <a:xfrm>
            <a:off x="1371600" y="5532120"/>
            <a:ext cx="9445752" cy="548640"/>
          </a:xfrm>
          <a:prstGeom prst="rect">
            <a:avLst/>
          </a:prstGeom>
          <a:noFill/>
        </p:spPr>
        <p:txBody>
          <a:bodyPr wrap="square">
            <a:spAutoFit/>
          </a:bodyPr>
          <a:lstStyle/>
          <a:p>
            <a:pPr algn="ctr">
              <a:defRPr sz="1500" b="1" i="0">
                <a:solidFill>
                  <a:srgbClr val="1F3A5F"/>
                </a:solidFill>
                <a:latin typeface="Arial"/>
              </a:defRPr>
            </a:pPr>
            <a:r>
              <a:rPr dirty="0"/>
              <a:t>STM separates application logic from synchronization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5  —  LITERATURE</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200" b="1" i="0">
                <a:solidFill>
                  <a:srgbClr val="1F3A5F"/>
                </a:solidFill>
                <a:latin typeface="Arial"/>
              </a:defRPr>
            </a:pPr>
            <a:r>
              <a:t>Software Transactional Memory: From CPUs to GPUs</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5</a:t>
            </a:r>
          </a:p>
        </p:txBody>
      </p:sp>
      <p:graphicFrame>
        <p:nvGraphicFramePr>
          <p:cNvPr id="8" name="Table 7"/>
          <p:cNvGraphicFramePr>
            <a:graphicFrameLocks noGrp="1"/>
          </p:cNvGraphicFramePr>
          <p:nvPr/>
        </p:nvGraphicFramePr>
        <p:xfrm>
          <a:off x="365760" y="1325880"/>
          <a:ext cx="11457432" cy="37490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2907792">
                  <a:extLst>
                    <a:ext uri="{9D8B030D-6E8A-4147-A177-3AD203B41FA5}">
                      <a16:colId xmlns:a16="http://schemas.microsoft.com/office/drawing/2014/main" val="20003"/>
                    </a:ext>
                  </a:extLst>
                </a:gridCol>
              </a:tblGrid>
              <a:tr h="411480">
                <a:tc>
                  <a:txBody>
                    <a:bodyPr/>
                    <a:lstStyle/>
                    <a:p>
                      <a:pPr algn="ctr">
                        <a:lnSpc>
                          <a:spcPts val="1500"/>
                        </a:lnSpc>
                        <a:spcBef>
                          <a:spcPts val="100"/>
                        </a:spcBef>
                        <a:spcAft>
                          <a:spcPts val="100"/>
                        </a:spcAft>
                        <a:defRPr sz="1200" b="1">
                          <a:solidFill>
                            <a:srgbClr val="FFFFFF"/>
                          </a:solidFill>
                          <a:latin typeface="Arial"/>
                        </a:defRPr>
                      </a:pPr>
                      <a:r>
                        <a:t>Work</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Core contribution</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Key idea</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What it gives us</a:t>
                      </a:r>
                    </a:p>
                  </a:txBody>
                  <a:tcPr anchor="ctr">
                    <a:solidFill>
                      <a:srgbClr val="1F3A5F"/>
                    </a:solidFill>
                  </a:tcPr>
                </a:tc>
                <a:extLst>
                  <a:ext uri="{0D108BD9-81ED-4DB2-BD59-A6C34878D82A}">
                    <a16:rowId xmlns:a16="http://schemas.microsoft.com/office/drawing/2014/main" val="10000"/>
                  </a:ext>
                </a:extLst>
              </a:tr>
              <a:tr h="667512">
                <a:tc>
                  <a:txBody>
                    <a:bodyPr/>
                    <a:lstStyle/>
                    <a:p>
                      <a:pPr algn="ctr">
                        <a:lnSpc>
                          <a:spcPts val="1400"/>
                        </a:lnSpc>
                        <a:spcBef>
                          <a:spcPts val="100"/>
                        </a:spcBef>
                        <a:spcAft>
                          <a:spcPts val="100"/>
                        </a:spcAft>
                        <a:defRPr sz="1100" b="1">
                          <a:solidFill>
                            <a:srgbClr val="000000"/>
                          </a:solidFill>
                          <a:latin typeface="Arial"/>
                        </a:defRPr>
                      </a:pPr>
                      <a:r>
                        <a:t>STM (1997)</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Introduces STM as a higher-level concurrency abstraction</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Transactions provide atomicity/consistency without explicit lock management</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Separates application logic from synchronization</a:t>
                      </a:r>
                    </a:p>
                  </a:txBody>
                  <a:tcPr anchor="ctr">
                    <a:solidFill>
                      <a:srgbClr val="FFFFFF"/>
                    </a:solidFill>
                  </a:tcPr>
                </a:tc>
                <a:extLst>
                  <a:ext uri="{0D108BD9-81ED-4DB2-BD59-A6C34878D82A}">
                    <a16:rowId xmlns:a16="http://schemas.microsoft.com/office/drawing/2014/main" val="10001"/>
                  </a:ext>
                </a:extLst>
              </a:tr>
              <a:tr h="667512">
                <a:tc>
                  <a:txBody>
                    <a:bodyPr/>
                    <a:lstStyle/>
                    <a:p>
                      <a:pPr algn="ctr">
                        <a:lnSpc>
                          <a:spcPts val="1400"/>
                        </a:lnSpc>
                        <a:spcBef>
                          <a:spcPts val="100"/>
                        </a:spcBef>
                        <a:spcAft>
                          <a:spcPts val="100"/>
                        </a:spcAft>
                        <a:defRPr sz="1100" b="1">
                          <a:solidFill>
                            <a:srgbClr val="000000"/>
                          </a:solidFill>
                          <a:latin typeface="Arial"/>
                        </a:defRPr>
                      </a:pPr>
                      <a:r>
                        <a:t>DSTM (2003)</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Extends STM to dynamically sized data structures</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Dynamic read/write tracking; demonstrated with red-black trees</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Relevant to dynamically changing structures</a:t>
                      </a:r>
                    </a:p>
                  </a:txBody>
                  <a:tcPr anchor="ctr">
                    <a:solidFill>
                      <a:srgbClr val="EFF2F7"/>
                    </a:solidFill>
                  </a:tcPr>
                </a:tc>
                <a:extLst>
                  <a:ext uri="{0D108BD9-81ED-4DB2-BD59-A6C34878D82A}">
                    <a16:rowId xmlns:a16="http://schemas.microsoft.com/office/drawing/2014/main" val="10002"/>
                  </a:ext>
                </a:extLst>
              </a:tr>
              <a:tr h="667512">
                <a:tc>
                  <a:txBody>
                    <a:bodyPr/>
                    <a:lstStyle/>
                    <a:p>
                      <a:pPr algn="ctr">
                        <a:lnSpc>
                          <a:spcPts val="1400"/>
                        </a:lnSpc>
                        <a:spcBef>
                          <a:spcPts val="100"/>
                        </a:spcBef>
                        <a:spcAft>
                          <a:spcPts val="100"/>
                        </a:spcAft>
                        <a:defRPr sz="1100" b="1">
                          <a:solidFill>
                            <a:srgbClr val="000000"/>
                          </a:solidFill>
                          <a:latin typeface="Arial"/>
                        </a:defRPr>
                      </a:pPr>
                      <a:r>
                        <a:t>GPU-STM (2013)</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Adapts STM to GPU architectures</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Hierarchical validation + encounter-time lock sorting</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Shows STM is feasible on GPUs</a:t>
                      </a:r>
                    </a:p>
                  </a:txBody>
                  <a:tcPr anchor="ctr">
                    <a:solidFill>
                      <a:srgbClr val="FFFFFF"/>
                    </a:solidFill>
                  </a:tcPr>
                </a:tc>
                <a:extLst>
                  <a:ext uri="{0D108BD9-81ED-4DB2-BD59-A6C34878D82A}">
                    <a16:rowId xmlns:a16="http://schemas.microsoft.com/office/drawing/2014/main" val="10003"/>
                  </a:ext>
                </a:extLst>
              </a:tr>
              <a:tr h="667512">
                <a:tc>
                  <a:txBody>
                    <a:bodyPr/>
                    <a:lstStyle/>
                    <a:p>
                      <a:pPr algn="ctr">
                        <a:lnSpc>
                          <a:spcPts val="1400"/>
                        </a:lnSpc>
                        <a:spcBef>
                          <a:spcPts val="100"/>
                        </a:spcBef>
                        <a:spcAft>
                          <a:spcPts val="100"/>
                        </a:spcAft>
                        <a:defRPr sz="1100" b="1">
                          <a:solidFill>
                            <a:srgbClr val="000000"/>
                          </a:solidFill>
                          <a:latin typeface="Arial"/>
                        </a:defRPr>
                      </a:pPr>
                      <a:r>
                        <a:t>CSMV (2022)</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Multi-version GPU STM</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Client-server design separates execution from commit processing</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Shows GPU-STM can be further optimized</a:t>
                      </a:r>
                    </a:p>
                  </a:txBody>
                  <a:tcPr anchor="ctr">
                    <a:solidFill>
                      <a:srgbClr val="EFF2F7"/>
                    </a:solidFill>
                  </a:tcPr>
                </a:tc>
                <a:extLst>
                  <a:ext uri="{0D108BD9-81ED-4DB2-BD59-A6C34878D82A}">
                    <a16:rowId xmlns:a16="http://schemas.microsoft.com/office/drawing/2014/main" val="10004"/>
                  </a:ext>
                </a:extLst>
              </a:tr>
              <a:tr h="667512">
                <a:tc>
                  <a:txBody>
                    <a:bodyPr/>
                    <a:lstStyle/>
                    <a:p>
                      <a:pPr algn="ctr">
                        <a:lnSpc>
                          <a:spcPts val="1400"/>
                        </a:lnSpc>
                        <a:spcBef>
                          <a:spcPts val="100"/>
                        </a:spcBef>
                        <a:spcAft>
                          <a:spcPts val="100"/>
                        </a:spcAft>
                        <a:defRPr sz="1100" b="1">
                          <a:solidFill>
                            <a:srgbClr val="000000"/>
                          </a:solidFill>
                          <a:latin typeface="Arial"/>
                        </a:defRPr>
                      </a:pPr>
                      <a:r>
                        <a:t>OF-GPU-STM (2025)</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Explores obstruction-free GPU STM</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Non-blocking progress approach</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Addresses GPU synchronization/progress challenges</a:t>
                      </a:r>
                    </a:p>
                  </a:txBody>
                  <a:tcPr anchor="ctr">
                    <a:solidFill>
                      <a:srgbClr val="FFFFFF"/>
                    </a:solidFill>
                  </a:tcPr>
                </a:tc>
                <a:extLst>
                  <a:ext uri="{0D108BD9-81ED-4DB2-BD59-A6C34878D82A}">
                    <a16:rowId xmlns:a16="http://schemas.microsoft.com/office/drawing/2014/main" val="10005"/>
                  </a:ext>
                </a:extLst>
              </a:tr>
            </a:tbl>
          </a:graphicData>
        </a:graphic>
      </p:graphicFrame>
      <p:cxnSp>
        <p:nvCxnSpPr>
          <p:cNvPr id="9" name="Connector 8"/>
          <p:cNvCxnSpPr/>
          <p:nvPr/>
        </p:nvCxnSpPr>
        <p:spPr>
          <a:xfrm>
            <a:off x="548640" y="521208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303520"/>
            <a:ext cx="11091672" cy="411480"/>
          </a:xfrm>
          <a:prstGeom prst="rect">
            <a:avLst/>
          </a:prstGeom>
          <a:noFill/>
        </p:spPr>
        <p:txBody>
          <a:bodyPr wrap="square">
            <a:spAutoFit/>
          </a:bodyPr>
          <a:lstStyle/>
          <a:p>
            <a:pPr algn="ctr">
              <a:defRPr sz="1200" b="1" i="0">
                <a:solidFill>
                  <a:srgbClr val="1F3A5F"/>
                </a:solidFill>
                <a:latin typeface="Arial"/>
              </a:defRPr>
            </a:pPr>
            <a:r>
              <a:t>STM evolved from a general abstraction → dynamic structures → GPU-specific synchronization.</a:t>
            </a:r>
          </a:p>
        </p:txBody>
      </p:sp>
      <p:sp>
        <p:nvSpPr>
          <p:cNvPr id="11" name="TextBox 10"/>
          <p:cNvSpPr txBox="1"/>
          <p:nvPr/>
        </p:nvSpPr>
        <p:spPr>
          <a:xfrm>
            <a:off x="548640" y="5715000"/>
            <a:ext cx="11091672" cy="548640"/>
          </a:xfrm>
          <a:prstGeom prst="rect">
            <a:avLst/>
          </a:prstGeom>
          <a:noFill/>
        </p:spPr>
        <p:txBody>
          <a:bodyPr wrap="square">
            <a:spAutoFit/>
          </a:bodyPr>
          <a:lstStyle/>
          <a:p>
            <a:pPr algn="ctr">
              <a:defRPr sz="1100" b="0" i="1">
                <a:solidFill>
                  <a:srgbClr val="333333"/>
                </a:solidFill>
                <a:latin typeface="Arial"/>
              </a:defRPr>
            </a:pPr>
            <a:r>
              <a:t>Gap: GPU-STM has been evaluated on general workloads, not concurrent dynamic graph updates.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6  —  LITERATURE</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400" b="1" i="0">
                <a:solidFill>
                  <a:srgbClr val="1F3A5F"/>
                </a:solidFill>
                <a:latin typeface="Arial"/>
              </a:defRPr>
            </a:pPr>
            <a:r>
              <a:t>Dynamic Graph Processing on GPUs</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6</a:t>
            </a:r>
          </a:p>
        </p:txBody>
      </p:sp>
      <p:graphicFrame>
        <p:nvGraphicFramePr>
          <p:cNvPr id="8" name="Table 7"/>
          <p:cNvGraphicFramePr>
            <a:graphicFrameLocks noGrp="1"/>
          </p:cNvGraphicFramePr>
          <p:nvPr/>
        </p:nvGraphicFramePr>
        <p:xfrm>
          <a:off x="365760" y="1325880"/>
          <a:ext cx="11457432" cy="3374136"/>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2907792">
                  <a:extLst>
                    <a:ext uri="{9D8B030D-6E8A-4147-A177-3AD203B41FA5}">
                      <a16:colId xmlns:a16="http://schemas.microsoft.com/office/drawing/2014/main" val="20003"/>
                    </a:ext>
                  </a:extLst>
                </a:gridCol>
              </a:tblGrid>
              <a:tr h="411480">
                <a:tc>
                  <a:txBody>
                    <a:bodyPr/>
                    <a:lstStyle/>
                    <a:p>
                      <a:pPr algn="ctr">
                        <a:lnSpc>
                          <a:spcPts val="1500"/>
                        </a:lnSpc>
                        <a:spcBef>
                          <a:spcPts val="100"/>
                        </a:spcBef>
                        <a:spcAft>
                          <a:spcPts val="100"/>
                        </a:spcAft>
                        <a:defRPr sz="1200" b="1">
                          <a:solidFill>
                            <a:srgbClr val="FFFFFF"/>
                          </a:solidFill>
                          <a:latin typeface="Arial"/>
                        </a:defRPr>
                      </a:pPr>
                      <a:r>
                        <a:t>Work</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Core contribution</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Key idea</a:t>
                      </a:r>
                    </a:p>
                  </a:txBody>
                  <a:tcPr anchor="ctr">
                    <a:solidFill>
                      <a:srgbClr val="1F3A5F"/>
                    </a:solidFill>
                  </a:tcPr>
                </a:tc>
                <a:tc>
                  <a:txBody>
                    <a:bodyPr/>
                    <a:lstStyle/>
                    <a:p>
                      <a:pPr algn="ctr">
                        <a:lnSpc>
                          <a:spcPts val="1500"/>
                        </a:lnSpc>
                        <a:spcBef>
                          <a:spcPts val="100"/>
                        </a:spcBef>
                        <a:spcAft>
                          <a:spcPts val="100"/>
                        </a:spcAft>
                        <a:defRPr sz="1200" b="1">
                          <a:solidFill>
                            <a:srgbClr val="FFFFFF"/>
                          </a:solidFill>
                          <a:latin typeface="Arial"/>
                        </a:defRPr>
                      </a:pPr>
                      <a:r>
                        <a:t>What it gives us</a:t>
                      </a:r>
                    </a:p>
                  </a:txBody>
                  <a:tcPr anchor="ctr">
                    <a:solidFill>
                      <a:srgbClr val="1F3A5F"/>
                    </a:solidFill>
                  </a:tcPr>
                </a:tc>
                <a:extLst>
                  <a:ext uri="{0D108BD9-81ED-4DB2-BD59-A6C34878D82A}">
                    <a16:rowId xmlns:a16="http://schemas.microsoft.com/office/drawing/2014/main" val="10000"/>
                  </a:ext>
                </a:extLst>
              </a:tr>
              <a:tr h="740664">
                <a:tc>
                  <a:txBody>
                    <a:bodyPr/>
                    <a:lstStyle/>
                    <a:p>
                      <a:pPr algn="ctr">
                        <a:lnSpc>
                          <a:spcPts val="1400"/>
                        </a:lnSpc>
                        <a:spcBef>
                          <a:spcPts val="100"/>
                        </a:spcBef>
                        <a:spcAft>
                          <a:spcPts val="100"/>
                        </a:spcAft>
                        <a:defRPr sz="1100" b="1">
                          <a:solidFill>
                            <a:srgbClr val="000000"/>
                          </a:solidFill>
                          <a:latin typeface="Arial"/>
                        </a:defRPr>
                      </a:pPr>
                      <a:r>
                        <a:t>GPMA (2017)</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GPU framework for large batches of dynamic graph updates</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Packed-memory-array-based organization adapted for GPU parallelism</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Strong specialized baseline for updates</a:t>
                      </a:r>
                    </a:p>
                  </a:txBody>
                  <a:tcPr anchor="ctr">
                    <a:solidFill>
                      <a:srgbClr val="FFFFFF"/>
                    </a:solidFill>
                  </a:tcPr>
                </a:tc>
                <a:extLst>
                  <a:ext uri="{0D108BD9-81ED-4DB2-BD59-A6C34878D82A}">
                    <a16:rowId xmlns:a16="http://schemas.microsoft.com/office/drawing/2014/main" val="10001"/>
                  </a:ext>
                </a:extLst>
              </a:tr>
              <a:tr h="740664">
                <a:tc>
                  <a:txBody>
                    <a:bodyPr/>
                    <a:lstStyle/>
                    <a:p>
                      <a:pPr algn="ctr">
                        <a:lnSpc>
                          <a:spcPts val="1400"/>
                        </a:lnSpc>
                        <a:spcBef>
                          <a:spcPts val="100"/>
                        </a:spcBef>
                        <a:spcAft>
                          <a:spcPts val="100"/>
                        </a:spcAft>
                        <a:defRPr sz="1100" b="1">
                          <a:solidFill>
                            <a:srgbClr val="000000"/>
                          </a:solidFill>
                          <a:latin typeface="Arial"/>
                        </a:defRPr>
                      </a:pPr>
                      <a:r>
                        <a:t>Hornet (2018)</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Dynamic sparse graph data structure for GPUs</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Hierarchical representation + dynamic memory management</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t>Shows need for specialized graph structures</a:t>
                      </a:r>
                    </a:p>
                  </a:txBody>
                  <a:tcPr anchor="ctr">
                    <a:solidFill>
                      <a:srgbClr val="EFF2F7"/>
                    </a:solidFill>
                  </a:tcPr>
                </a:tc>
                <a:extLst>
                  <a:ext uri="{0D108BD9-81ED-4DB2-BD59-A6C34878D82A}">
                    <a16:rowId xmlns:a16="http://schemas.microsoft.com/office/drawing/2014/main" val="10002"/>
                  </a:ext>
                </a:extLst>
              </a:tr>
              <a:tr h="740664">
                <a:tc>
                  <a:txBody>
                    <a:bodyPr/>
                    <a:lstStyle/>
                    <a:p>
                      <a:pPr algn="ctr">
                        <a:lnSpc>
                          <a:spcPts val="1400"/>
                        </a:lnSpc>
                        <a:spcBef>
                          <a:spcPts val="100"/>
                        </a:spcBef>
                        <a:spcAft>
                          <a:spcPts val="100"/>
                        </a:spcAft>
                        <a:defRPr sz="1100" b="1">
                          <a:solidFill>
                            <a:srgbClr val="000000"/>
                          </a:solidFill>
                          <a:latin typeface="Arial"/>
                        </a:defRPr>
                      </a:pPr>
                      <a:r>
                        <a:t>GPMA+ / Lock-Free Updates</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Improves handling of highly conflicting updates</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Lock-free update strategy</a:t>
                      </a:r>
                    </a:p>
                  </a:txBody>
                  <a:tcPr anchor="ctr">
                    <a:solidFill>
                      <a:srgbClr val="FFFFFF"/>
                    </a:solidFill>
                  </a:tcPr>
                </a:tc>
                <a:tc>
                  <a:txBody>
                    <a:bodyPr/>
                    <a:lstStyle/>
                    <a:p>
                      <a:pPr algn="l">
                        <a:lnSpc>
                          <a:spcPts val="1400"/>
                        </a:lnSpc>
                        <a:spcBef>
                          <a:spcPts val="100"/>
                        </a:spcBef>
                        <a:spcAft>
                          <a:spcPts val="100"/>
                        </a:spcAft>
                        <a:defRPr sz="1100" b="0">
                          <a:solidFill>
                            <a:srgbClr val="000000"/>
                          </a:solidFill>
                          <a:latin typeface="Arial"/>
                        </a:defRPr>
                      </a:pPr>
                      <a:r>
                        <a:t>Highlights contention as a key factor</a:t>
                      </a:r>
                    </a:p>
                  </a:txBody>
                  <a:tcPr anchor="ctr">
                    <a:solidFill>
                      <a:srgbClr val="FFFFFF"/>
                    </a:solidFill>
                  </a:tcPr>
                </a:tc>
                <a:extLst>
                  <a:ext uri="{0D108BD9-81ED-4DB2-BD59-A6C34878D82A}">
                    <a16:rowId xmlns:a16="http://schemas.microsoft.com/office/drawing/2014/main" val="10003"/>
                  </a:ext>
                </a:extLst>
              </a:tr>
              <a:tr h="740664">
                <a:tc>
                  <a:txBody>
                    <a:bodyPr/>
                    <a:lstStyle/>
                    <a:p>
                      <a:pPr algn="ctr">
                        <a:lnSpc>
                          <a:spcPts val="1400"/>
                        </a:lnSpc>
                        <a:spcBef>
                          <a:spcPts val="100"/>
                        </a:spcBef>
                        <a:spcAft>
                          <a:spcPts val="100"/>
                        </a:spcAft>
                        <a:defRPr sz="1100" b="1">
                          <a:solidFill>
                            <a:srgbClr val="000000"/>
                          </a:solidFill>
                          <a:latin typeface="Arial"/>
                        </a:defRPr>
                      </a:pPr>
                      <a:r>
                        <a:t>GPU Dynamic Graph Survey (2023)</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rPr dirty="0"/>
                        <a:t>Taxonomy of GPU dynamic-graph approaches</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rPr dirty="0"/>
                        <a:t>Organizes representations, updates and analytics</a:t>
                      </a:r>
                    </a:p>
                  </a:txBody>
                  <a:tcPr anchor="ctr">
                    <a:solidFill>
                      <a:srgbClr val="EFF2F7"/>
                    </a:solidFill>
                  </a:tcPr>
                </a:tc>
                <a:tc>
                  <a:txBody>
                    <a:bodyPr/>
                    <a:lstStyle/>
                    <a:p>
                      <a:pPr algn="l">
                        <a:lnSpc>
                          <a:spcPts val="1400"/>
                        </a:lnSpc>
                        <a:spcBef>
                          <a:spcPts val="100"/>
                        </a:spcBef>
                        <a:spcAft>
                          <a:spcPts val="100"/>
                        </a:spcAft>
                        <a:defRPr sz="1100" b="0">
                          <a:solidFill>
                            <a:srgbClr val="000000"/>
                          </a:solidFill>
                          <a:latin typeface="Arial"/>
                        </a:defRPr>
                      </a:pPr>
                      <a:r>
                        <a:rPr dirty="0"/>
                        <a:t>Places the problem in the broader field</a:t>
                      </a:r>
                    </a:p>
                  </a:txBody>
                  <a:tcPr anchor="ctr">
                    <a:solidFill>
                      <a:srgbClr val="EFF2F7"/>
                    </a:solidFill>
                  </a:tcPr>
                </a:tc>
                <a:extLst>
                  <a:ext uri="{0D108BD9-81ED-4DB2-BD59-A6C34878D82A}">
                    <a16:rowId xmlns:a16="http://schemas.microsoft.com/office/drawing/2014/main" val="10004"/>
                  </a:ext>
                </a:extLst>
              </a:tr>
            </a:tbl>
          </a:graphicData>
        </a:graphic>
      </p:graphicFrame>
      <p:cxnSp>
        <p:nvCxnSpPr>
          <p:cNvPr id="9" name="Connector 8"/>
          <p:cNvCxnSpPr/>
          <p:nvPr/>
        </p:nvCxnSpPr>
        <p:spPr>
          <a:xfrm>
            <a:off x="548640" y="489204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029200"/>
            <a:ext cx="11091672" cy="320040"/>
          </a:xfrm>
          <a:prstGeom prst="rect">
            <a:avLst/>
          </a:prstGeom>
          <a:noFill/>
        </p:spPr>
        <p:txBody>
          <a:bodyPr wrap="square">
            <a:spAutoFit/>
          </a:bodyPr>
          <a:lstStyle/>
          <a:p>
            <a:pPr algn="ctr">
              <a:defRPr sz="1100" b="0" i="0">
                <a:solidFill>
                  <a:srgbClr val="5A5A5A"/>
                </a:solidFill>
                <a:latin typeface="Arial"/>
              </a:defRPr>
            </a:pPr>
            <a:r>
              <a:t>Takeaway</a:t>
            </a:r>
          </a:p>
        </p:txBody>
      </p:sp>
      <p:sp>
        <p:nvSpPr>
          <p:cNvPr id="11" name="TextBox 10"/>
          <p:cNvSpPr txBox="1"/>
          <p:nvPr/>
        </p:nvSpPr>
        <p:spPr>
          <a:xfrm>
            <a:off x="731520" y="5303520"/>
            <a:ext cx="10725912" cy="640080"/>
          </a:xfrm>
          <a:prstGeom prst="rect">
            <a:avLst/>
          </a:prstGeom>
          <a:noFill/>
        </p:spPr>
        <p:txBody>
          <a:bodyPr wrap="square">
            <a:spAutoFit/>
          </a:bodyPr>
          <a:lstStyle/>
          <a:p>
            <a:pPr algn="ctr">
              <a:defRPr sz="1400" b="1" i="0">
                <a:solidFill>
                  <a:srgbClr val="1F3A5F"/>
                </a:solidFill>
                <a:latin typeface="Arial"/>
              </a:defRPr>
            </a:pPr>
            <a:r>
              <a:rPr dirty="0"/>
              <a:t>Dynamic GPU graph systems achieve high performance through specialized structures and synchronization.</a:t>
            </a:r>
          </a:p>
        </p:txBody>
      </p:sp>
      <p:sp>
        <p:nvSpPr>
          <p:cNvPr id="12" name="TextBox 11"/>
          <p:cNvSpPr txBox="1"/>
          <p:nvPr/>
        </p:nvSpPr>
        <p:spPr>
          <a:xfrm>
            <a:off x="548640" y="5943600"/>
            <a:ext cx="11091672" cy="365760"/>
          </a:xfrm>
          <a:prstGeom prst="rect">
            <a:avLst/>
          </a:prstGeom>
          <a:noFill/>
        </p:spPr>
        <p:txBody>
          <a:bodyPr wrap="square">
            <a:spAutoFit/>
          </a:bodyPr>
          <a:lstStyle/>
          <a:p>
            <a:pPr algn="ctr">
              <a:defRPr sz="1200" b="0" i="1">
                <a:solidFill>
                  <a:srgbClr val="333333"/>
                </a:solidFill>
                <a:latin typeface="Arial"/>
              </a:defRPr>
            </a:pPr>
            <a:r>
              <a:rPr dirty="0"/>
              <a:t>Our question: can GPU-STM provide a general abstraction without giving up competitive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274320"/>
          </a:xfrm>
          <a:prstGeom prst="rect">
            <a:avLst/>
          </a:prstGeom>
          <a:noFill/>
        </p:spPr>
        <p:txBody>
          <a:bodyPr wrap="square">
            <a:spAutoFit/>
          </a:bodyPr>
          <a:lstStyle/>
          <a:p>
            <a:pPr algn="l">
              <a:defRPr sz="1100" b="0" i="0">
                <a:solidFill>
                  <a:srgbClr val="5A5A5A"/>
                </a:solidFill>
                <a:latin typeface="Arial"/>
              </a:defRPr>
            </a:pPr>
            <a:r>
              <a:t>7  —  GAP</a:t>
            </a:r>
          </a:p>
        </p:txBody>
      </p:sp>
      <p:sp>
        <p:nvSpPr>
          <p:cNvPr id="3" name="TextBox 2"/>
          <p:cNvSpPr txBox="1"/>
          <p:nvPr/>
        </p:nvSpPr>
        <p:spPr>
          <a:xfrm>
            <a:off x="548640" y="457200"/>
            <a:ext cx="11064240" cy="594360"/>
          </a:xfrm>
          <a:prstGeom prst="rect">
            <a:avLst/>
          </a:prstGeom>
          <a:noFill/>
        </p:spPr>
        <p:txBody>
          <a:bodyPr wrap="square">
            <a:spAutoFit/>
          </a:bodyPr>
          <a:lstStyle/>
          <a:p>
            <a:pPr algn="l">
              <a:defRPr sz="2800" b="1" i="0">
                <a:solidFill>
                  <a:srgbClr val="1F3A5F"/>
                </a:solidFill>
                <a:latin typeface="Arial"/>
              </a:defRPr>
            </a:pPr>
            <a:r>
              <a:t>Literature Gap</a:t>
            </a:r>
          </a:p>
        </p:txBody>
      </p:sp>
      <p:cxnSp>
        <p:nvCxnSpPr>
          <p:cNvPr id="4" name="Connector 3"/>
          <p:cNvCxnSpPr/>
          <p:nvPr/>
        </p:nvCxnSpPr>
        <p:spPr>
          <a:xfrm>
            <a:off x="548640" y="1143000"/>
            <a:ext cx="11091672" cy="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48640" y="644652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7315200" cy="228600"/>
          </a:xfrm>
          <a:prstGeom prst="rect">
            <a:avLst/>
          </a:prstGeom>
          <a:noFill/>
        </p:spPr>
        <p:txBody>
          <a:bodyPr wrap="square">
            <a:spAutoFit/>
          </a:bodyPr>
          <a:lstStyle/>
          <a:p>
            <a:pPr algn="l">
              <a:defRPr sz="900" b="0" i="0">
                <a:solidFill>
                  <a:srgbClr val="5A5A5A"/>
                </a:solidFill>
                <a:latin typeface="Arial"/>
              </a:defRPr>
            </a:pPr>
            <a:r>
              <a:t>General-Purpose STM for Concurrent Dynamic Graph Updates on GPUs</a:t>
            </a:r>
          </a:p>
        </p:txBody>
      </p:sp>
      <p:sp>
        <p:nvSpPr>
          <p:cNvPr id="7" name="TextBox 6"/>
          <p:cNvSpPr txBox="1"/>
          <p:nvPr/>
        </p:nvSpPr>
        <p:spPr>
          <a:xfrm>
            <a:off x="10972800" y="6473952"/>
            <a:ext cx="640080" cy="228600"/>
          </a:xfrm>
          <a:prstGeom prst="rect">
            <a:avLst/>
          </a:prstGeom>
          <a:noFill/>
        </p:spPr>
        <p:txBody>
          <a:bodyPr wrap="square">
            <a:spAutoFit/>
          </a:bodyPr>
          <a:lstStyle/>
          <a:p>
            <a:pPr algn="r">
              <a:defRPr sz="900" b="0" i="0">
                <a:solidFill>
                  <a:srgbClr val="5A5A5A"/>
                </a:solidFill>
                <a:latin typeface="Arial"/>
              </a:defRPr>
            </a:pPr>
            <a:r>
              <a:t>7</a:t>
            </a:r>
          </a:p>
        </p:txBody>
      </p:sp>
      <p:sp>
        <p:nvSpPr>
          <p:cNvPr id="8" name="Rounded Rectangle 7"/>
          <p:cNvSpPr/>
          <p:nvPr/>
        </p:nvSpPr>
        <p:spPr>
          <a:xfrm>
            <a:off x="822960" y="1417320"/>
            <a:ext cx="4206240" cy="178308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527048"/>
            <a:ext cx="3840479" cy="320040"/>
          </a:xfrm>
          <a:prstGeom prst="rect">
            <a:avLst/>
          </a:prstGeom>
          <a:noFill/>
        </p:spPr>
        <p:txBody>
          <a:bodyPr wrap="square">
            <a:spAutoFit/>
          </a:bodyPr>
          <a:lstStyle/>
          <a:p>
            <a:pPr algn="l">
              <a:defRPr sz="1400" b="1" i="0">
                <a:solidFill>
                  <a:srgbClr val="1F3A5F"/>
                </a:solidFill>
                <a:latin typeface="Arial"/>
              </a:defRPr>
            </a:pPr>
            <a:r>
              <a:t>GPU STM</a:t>
            </a:r>
          </a:p>
        </p:txBody>
      </p:sp>
      <p:cxnSp>
        <p:nvCxnSpPr>
          <p:cNvPr id="10" name="Connector 9"/>
          <p:cNvCxnSpPr/>
          <p:nvPr/>
        </p:nvCxnSpPr>
        <p:spPr>
          <a:xfrm>
            <a:off x="1005840" y="1874519"/>
            <a:ext cx="384048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984248"/>
            <a:ext cx="3840479" cy="1097280"/>
          </a:xfrm>
          <a:prstGeom prst="rect">
            <a:avLst/>
          </a:prstGeom>
          <a:noFill/>
        </p:spPr>
        <p:txBody>
          <a:bodyPr wrap="square">
            <a:spAutoFit/>
          </a:bodyPr>
          <a:lstStyle/>
          <a:p>
            <a:pPr algn="l">
              <a:spcBef>
                <a:spcPts val="0"/>
              </a:spcBef>
              <a:spcAft>
                <a:spcPts val="200"/>
              </a:spcAft>
            </a:pPr>
            <a:r>
              <a:rPr sz="1100" b="1">
                <a:solidFill>
                  <a:srgbClr val="000000"/>
                </a:solidFill>
                <a:latin typeface="Arial"/>
              </a:rPr>
              <a:t>•  General-purpose </a:t>
            </a:r>
            <a:r>
              <a:rPr sz="1100" b="0">
                <a:solidFill>
                  <a:srgbClr val="000000"/>
                </a:solidFill>
                <a:latin typeface="Arial"/>
              </a:rPr>
              <a:t>synchronization</a:t>
            </a:r>
          </a:p>
          <a:p>
            <a:pPr algn="l">
              <a:spcBef>
                <a:spcPts val="0"/>
              </a:spcBef>
              <a:spcAft>
                <a:spcPts val="200"/>
              </a:spcAft>
            </a:pPr>
            <a:r>
              <a:rPr sz="1100" b="1">
                <a:solidFill>
                  <a:srgbClr val="000000"/>
                </a:solidFill>
                <a:latin typeface="Arial"/>
              </a:rPr>
              <a:t>•  Abstraction </a:t>
            </a:r>
            <a:r>
              <a:rPr sz="1100" b="0">
                <a:solidFill>
                  <a:srgbClr val="000000"/>
                </a:solidFill>
                <a:latin typeface="Arial"/>
              </a:rPr>
              <a:t>for concurrent operations</a:t>
            </a:r>
          </a:p>
        </p:txBody>
      </p:sp>
      <p:sp>
        <p:nvSpPr>
          <p:cNvPr id="12" name="Rounded Rectangle 11"/>
          <p:cNvSpPr/>
          <p:nvPr/>
        </p:nvSpPr>
        <p:spPr>
          <a:xfrm>
            <a:off x="7159752" y="1417320"/>
            <a:ext cx="4206240" cy="178308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42631" y="1527048"/>
            <a:ext cx="3840479" cy="320040"/>
          </a:xfrm>
          <a:prstGeom prst="rect">
            <a:avLst/>
          </a:prstGeom>
          <a:noFill/>
        </p:spPr>
        <p:txBody>
          <a:bodyPr wrap="square">
            <a:spAutoFit/>
          </a:bodyPr>
          <a:lstStyle/>
          <a:p>
            <a:pPr algn="l">
              <a:defRPr sz="1400" b="1" i="0">
                <a:solidFill>
                  <a:srgbClr val="000000"/>
                </a:solidFill>
                <a:latin typeface="Arial"/>
              </a:defRPr>
            </a:pPr>
            <a:r>
              <a:t>Dynamic GPU Graphs</a:t>
            </a:r>
          </a:p>
        </p:txBody>
      </p:sp>
      <p:cxnSp>
        <p:nvCxnSpPr>
          <p:cNvPr id="14" name="Connector 13"/>
          <p:cNvCxnSpPr/>
          <p:nvPr/>
        </p:nvCxnSpPr>
        <p:spPr>
          <a:xfrm>
            <a:off x="7342631" y="1874519"/>
            <a:ext cx="3840481"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42631" y="1984248"/>
            <a:ext cx="3840479" cy="1097280"/>
          </a:xfrm>
          <a:prstGeom prst="rect">
            <a:avLst/>
          </a:prstGeom>
          <a:noFill/>
        </p:spPr>
        <p:txBody>
          <a:bodyPr wrap="square">
            <a:spAutoFit/>
          </a:bodyPr>
          <a:lstStyle/>
          <a:p>
            <a:pPr algn="l">
              <a:spcBef>
                <a:spcPts val="0"/>
              </a:spcBef>
              <a:spcAft>
                <a:spcPts val="200"/>
              </a:spcAft>
            </a:pPr>
            <a:r>
              <a:rPr sz="1100" b="1">
                <a:solidFill>
                  <a:srgbClr val="000000"/>
                </a:solidFill>
                <a:latin typeface="Arial"/>
              </a:rPr>
              <a:t>•  Specialized </a:t>
            </a:r>
            <a:r>
              <a:rPr sz="1100" b="0">
                <a:solidFill>
                  <a:srgbClr val="000000"/>
                </a:solidFill>
                <a:latin typeface="Arial"/>
              </a:rPr>
              <a:t>synchronization</a:t>
            </a:r>
          </a:p>
          <a:p>
            <a:pPr algn="l">
              <a:spcBef>
                <a:spcPts val="0"/>
              </a:spcBef>
              <a:spcAft>
                <a:spcPts val="200"/>
              </a:spcAft>
            </a:pPr>
            <a:r>
              <a:rPr sz="1100" b="1">
                <a:solidFill>
                  <a:srgbClr val="000000"/>
                </a:solidFill>
                <a:latin typeface="Arial"/>
              </a:rPr>
              <a:t>•  Designed </a:t>
            </a:r>
            <a:r>
              <a:rPr sz="1100" b="0">
                <a:solidFill>
                  <a:srgbClr val="000000"/>
                </a:solidFill>
                <a:latin typeface="Arial"/>
              </a:rPr>
              <a:t>for efficient graph updates</a:t>
            </a:r>
          </a:p>
        </p:txBody>
      </p:sp>
      <p:cxnSp>
        <p:nvCxnSpPr>
          <p:cNvPr id="16" name="Connector 15"/>
          <p:cNvCxnSpPr/>
          <p:nvPr/>
        </p:nvCxnSpPr>
        <p:spPr>
          <a:xfrm>
            <a:off x="2926080" y="3246120"/>
            <a:ext cx="1554480" cy="54864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708392" y="3246120"/>
            <a:ext cx="1554480" cy="548640"/>
          </a:xfrm>
          <a:prstGeom prst="line">
            <a:avLst/>
          </a:prstGeom>
          <a:ln w="15875">
            <a:solidFill>
              <a:srgbClr val="5A5A5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01568" y="3794760"/>
            <a:ext cx="2011680" cy="502920"/>
          </a:xfrm>
          <a:prstGeom prst="roundRect">
            <a:avLst/>
          </a:prstGeom>
          <a:solidFill>
            <a:srgbClr val="FFFFFF"/>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F3A5F"/>
                </a:solidFill>
                <a:latin typeface="Arial"/>
              </a:defRPr>
            </a:pPr>
            <a:r>
              <a:t>GPU STM</a:t>
            </a:r>
          </a:p>
        </p:txBody>
      </p:sp>
      <p:sp>
        <p:nvSpPr>
          <p:cNvPr id="19" name="Rounded Rectangle 18"/>
          <p:cNvSpPr/>
          <p:nvPr/>
        </p:nvSpPr>
        <p:spPr>
          <a:xfrm>
            <a:off x="6784848" y="3794760"/>
            <a:ext cx="2011680" cy="50292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00000"/>
                </a:solidFill>
                <a:latin typeface="Arial"/>
              </a:defRPr>
            </a:pPr>
            <a:r>
              <a:t>Dynamic GPU Graphs</a:t>
            </a:r>
          </a:p>
        </p:txBody>
      </p:sp>
      <p:sp>
        <p:nvSpPr>
          <p:cNvPr id="20" name="Rounded Rectangle 19"/>
          <p:cNvSpPr/>
          <p:nvPr/>
        </p:nvSpPr>
        <p:spPr>
          <a:xfrm>
            <a:off x="5641848" y="3794760"/>
            <a:ext cx="914400" cy="50292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en-IN" dirty="0"/>
              <a:t>+</a:t>
            </a:r>
          </a:p>
        </p:txBody>
      </p:sp>
      <p:sp>
        <p:nvSpPr>
          <p:cNvPr id="21" name="TextBox 20"/>
          <p:cNvSpPr txBox="1"/>
          <p:nvPr/>
        </p:nvSpPr>
        <p:spPr>
          <a:xfrm>
            <a:off x="5413248" y="3867912"/>
            <a:ext cx="411480" cy="365760"/>
          </a:xfrm>
          <a:prstGeom prst="rect">
            <a:avLst/>
          </a:prstGeom>
          <a:noFill/>
        </p:spPr>
        <p:txBody>
          <a:bodyPr wrap="square">
            <a:spAutoFit/>
          </a:bodyPr>
          <a:lstStyle/>
          <a:p>
            <a:pPr algn="ctr">
              <a:defRPr sz="1400" b="1" i="0">
                <a:solidFill>
                  <a:srgbClr val="1F3A5F"/>
                </a:solidFill>
                <a:latin typeface="Arial"/>
              </a:defRPr>
            </a:pPr>
            <a:r>
              <a:t>→</a:t>
            </a:r>
          </a:p>
        </p:txBody>
      </p:sp>
      <p:sp>
        <p:nvSpPr>
          <p:cNvPr id="22" name="TextBox 21"/>
          <p:cNvSpPr txBox="1"/>
          <p:nvPr/>
        </p:nvSpPr>
        <p:spPr>
          <a:xfrm>
            <a:off x="6327648" y="3867912"/>
            <a:ext cx="411480" cy="365760"/>
          </a:xfrm>
          <a:prstGeom prst="rect">
            <a:avLst/>
          </a:prstGeom>
          <a:noFill/>
        </p:spPr>
        <p:txBody>
          <a:bodyPr wrap="square">
            <a:spAutoFit/>
          </a:bodyPr>
          <a:lstStyle/>
          <a:p>
            <a:pPr algn="ctr">
              <a:defRPr sz="1400" b="1" i="0">
                <a:solidFill>
                  <a:srgbClr val="1F3A5F"/>
                </a:solidFill>
                <a:latin typeface="Arial"/>
              </a:defRPr>
            </a:pPr>
            <a:r>
              <a:t>←</a:t>
            </a:r>
          </a:p>
        </p:txBody>
      </p:sp>
      <p:sp>
        <p:nvSpPr>
          <p:cNvPr id="23" name="Rounded Rectangle 22"/>
          <p:cNvSpPr/>
          <p:nvPr/>
        </p:nvSpPr>
        <p:spPr>
          <a:xfrm>
            <a:off x="2880360" y="4526280"/>
            <a:ext cx="6428232" cy="566928"/>
          </a:xfrm>
          <a:prstGeom prst="roundRect">
            <a:avLst/>
          </a:prstGeom>
          <a:solidFill>
            <a:srgbClr val="1F3A5F"/>
          </a:solidFill>
          <a:ln>
            <a:solidFill>
              <a:srgbClr val="1F3A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Arial"/>
              </a:defRPr>
            </a:pPr>
            <a:r>
              <a:t>GPU STM for concurrent dynamic graph updates</a:t>
            </a:r>
          </a:p>
        </p:txBody>
      </p:sp>
      <p:cxnSp>
        <p:nvCxnSpPr>
          <p:cNvPr id="24" name="Connector 23"/>
          <p:cNvCxnSpPr/>
          <p:nvPr/>
        </p:nvCxnSpPr>
        <p:spPr>
          <a:xfrm>
            <a:off x="548640" y="5349240"/>
            <a:ext cx="1109167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5440680"/>
            <a:ext cx="10725912" cy="830997"/>
          </a:xfrm>
          <a:prstGeom prst="rect">
            <a:avLst/>
          </a:prstGeom>
          <a:noFill/>
        </p:spPr>
        <p:txBody>
          <a:bodyPr wrap="square">
            <a:spAutoFit/>
          </a:bodyPr>
          <a:lstStyle/>
          <a:p>
            <a:pPr algn="ctr">
              <a:defRPr sz="1100" b="0" i="1">
                <a:solidFill>
                  <a:srgbClr val="333333"/>
                </a:solidFill>
                <a:latin typeface="Arial"/>
              </a:defRPr>
            </a:pPr>
            <a:r>
              <a:rPr lang="en-IN" sz="1600" i="1" dirty="0">
                <a:solidFill>
                  <a:srgbClr val="333333"/>
                </a:solidFill>
                <a:latin typeface="Arial"/>
              </a:rPr>
              <a:t>Existing work has separately explored general-purpose transactional synchronization on GPUs and specialized mechanisms for dynamic graph updates. The performance and practicality of using GPU STM as the synchronization abstraction for concurrent dynamic graph updates remain insufficiently explored.</a:t>
            </a:r>
            <a:endParaRPr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228600"/>
            <a:ext cx="10881360" cy="292608"/>
          </a:xfrm>
          <a:prstGeom prst="rect">
            <a:avLst/>
          </a:prstGeom>
          <a:noFill/>
        </p:spPr>
        <p:txBody>
          <a:bodyPr wrap="square" lIns="137160" tIns="50800" rIns="137160" bIns="50800">
            <a:spAutoFit/>
          </a:bodyPr>
          <a:lstStyle/>
          <a:p>
            <a:pPr algn="l">
              <a:lnSpc>
                <a:spcPts val="1600"/>
              </a:lnSpc>
              <a:spcAft>
                <a:spcPts val="200"/>
              </a:spcAft>
              <a:defRPr sz="1200" b="0" i="0">
                <a:solidFill>
                  <a:srgbClr val="5A5A5A"/>
                </a:solidFill>
                <a:latin typeface="Arial"/>
              </a:defRPr>
            </a:pPr>
            <a:r>
              <a:t>EVALUATION  1 / 3</a:t>
            </a:r>
          </a:p>
        </p:txBody>
      </p:sp>
      <p:sp>
        <p:nvSpPr>
          <p:cNvPr id="3" name="TextBox 2"/>
          <p:cNvSpPr txBox="1"/>
          <p:nvPr/>
        </p:nvSpPr>
        <p:spPr>
          <a:xfrm>
            <a:off x="640080" y="502920"/>
            <a:ext cx="10881360" cy="594360"/>
          </a:xfrm>
          <a:prstGeom prst="rect">
            <a:avLst/>
          </a:prstGeom>
          <a:noFill/>
        </p:spPr>
        <p:txBody>
          <a:bodyPr wrap="square" lIns="137160" tIns="50800" rIns="137160" bIns="50800">
            <a:spAutoFit/>
          </a:bodyPr>
          <a:lstStyle/>
          <a:p>
            <a:pPr algn="l">
              <a:lnSpc>
                <a:spcPts val="2800"/>
              </a:lnSpc>
              <a:spcAft>
                <a:spcPts val="200"/>
              </a:spcAft>
              <a:defRPr sz="2400" b="1" i="0">
                <a:solidFill>
                  <a:srgbClr val="1F3A5F"/>
                </a:solidFill>
                <a:latin typeface="Arial"/>
              </a:defRPr>
            </a:pPr>
            <a:r>
              <a:t>Systems, Workloads &amp; Metrics</a:t>
            </a:r>
          </a:p>
        </p:txBody>
      </p:sp>
      <p:cxnSp>
        <p:nvCxnSpPr>
          <p:cNvPr id="4" name="Connector 3"/>
          <p:cNvCxnSpPr/>
          <p:nvPr/>
        </p:nvCxnSpPr>
        <p:spPr>
          <a:xfrm>
            <a:off x="640080" y="1170432"/>
            <a:ext cx="10908792"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40080" y="6419088"/>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55664"/>
            <a:ext cx="8686800" cy="256032"/>
          </a:xfrm>
          <a:prstGeom prst="rect">
            <a:avLst/>
          </a:prstGeom>
          <a:noFill/>
        </p:spPr>
        <p:txBody>
          <a:bodyPr wrap="square" lIns="137160" tIns="50800" rIns="137160" bIns="50800">
            <a:spAutoFit/>
          </a:bodyPr>
          <a:lstStyle/>
          <a:p>
            <a:pPr algn="l">
              <a:lnSpc>
                <a:spcPts val="1300"/>
              </a:lnSpc>
              <a:spcAft>
                <a:spcPts val="200"/>
              </a:spcAft>
              <a:defRPr sz="900" b="0" i="0">
                <a:solidFill>
                  <a:srgbClr val="5A5A5A"/>
                </a:solidFill>
                <a:latin typeface="Arial"/>
              </a:defRPr>
            </a:pPr>
            <a:r>
              <a:t>GPU-STM for Concurrent Dynamic Graph Updates  —  Evaluation</a:t>
            </a:r>
          </a:p>
        </p:txBody>
      </p:sp>
      <p:sp>
        <p:nvSpPr>
          <p:cNvPr id="7" name="TextBox 6"/>
          <p:cNvSpPr txBox="1"/>
          <p:nvPr/>
        </p:nvSpPr>
        <p:spPr>
          <a:xfrm>
            <a:off x="10881360" y="6455664"/>
            <a:ext cx="640080" cy="256032"/>
          </a:xfrm>
          <a:prstGeom prst="rect">
            <a:avLst/>
          </a:prstGeom>
          <a:noFill/>
        </p:spPr>
        <p:txBody>
          <a:bodyPr wrap="square" lIns="137160" tIns="50800" rIns="137160" bIns="50800">
            <a:spAutoFit/>
          </a:bodyPr>
          <a:lstStyle/>
          <a:p>
            <a:r>
              <a:t>8</a:t>
            </a:r>
          </a:p>
        </p:txBody>
      </p:sp>
      <p:sp>
        <p:nvSpPr>
          <p:cNvPr id="8" name="Rounded Rectangle 7"/>
          <p:cNvSpPr/>
          <p:nvPr/>
        </p:nvSpPr>
        <p:spPr>
          <a:xfrm>
            <a:off x="640080" y="1417320"/>
            <a:ext cx="2377440" cy="59436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FFFFFF"/>
                </a:solidFill>
                <a:latin typeface="Arial"/>
              </a:defRPr>
            </a:pPr>
            <a:r>
              <a:t>Same update stream</a:t>
            </a:r>
          </a:p>
        </p:txBody>
      </p:sp>
      <p:cxnSp>
        <p:nvCxnSpPr>
          <p:cNvPr id="9" name="Connector 8"/>
          <p:cNvCxnSpPr/>
          <p:nvPr/>
        </p:nvCxnSpPr>
        <p:spPr>
          <a:xfrm>
            <a:off x="3017520" y="1709928"/>
            <a:ext cx="320040"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37560" y="1417320"/>
            <a:ext cx="1828800" cy="59436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000000"/>
                </a:solidFill>
                <a:latin typeface="Arial"/>
              </a:defRPr>
            </a:pPr>
            <a:r>
              <a:t>Atomic / CAS</a:t>
            </a:r>
          </a:p>
        </p:txBody>
      </p:sp>
      <p:sp>
        <p:nvSpPr>
          <p:cNvPr id="11" name="Rounded Rectangle 10"/>
          <p:cNvSpPr/>
          <p:nvPr/>
        </p:nvSpPr>
        <p:spPr>
          <a:xfrm>
            <a:off x="5349240" y="1417320"/>
            <a:ext cx="2103120" cy="594360"/>
          </a:xfrm>
          <a:prstGeom prst="roundRect">
            <a:avLst/>
          </a:prstGeom>
          <a:solidFill>
            <a:srgbClr val="1F3A5F"/>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FFFFFF"/>
                </a:solidFill>
                <a:latin typeface="Arial"/>
              </a:defRPr>
            </a:pPr>
            <a:r>
              <a:t>GPU-STM  (proposed)</a:t>
            </a:r>
          </a:p>
        </p:txBody>
      </p:sp>
      <p:sp>
        <p:nvSpPr>
          <p:cNvPr id="12" name="Rounded Rectangle 11"/>
          <p:cNvSpPr/>
          <p:nvPr/>
        </p:nvSpPr>
        <p:spPr>
          <a:xfrm>
            <a:off x="7635240" y="1417320"/>
            <a:ext cx="1828800" cy="59436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000000"/>
                </a:solidFill>
                <a:latin typeface="Arial"/>
              </a:defRPr>
            </a:pPr>
            <a:r>
              <a:t>GPMA+</a:t>
            </a:r>
          </a:p>
        </p:txBody>
      </p:sp>
      <p:cxnSp>
        <p:nvCxnSpPr>
          <p:cNvPr id="13" name="Connector 12"/>
          <p:cNvCxnSpPr/>
          <p:nvPr/>
        </p:nvCxnSpPr>
        <p:spPr>
          <a:xfrm>
            <a:off x="5166360" y="1709928"/>
            <a:ext cx="182880"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52360" y="1709928"/>
            <a:ext cx="182880"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46920" y="1417320"/>
            <a:ext cx="1901952" cy="594360"/>
          </a:xfrm>
          <a:prstGeom prst="roundRect">
            <a:avLst/>
          </a:prstGeom>
          <a:solidFill>
            <a:srgbClr val="EFF2F7"/>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Compare</a:t>
            </a:r>
          </a:p>
        </p:txBody>
      </p:sp>
      <p:cxnSp>
        <p:nvCxnSpPr>
          <p:cNvPr id="16" name="Connector 15"/>
          <p:cNvCxnSpPr/>
          <p:nvPr/>
        </p:nvCxnSpPr>
        <p:spPr>
          <a:xfrm>
            <a:off x="9464040" y="1709928"/>
            <a:ext cx="182880" cy="0"/>
          </a:xfrm>
          <a:prstGeom prst="line">
            <a:avLst/>
          </a:prstGeom>
          <a:ln w="22225">
            <a:solidFill>
              <a:srgbClr val="5A5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2084831"/>
            <a:ext cx="10908792" cy="320040"/>
          </a:xfrm>
          <a:prstGeom prst="rect">
            <a:avLst/>
          </a:prstGeom>
          <a:noFill/>
        </p:spPr>
        <p:txBody>
          <a:bodyPr wrap="square" lIns="137160" tIns="50800" rIns="137160" bIns="50800">
            <a:spAutoFit/>
          </a:bodyPr>
          <a:lstStyle/>
          <a:p>
            <a:pPr algn="ctr">
              <a:lnSpc>
                <a:spcPts val="1600"/>
              </a:lnSpc>
              <a:spcAft>
                <a:spcPts val="200"/>
              </a:spcAft>
              <a:defRPr sz="1200" b="1" i="0">
                <a:solidFill>
                  <a:srgbClr val="1F3A5F"/>
                </a:solidFill>
                <a:latin typeface="Arial"/>
              </a:defRPr>
            </a:pPr>
            <a:r>
              <a:t>Atomic/CAS ↔ GPU-STM isolates the cost / benefit of the STM abstraction.</a:t>
            </a:r>
          </a:p>
        </p:txBody>
      </p:sp>
      <p:graphicFrame>
        <p:nvGraphicFramePr>
          <p:cNvPr id="18" name="Table 17"/>
          <p:cNvGraphicFramePr>
            <a:graphicFrameLocks noGrp="1"/>
          </p:cNvGraphicFramePr>
          <p:nvPr/>
        </p:nvGraphicFramePr>
        <p:xfrm>
          <a:off x="640080" y="2514600"/>
          <a:ext cx="6675120" cy="2112264"/>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algn="ctr">
                        <a:lnSpc>
                          <a:spcPts val="1600"/>
                        </a:lnSpc>
                        <a:spcAft>
                          <a:spcPts val="100"/>
                        </a:spcAft>
                        <a:defRPr sz="1200" b="1">
                          <a:solidFill>
                            <a:srgbClr val="FFFFFF"/>
                          </a:solidFill>
                          <a:latin typeface="Arial"/>
                        </a:defRPr>
                      </a:pPr>
                      <a:r>
                        <a:t>System</a:t>
                      </a:r>
                    </a:p>
                  </a:txBody>
                  <a:tcPr anchor="ctr">
                    <a:solidFill>
                      <a:srgbClr val="1F3A5F"/>
                    </a:solidFill>
                  </a:tcPr>
                </a:tc>
                <a:tc>
                  <a:txBody>
                    <a:bodyPr/>
                    <a:lstStyle/>
                    <a:p>
                      <a:pPr algn="ctr">
                        <a:lnSpc>
                          <a:spcPts val="1600"/>
                        </a:lnSpc>
                        <a:spcAft>
                          <a:spcPts val="100"/>
                        </a:spcAft>
                        <a:defRPr sz="1200" b="1">
                          <a:solidFill>
                            <a:srgbClr val="FFFFFF"/>
                          </a:solidFill>
                          <a:latin typeface="Arial"/>
                        </a:defRPr>
                      </a:pPr>
                      <a:r>
                        <a:t>Role</a:t>
                      </a:r>
                    </a:p>
                  </a:txBody>
                  <a:tcPr anchor="ctr">
                    <a:solidFill>
                      <a:srgbClr val="1F3A5F"/>
                    </a:solidFill>
                  </a:tcPr>
                </a:tc>
                <a:tc>
                  <a:txBody>
                    <a:bodyPr/>
                    <a:lstStyle/>
                    <a:p>
                      <a:pPr algn="ctr">
                        <a:lnSpc>
                          <a:spcPts val="1600"/>
                        </a:lnSpc>
                        <a:spcAft>
                          <a:spcPts val="100"/>
                        </a:spcAft>
                        <a:defRPr sz="1200" b="1">
                          <a:solidFill>
                            <a:srgbClr val="FFFFFF"/>
                          </a:solidFill>
                          <a:latin typeface="Arial"/>
                        </a:defRPr>
                      </a:pPr>
                      <a:r>
                        <a:t>Implementation</a:t>
                      </a:r>
                    </a:p>
                  </a:txBody>
                  <a:tcPr anchor="ctr">
                    <a:solidFill>
                      <a:srgbClr val="1F3A5F"/>
                    </a:solidFill>
                  </a:tcPr>
                </a:tc>
                <a:extLst>
                  <a:ext uri="{0D108BD9-81ED-4DB2-BD59-A6C34878D82A}">
                    <a16:rowId xmlns:a16="http://schemas.microsoft.com/office/drawing/2014/main" val="10000"/>
                  </a:ext>
                </a:extLst>
              </a:tr>
              <a:tr h="566928">
                <a:tc>
                  <a:txBody>
                    <a:bodyPr/>
                    <a:lstStyle/>
                    <a:p>
                      <a:pPr algn="ctr">
                        <a:lnSpc>
                          <a:spcPts val="1600"/>
                        </a:lnSpc>
                        <a:spcAft>
                          <a:spcPts val="100"/>
                        </a:spcAft>
                        <a:defRPr sz="1200" b="1">
                          <a:solidFill>
                            <a:srgbClr val="1F3A5F"/>
                          </a:solidFill>
                          <a:latin typeface="Arial"/>
                        </a:defRPr>
                      </a:pPr>
                      <a:r>
                        <a:t>Atomic/CAS</a:t>
                      </a:r>
                    </a:p>
                  </a:txBody>
                  <a:tcPr anchor="ctr">
                    <a:solidFill>
                      <a:srgbClr val="FFFFFF"/>
                    </a:solidFill>
                  </a:tcPr>
                </a:tc>
                <a:tc>
                  <a:txBody>
                    <a:bodyPr/>
                    <a:lstStyle/>
                    <a:p>
                      <a:pPr algn="l">
                        <a:lnSpc>
                          <a:spcPts val="1500"/>
                        </a:lnSpc>
                        <a:spcAft>
                          <a:spcPts val="100"/>
                        </a:spcAft>
                        <a:defRPr sz="1100" b="0">
                          <a:solidFill>
                            <a:srgbClr val="000000"/>
                          </a:solidFill>
                          <a:latin typeface="Arial"/>
                        </a:defRPr>
                      </a:pPr>
                      <a:r>
                        <a:t>Controlled baseline</a:t>
                      </a:r>
                    </a:p>
                  </a:txBody>
                  <a:tcPr anchor="ctr">
                    <a:solidFill>
                      <a:srgbClr val="FFFFFF"/>
                    </a:solidFill>
                  </a:tcPr>
                </a:tc>
                <a:tc>
                  <a:txBody>
                    <a:bodyPr/>
                    <a:lstStyle/>
                    <a:p>
                      <a:pPr algn="l">
                        <a:lnSpc>
                          <a:spcPts val="1500"/>
                        </a:lnSpc>
                        <a:spcAft>
                          <a:spcPts val="100"/>
                        </a:spcAft>
                        <a:defRPr sz="1100" b="0">
                          <a:solidFill>
                            <a:srgbClr val="000000"/>
                          </a:solidFill>
                          <a:latin typeface="Arial"/>
                        </a:defRPr>
                      </a:pPr>
                      <a:r>
                        <a:t>Same graph + logic as GPU-STM</a:t>
                      </a:r>
                    </a:p>
                  </a:txBody>
                  <a:tcPr anchor="ctr">
                    <a:solidFill>
                      <a:srgbClr val="FFFFFF"/>
                    </a:solidFill>
                  </a:tcPr>
                </a:tc>
                <a:extLst>
                  <a:ext uri="{0D108BD9-81ED-4DB2-BD59-A6C34878D82A}">
                    <a16:rowId xmlns:a16="http://schemas.microsoft.com/office/drawing/2014/main" val="10001"/>
                  </a:ext>
                </a:extLst>
              </a:tr>
              <a:tr h="566928">
                <a:tc>
                  <a:txBody>
                    <a:bodyPr/>
                    <a:lstStyle/>
                    <a:p>
                      <a:pPr algn="ctr">
                        <a:lnSpc>
                          <a:spcPts val="1600"/>
                        </a:lnSpc>
                        <a:spcAft>
                          <a:spcPts val="100"/>
                        </a:spcAft>
                        <a:defRPr sz="1200" b="1">
                          <a:solidFill>
                            <a:srgbClr val="1F3A5F"/>
                          </a:solidFill>
                          <a:latin typeface="Arial"/>
                        </a:defRPr>
                      </a:pPr>
                      <a:r>
                        <a:t>GPU-STM</a:t>
                      </a:r>
                    </a:p>
                  </a:txBody>
                  <a:tcPr anchor="ctr">
                    <a:solidFill>
                      <a:srgbClr val="EFF2F7"/>
                    </a:solidFill>
                  </a:tcPr>
                </a:tc>
                <a:tc>
                  <a:txBody>
                    <a:bodyPr/>
                    <a:lstStyle/>
                    <a:p>
                      <a:pPr algn="l">
                        <a:lnSpc>
                          <a:spcPts val="1500"/>
                        </a:lnSpc>
                        <a:spcAft>
                          <a:spcPts val="100"/>
                        </a:spcAft>
                        <a:defRPr sz="1100" b="0">
                          <a:solidFill>
                            <a:srgbClr val="000000"/>
                          </a:solidFill>
                          <a:latin typeface="Arial"/>
                        </a:defRPr>
                      </a:pPr>
                      <a:r>
                        <a:t>Proposed</a:t>
                      </a:r>
                    </a:p>
                  </a:txBody>
                  <a:tcPr anchor="ctr">
                    <a:solidFill>
                      <a:srgbClr val="EFF2F7"/>
                    </a:solidFill>
                  </a:tcPr>
                </a:tc>
                <a:tc>
                  <a:txBody>
                    <a:bodyPr/>
                    <a:lstStyle/>
                    <a:p>
                      <a:pPr algn="l">
                        <a:lnSpc>
                          <a:spcPts val="1500"/>
                        </a:lnSpc>
                        <a:spcAft>
                          <a:spcPts val="100"/>
                        </a:spcAft>
                        <a:defRPr sz="1100" b="0">
                          <a:solidFill>
                            <a:srgbClr val="000000"/>
                          </a:solidFill>
                          <a:latin typeface="Arial"/>
                        </a:defRPr>
                      </a:pPr>
                      <a:r>
                        <a:t>Transactional synchronization</a:t>
                      </a:r>
                    </a:p>
                  </a:txBody>
                  <a:tcPr anchor="ctr">
                    <a:solidFill>
                      <a:srgbClr val="EFF2F7"/>
                    </a:solidFill>
                  </a:tcPr>
                </a:tc>
                <a:extLst>
                  <a:ext uri="{0D108BD9-81ED-4DB2-BD59-A6C34878D82A}">
                    <a16:rowId xmlns:a16="http://schemas.microsoft.com/office/drawing/2014/main" val="10002"/>
                  </a:ext>
                </a:extLst>
              </a:tr>
              <a:tr h="566928">
                <a:tc>
                  <a:txBody>
                    <a:bodyPr/>
                    <a:lstStyle/>
                    <a:p>
                      <a:pPr algn="ctr">
                        <a:lnSpc>
                          <a:spcPts val="1600"/>
                        </a:lnSpc>
                        <a:spcAft>
                          <a:spcPts val="100"/>
                        </a:spcAft>
                        <a:defRPr sz="1200" b="1">
                          <a:solidFill>
                            <a:srgbClr val="1F3A5F"/>
                          </a:solidFill>
                          <a:latin typeface="Arial"/>
                        </a:defRPr>
                      </a:pPr>
                      <a:r>
                        <a:t>GPMA+</a:t>
                      </a:r>
                    </a:p>
                  </a:txBody>
                  <a:tcPr anchor="ctr">
                    <a:solidFill>
                      <a:srgbClr val="FFFFFF"/>
                    </a:solidFill>
                  </a:tcPr>
                </a:tc>
                <a:tc>
                  <a:txBody>
                    <a:bodyPr/>
                    <a:lstStyle/>
                    <a:p>
                      <a:pPr algn="l">
                        <a:lnSpc>
                          <a:spcPts val="1500"/>
                        </a:lnSpc>
                        <a:spcAft>
                          <a:spcPts val="100"/>
                        </a:spcAft>
                        <a:defRPr sz="1100" b="0">
                          <a:solidFill>
                            <a:srgbClr val="000000"/>
                          </a:solidFill>
                          <a:latin typeface="Arial"/>
                        </a:defRPr>
                      </a:pPr>
                      <a:r>
                        <a:t>Specialized baseline</a:t>
                      </a:r>
                    </a:p>
                  </a:txBody>
                  <a:tcPr anchor="ctr">
                    <a:solidFill>
                      <a:srgbClr val="FFFFFF"/>
                    </a:solidFill>
                  </a:tcPr>
                </a:tc>
                <a:tc>
                  <a:txBody>
                    <a:bodyPr/>
                    <a:lstStyle/>
                    <a:p>
                      <a:pPr algn="l">
                        <a:lnSpc>
                          <a:spcPts val="1500"/>
                        </a:lnSpc>
                        <a:spcAft>
                          <a:spcPts val="100"/>
                        </a:spcAft>
                        <a:defRPr sz="1100" b="0">
                          <a:solidFill>
                            <a:srgbClr val="000000"/>
                          </a:solidFill>
                          <a:latin typeface="Arial"/>
                        </a:defRPr>
                      </a:pPr>
                      <a:r>
                        <a:t>Existing specialized approach</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9" name="Rounded Rectangle 18"/>
          <p:cNvSpPr/>
          <p:nvPr/>
        </p:nvSpPr>
        <p:spPr>
          <a:xfrm>
            <a:off x="7589520" y="2514600"/>
            <a:ext cx="3959352" cy="210312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20" name="TextBox 19"/>
          <p:cNvSpPr txBox="1"/>
          <p:nvPr/>
        </p:nvSpPr>
        <p:spPr>
          <a:xfrm>
            <a:off x="7818120" y="2606040"/>
            <a:ext cx="3566160" cy="320040"/>
          </a:xfrm>
          <a:prstGeom prst="rect">
            <a:avLst/>
          </a:prstGeom>
          <a:noFill/>
        </p:spPr>
        <p:txBody>
          <a:bodyPr wrap="square" lIns="137160" tIns="50800" rIns="137160" bIns="50800">
            <a:spAutoFit/>
          </a:bodyPr>
          <a:lstStyle/>
          <a:p>
            <a:pPr algn="l">
              <a:lnSpc>
                <a:spcPts val="1700"/>
              </a:lnSpc>
              <a:spcAft>
                <a:spcPts val="200"/>
              </a:spcAft>
              <a:defRPr sz="1300" b="1" i="0">
                <a:solidFill>
                  <a:srgbClr val="1F3A5F"/>
                </a:solidFill>
                <a:latin typeface="Arial"/>
              </a:defRPr>
            </a:pPr>
            <a:r>
              <a:t>Workloads &amp; Metrics</a:t>
            </a:r>
          </a:p>
        </p:txBody>
      </p:sp>
      <p:sp>
        <p:nvSpPr>
          <p:cNvPr id="21" name="TextBox 20"/>
          <p:cNvSpPr txBox="1"/>
          <p:nvPr/>
        </p:nvSpPr>
        <p:spPr>
          <a:xfrm>
            <a:off x="7818120" y="2971800"/>
            <a:ext cx="3566160" cy="1600200"/>
          </a:xfrm>
          <a:prstGeom prst="rect">
            <a:avLst/>
          </a:prstGeom>
          <a:noFill/>
        </p:spPr>
        <p:txBody>
          <a:bodyPr wrap="square" lIns="137160" rIns="137160">
            <a:spAutoFit/>
          </a:bodyPr>
          <a:lstStyle/>
          <a:p>
            <a:pPr algn="l">
              <a:lnSpc>
                <a:spcPts val="1650"/>
              </a:lnSpc>
              <a:spcBef>
                <a:spcPts val="0"/>
              </a:spcBef>
              <a:spcAft>
                <a:spcPts val="400"/>
              </a:spcAft>
            </a:pPr>
            <a:r>
              <a:rPr sz="1150" b="1">
                <a:solidFill>
                  <a:srgbClr val="000000"/>
                </a:solidFill>
                <a:latin typeface="Arial"/>
              </a:rPr>
              <a:t>•  Insert / Delete / Mixed</a:t>
            </a:r>
          </a:p>
          <a:p>
            <a:pPr algn="l">
              <a:lnSpc>
                <a:spcPts val="1650"/>
              </a:lnSpc>
              <a:spcBef>
                <a:spcPts val="0"/>
              </a:spcBef>
              <a:spcAft>
                <a:spcPts val="400"/>
              </a:spcAft>
            </a:pPr>
            <a:r>
              <a:rPr sz="1150" b="1">
                <a:solidFill>
                  <a:srgbClr val="000000"/>
                </a:solidFill>
                <a:latin typeface="Arial"/>
              </a:rPr>
              <a:t>•  Random  /  Power-law</a:t>
            </a:r>
          </a:p>
          <a:p>
            <a:pPr algn="l">
              <a:lnSpc>
                <a:spcPts val="1650"/>
              </a:lnSpc>
              <a:spcBef>
                <a:spcPts val="0"/>
              </a:spcBef>
              <a:spcAft>
                <a:spcPts val="400"/>
              </a:spcAft>
            </a:pPr>
            <a:r>
              <a:rPr sz="1150" b="1">
                <a:solidFill>
                  <a:srgbClr val="000000"/>
                </a:solidFill>
                <a:latin typeface="Arial"/>
              </a:rPr>
              <a:t>•  Low / Medium / High contention</a:t>
            </a:r>
          </a:p>
          <a:p>
            <a:pPr algn="l">
              <a:lnSpc>
                <a:spcPts val="1650"/>
              </a:lnSpc>
              <a:spcBef>
                <a:spcPts val="0"/>
              </a:spcBef>
              <a:spcAft>
                <a:spcPts val="400"/>
              </a:spcAft>
            </a:pPr>
            <a:r>
              <a:rPr sz="1150" b="1">
                <a:solidFill>
                  <a:srgbClr val="000000"/>
                </a:solidFill>
                <a:latin typeface="Arial"/>
              </a:rPr>
              <a:t>•  Throughput  +  Abort rate  +  Correctness</a:t>
            </a:r>
          </a:p>
        </p:txBody>
      </p:sp>
      <p:sp>
        <p:nvSpPr>
          <p:cNvPr id="22" name="Rounded Rectangle 21"/>
          <p:cNvSpPr/>
          <p:nvPr/>
        </p:nvSpPr>
        <p:spPr>
          <a:xfrm>
            <a:off x="640080" y="4892040"/>
            <a:ext cx="10908792" cy="1234440"/>
          </a:xfrm>
          <a:prstGeom prst="roundRect">
            <a:avLst/>
          </a:prstGeom>
          <a:solidFill>
            <a:srgbClr val="EF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23" name="TextBox 22"/>
          <p:cNvSpPr txBox="1"/>
          <p:nvPr/>
        </p:nvSpPr>
        <p:spPr>
          <a:xfrm>
            <a:off x="868680" y="4983480"/>
            <a:ext cx="10424160" cy="320040"/>
          </a:xfrm>
          <a:prstGeom prst="rect">
            <a:avLst/>
          </a:prstGeom>
          <a:noFill/>
        </p:spPr>
        <p:txBody>
          <a:bodyPr wrap="square" lIns="137160" tIns="50800" rIns="137160" bIns="50800">
            <a:spAutoFit/>
          </a:bodyPr>
          <a:lstStyle/>
          <a:p>
            <a:pPr algn="ctr">
              <a:lnSpc>
                <a:spcPts val="1600"/>
              </a:lnSpc>
              <a:spcAft>
                <a:spcPts val="200"/>
              </a:spcAft>
              <a:defRPr sz="1200" b="1" i="0">
                <a:solidFill>
                  <a:srgbClr val="1F3A5F"/>
                </a:solidFill>
                <a:latin typeface="Arial"/>
              </a:defRPr>
            </a:pPr>
            <a:r>
              <a:t>Correctness vs. sequential reference  —  no lost updates  ·  no duplicates  ·  correct multi-object updates</a:t>
            </a:r>
          </a:p>
        </p:txBody>
      </p:sp>
      <p:sp>
        <p:nvSpPr>
          <p:cNvPr id="24" name="TextBox 23"/>
          <p:cNvSpPr txBox="1"/>
          <p:nvPr/>
        </p:nvSpPr>
        <p:spPr>
          <a:xfrm>
            <a:off x="868680" y="5440680"/>
            <a:ext cx="10424160" cy="502920"/>
          </a:xfrm>
          <a:prstGeom prst="rect">
            <a:avLst/>
          </a:prstGeom>
          <a:noFill/>
        </p:spPr>
        <p:txBody>
          <a:bodyPr wrap="square" lIns="137160" tIns="50800" rIns="137160" bIns="50800">
            <a:spAutoFit/>
          </a:bodyPr>
          <a:lstStyle/>
          <a:p>
            <a:pPr algn="ctr">
              <a:lnSpc>
                <a:spcPts val="1500"/>
              </a:lnSpc>
              <a:spcAft>
                <a:spcPts val="200"/>
              </a:spcAft>
              <a:defRPr sz="1100" b="0" i="1">
                <a:solidFill>
                  <a:srgbClr val="333333"/>
                </a:solidFill>
                <a:latin typeface="Arial"/>
              </a:defRPr>
            </a:pPr>
            <a:r>
              <a:t>Sequential reference  →  Expected graph  ↔  GPU result  ···  to be measured, no invented numbers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228600"/>
            <a:ext cx="10881360" cy="292608"/>
          </a:xfrm>
          <a:prstGeom prst="rect">
            <a:avLst/>
          </a:prstGeom>
          <a:noFill/>
        </p:spPr>
        <p:txBody>
          <a:bodyPr wrap="square" lIns="137160" tIns="50800" rIns="137160" bIns="50800">
            <a:spAutoFit/>
          </a:bodyPr>
          <a:lstStyle/>
          <a:p>
            <a:pPr algn="l">
              <a:lnSpc>
                <a:spcPts val="1600"/>
              </a:lnSpc>
              <a:spcAft>
                <a:spcPts val="200"/>
              </a:spcAft>
              <a:defRPr sz="1200" b="0" i="0">
                <a:solidFill>
                  <a:srgbClr val="5A5A5A"/>
                </a:solidFill>
                <a:latin typeface="Arial"/>
              </a:defRPr>
            </a:pPr>
            <a:r>
              <a:t>EVALUATION  2 / 3</a:t>
            </a:r>
          </a:p>
        </p:txBody>
      </p:sp>
      <p:sp>
        <p:nvSpPr>
          <p:cNvPr id="3" name="TextBox 2"/>
          <p:cNvSpPr txBox="1"/>
          <p:nvPr/>
        </p:nvSpPr>
        <p:spPr>
          <a:xfrm>
            <a:off x="640080" y="502920"/>
            <a:ext cx="10881360" cy="594360"/>
          </a:xfrm>
          <a:prstGeom prst="rect">
            <a:avLst/>
          </a:prstGeom>
          <a:noFill/>
        </p:spPr>
        <p:txBody>
          <a:bodyPr wrap="square" lIns="137160" tIns="50800" rIns="137160" bIns="50800">
            <a:spAutoFit/>
          </a:bodyPr>
          <a:lstStyle/>
          <a:p>
            <a:pPr algn="l">
              <a:lnSpc>
                <a:spcPts val="2800"/>
              </a:lnSpc>
              <a:spcAft>
                <a:spcPts val="200"/>
              </a:spcAft>
              <a:defRPr sz="2400" b="1" i="0">
                <a:solidFill>
                  <a:srgbClr val="1F3A5F"/>
                </a:solidFill>
                <a:latin typeface="Arial"/>
              </a:defRPr>
            </a:pPr>
            <a:r>
              <a:t>Performance Under Increasing Contention</a:t>
            </a:r>
          </a:p>
        </p:txBody>
      </p:sp>
      <p:cxnSp>
        <p:nvCxnSpPr>
          <p:cNvPr id="4" name="Connector 3"/>
          <p:cNvCxnSpPr/>
          <p:nvPr/>
        </p:nvCxnSpPr>
        <p:spPr>
          <a:xfrm>
            <a:off x="640080" y="1170432"/>
            <a:ext cx="10908792"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40080" y="6419088"/>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55664"/>
            <a:ext cx="8686800" cy="256032"/>
          </a:xfrm>
          <a:prstGeom prst="rect">
            <a:avLst/>
          </a:prstGeom>
          <a:noFill/>
        </p:spPr>
        <p:txBody>
          <a:bodyPr wrap="square" lIns="137160" tIns="50800" rIns="137160" bIns="50800">
            <a:spAutoFit/>
          </a:bodyPr>
          <a:lstStyle/>
          <a:p>
            <a:pPr algn="l">
              <a:lnSpc>
                <a:spcPts val="1300"/>
              </a:lnSpc>
              <a:spcAft>
                <a:spcPts val="200"/>
              </a:spcAft>
              <a:defRPr sz="900" b="0" i="0">
                <a:solidFill>
                  <a:srgbClr val="5A5A5A"/>
                </a:solidFill>
                <a:latin typeface="Arial"/>
              </a:defRPr>
            </a:pPr>
            <a:r>
              <a:t>GPU-STM for Concurrent Dynamic Graph Updates  —  Evaluation</a:t>
            </a:r>
          </a:p>
        </p:txBody>
      </p:sp>
      <p:sp>
        <p:nvSpPr>
          <p:cNvPr id="7" name="TextBox 6"/>
          <p:cNvSpPr txBox="1"/>
          <p:nvPr/>
        </p:nvSpPr>
        <p:spPr>
          <a:xfrm>
            <a:off x="10881360" y="6455664"/>
            <a:ext cx="640080" cy="256032"/>
          </a:xfrm>
          <a:prstGeom prst="rect">
            <a:avLst/>
          </a:prstGeom>
          <a:noFill/>
        </p:spPr>
        <p:txBody>
          <a:bodyPr wrap="square" lIns="137160" tIns="50800" rIns="137160" bIns="50800">
            <a:spAutoFit/>
          </a:bodyPr>
          <a:lstStyle/>
          <a:p>
            <a:r>
              <a:t>9</a:t>
            </a:r>
          </a:p>
        </p:txBody>
      </p:sp>
      <p:sp>
        <p:nvSpPr>
          <p:cNvPr id="8" name="Rounded Rectangle 7"/>
          <p:cNvSpPr/>
          <p:nvPr/>
        </p:nvSpPr>
        <p:spPr>
          <a:xfrm>
            <a:off x="640080" y="1417320"/>
            <a:ext cx="5212080" cy="452628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9" name="TextBox 8"/>
          <p:cNvSpPr txBox="1"/>
          <p:nvPr/>
        </p:nvSpPr>
        <p:spPr>
          <a:xfrm>
            <a:off x="868680" y="1536192"/>
            <a:ext cx="4754880" cy="316562"/>
          </a:xfrm>
          <a:prstGeom prst="rect">
            <a:avLst/>
          </a:prstGeom>
          <a:noFill/>
        </p:spPr>
        <p:txBody>
          <a:bodyPr wrap="square" lIns="137160" tIns="50800" rIns="137160" bIns="50800">
            <a:spAutoFit/>
          </a:bodyPr>
          <a:lstStyle/>
          <a:p>
            <a:pPr algn="l">
              <a:lnSpc>
                <a:spcPts val="1800"/>
              </a:lnSpc>
              <a:spcAft>
                <a:spcPts val="200"/>
              </a:spcAft>
              <a:defRPr sz="1400" b="1" i="0">
                <a:solidFill>
                  <a:srgbClr val="000000"/>
                </a:solidFill>
                <a:latin typeface="Arial"/>
              </a:defRPr>
            </a:pPr>
            <a:r>
              <a:rPr dirty="0"/>
              <a:t>Experiment 1  </a:t>
            </a:r>
            <a:r>
              <a:rPr lang="en-IN" dirty="0"/>
              <a:t>-</a:t>
            </a:r>
            <a:r>
              <a:rPr dirty="0"/>
              <a:t>  Basic performance</a:t>
            </a:r>
          </a:p>
        </p:txBody>
      </p:sp>
      <p:sp>
        <p:nvSpPr>
          <p:cNvPr id="10" name="TextBox 9"/>
          <p:cNvSpPr txBox="1"/>
          <p:nvPr/>
        </p:nvSpPr>
        <p:spPr>
          <a:xfrm>
            <a:off x="868680" y="1993392"/>
            <a:ext cx="4754880" cy="1371600"/>
          </a:xfrm>
          <a:prstGeom prst="rect">
            <a:avLst/>
          </a:prstGeom>
          <a:noFill/>
        </p:spPr>
        <p:txBody>
          <a:bodyPr wrap="square" lIns="137160" rIns="137160">
            <a:spAutoFit/>
          </a:bodyPr>
          <a:lstStyle/>
          <a:p>
            <a:pPr algn="l">
              <a:lnSpc>
                <a:spcPts val="1700"/>
              </a:lnSpc>
              <a:spcBef>
                <a:spcPts val="0"/>
              </a:spcBef>
              <a:spcAft>
                <a:spcPts val="400"/>
              </a:spcAft>
            </a:pPr>
            <a:r>
              <a:rPr sz="1200">
                <a:solidFill>
                  <a:srgbClr val="000000"/>
                </a:solidFill>
                <a:latin typeface="Arial"/>
              </a:rPr>
              <a:t>•  Edge insertion  /  deletion  /  mixed</a:t>
            </a:r>
          </a:p>
          <a:p>
            <a:pPr algn="l">
              <a:lnSpc>
                <a:spcPts val="1700"/>
              </a:lnSpc>
              <a:spcBef>
                <a:spcPts val="0"/>
              </a:spcBef>
              <a:spcAft>
                <a:spcPts val="400"/>
              </a:spcAft>
            </a:pPr>
            <a:r>
              <a:rPr sz="1200">
                <a:solidFill>
                  <a:srgbClr val="000000"/>
                </a:solidFill>
                <a:latin typeface="Arial"/>
              </a:rPr>
              <a:t>•  Throughput  +  execution time</a:t>
            </a:r>
          </a:p>
          <a:p>
            <a:pPr algn="l">
              <a:lnSpc>
                <a:spcPts val="1700"/>
              </a:lnSpc>
              <a:spcBef>
                <a:spcPts val="0"/>
              </a:spcBef>
              <a:spcAft>
                <a:spcPts val="400"/>
              </a:spcAft>
            </a:pPr>
            <a:r>
              <a:rPr sz="1200">
                <a:solidFill>
                  <a:srgbClr val="000000"/>
                </a:solidFill>
                <a:latin typeface="Arial"/>
              </a:rPr>
              <a:t>•  Same stream on Atomic, GPU-STM, GPMA+</a:t>
            </a:r>
          </a:p>
        </p:txBody>
      </p:sp>
      <p:sp>
        <p:nvSpPr>
          <p:cNvPr id="11" name="Rounded Rectangle 10"/>
          <p:cNvSpPr/>
          <p:nvPr/>
        </p:nvSpPr>
        <p:spPr>
          <a:xfrm>
            <a:off x="868680" y="3429000"/>
            <a:ext cx="4754880" cy="960120"/>
          </a:xfrm>
          <a:prstGeom prst="roundRect">
            <a:avLst/>
          </a:prstGeom>
          <a:solidFill>
            <a:srgbClr val="EFF2F7"/>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RQ1: What overhead does GPU-STM add over atomic/CAS?</a:t>
            </a:r>
          </a:p>
        </p:txBody>
      </p:sp>
      <p:sp>
        <p:nvSpPr>
          <p:cNvPr id="12" name="TextBox 11"/>
          <p:cNvSpPr txBox="1"/>
          <p:nvPr/>
        </p:nvSpPr>
        <p:spPr>
          <a:xfrm>
            <a:off x="868680" y="4572000"/>
            <a:ext cx="4754880" cy="640080"/>
          </a:xfrm>
          <a:prstGeom prst="rect">
            <a:avLst/>
          </a:prstGeom>
          <a:noFill/>
        </p:spPr>
        <p:txBody>
          <a:bodyPr wrap="square" lIns="137160" tIns="50800" rIns="137160" bIns="50800">
            <a:spAutoFit/>
          </a:bodyPr>
          <a:lstStyle/>
          <a:p>
            <a:pPr algn="l">
              <a:lnSpc>
                <a:spcPts val="1500"/>
              </a:lnSpc>
              <a:spcAft>
                <a:spcPts val="200"/>
              </a:spcAft>
              <a:defRPr sz="1100" b="0" i="1">
                <a:solidFill>
                  <a:srgbClr val="5A5A5A"/>
                </a:solidFill>
                <a:latin typeface="Arial"/>
              </a:defRPr>
            </a:pPr>
            <a:r>
              <a:t>Planned result: to be measured.</a:t>
            </a:r>
          </a:p>
        </p:txBody>
      </p:sp>
      <p:sp>
        <p:nvSpPr>
          <p:cNvPr id="13" name="TextBox 12"/>
          <p:cNvSpPr txBox="1"/>
          <p:nvPr/>
        </p:nvSpPr>
        <p:spPr>
          <a:xfrm>
            <a:off x="868680" y="5074920"/>
            <a:ext cx="4754880" cy="548640"/>
          </a:xfrm>
          <a:prstGeom prst="rect">
            <a:avLst/>
          </a:prstGeom>
          <a:noFill/>
        </p:spPr>
        <p:txBody>
          <a:bodyPr wrap="square" lIns="137160" tIns="50800" rIns="137160" bIns="50800">
            <a:spAutoFit/>
          </a:bodyPr>
          <a:lstStyle/>
          <a:p>
            <a:pPr algn="l">
              <a:lnSpc>
                <a:spcPts val="1500"/>
              </a:lnSpc>
              <a:spcAft>
                <a:spcPts val="200"/>
              </a:spcAft>
              <a:defRPr sz="1100" b="0" i="0">
                <a:solidFill>
                  <a:srgbClr val="333333"/>
                </a:solidFill>
                <a:latin typeface="Arial"/>
              </a:defRPr>
            </a:pPr>
            <a:r>
              <a:t>Manual: fast (?) but complex  vs.  STM: simpler, perf. ?</a:t>
            </a:r>
          </a:p>
        </p:txBody>
      </p:sp>
      <p:sp>
        <p:nvSpPr>
          <p:cNvPr id="14" name="Rounded Rectangle 13"/>
          <p:cNvSpPr/>
          <p:nvPr/>
        </p:nvSpPr>
        <p:spPr>
          <a:xfrm>
            <a:off x="6309360" y="1417320"/>
            <a:ext cx="5239512" cy="4526280"/>
          </a:xfrm>
          <a:prstGeom prst="roundRect">
            <a:avLst/>
          </a:prstGeom>
          <a:solidFill>
            <a:srgbClr val="FFFBEB"/>
          </a:solidFill>
          <a:ln w="22225">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15" name="TextBox 14"/>
          <p:cNvSpPr txBox="1"/>
          <p:nvPr/>
        </p:nvSpPr>
        <p:spPr>
          <a:xfrm>
            <a:off x="6537960" y="1536192"/>
            <a:ext cx="4754880" cy="316562"/>
          </a:xfrm>
          <a:prstGeom prst="rect">
            <a:avLst/>
          </a:prstGeom>
          <a:noFill/>
        </p:spPr>
        <p:txBody>
          <a:bodyPr wrap="square" lIns="137160" tIns="50800" rIns="137160" bIns="50800">
            <a:spAutoFit/>
          </a:bodyPr>
          <a:lstStyle/>
          <a:p>
            <a:pPr algn="l">
              <a:lnSpc>
                <a:spcPts val="1800"/>
              </a:lnSpc>
              <a:spcAft>
                <a:spcPts val="200"/>
              </a:spcAft>
              <a:defRPr sz="1400" b="1" i="0">
                <a:solidFill>
                  <a:srgbClr val="1F3A5F"/>
                </a:solidFill>
                <a:latin typeface="Arial"/>
              </a:defRPr>
            </a:pPr>
            <a:r>
              <a:rPr dirty="0"/>
              <a:t>Experiment 2  </a:t>
            </a:r>
            <a:r>
              <a:rPr lang="en-IN" dirty="0"/>
              <a:t>-</a:t>
            </a:r>
            <a:r>
              <a:rPr dirty="0"/>
              <a:t>  Contention (focal)</a:t>
            </a:r>
          </a:p>
        </p:txBody>
      </p:sp>
      <p:sp>
        <p:nvSpPr>
          <p:cNvPr id="16" name="Rounded Rectangle 15"/>
          <p:cNvSpPr/>
          <p:nvPr/>
        </p:nvSpPr>
        <p:spPr>
          <a:xfrm>
            <a:off x="6537960" y="2011680"/>
            <a:ext cx="1417320" cy="54864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LOW</a:t>
            </a:r>
          </a:p>
        </p:txBody>
      </p:sp>
      <p:sp>
        <p:nvSpPr>
          <p:cNvPr id="17" name="Rounded Rectangle 16"/>
          <p:cNvSpPr/>
          <p:nvPr/>
        </p:nvSpPr>
        <p:spPr>
          <a:xfrm>
            <a:off x="8138160" y="2011680"/>
            <a:ext cx="1417320" cy="54864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MEDIUM</a:t>
            </a:r>
          </a:p>
        </p:txBody>
      </p:sp>
      <p:sp>
        <p:nvSpPr>
          <p:cNvPr id="18" name="Rounded Rectangle 17"/>
          <p:cNvSpPr/>
          <p:nvPr/>
        </p:nvSpPr>
        <p:spPr>
          <a:xfrm>
            <a:off x="9738360" y="2011680"/>
            <a:ext cx="1417320" cy="54864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FFFFFF"/>
                </a:solidFill>
                <a:latin typeface="Arial"/>
              </a:defRPr>
            </a:pPr>
            <a:r>
              <a:t>HIGH</a:t>
            </a:r>
          </a:p>
        </p:txBody>
      </p:sp>
      <p:sp>
        <p:nvSpPr>
          <p:cNvPr id="19" name="TextBox 18"/>
          <p:cNvSpPr txBox="1"/>
          <p:nvPr/>
        </p:nvSpPr>
        <p:spPr>
          <a:xfrm>
            <a:off x="6537960" y="2633472"/>
            <a:ext cx="1417320" cy="502920"/>
          </a:xfrm>
          <a:prstGeom prst="rect">
            <a:avLst/>
          </a:prstGeom>
          <a:noFill/>
        </p:spPr>
        <p:txBody>
          <a:bodyPr wrap="square" lIns="137160" tIns="50800" rIns="137160" bIns="50800">
            <a:spAutoFit/>
          </a:bodyPr>
          <a:lstStyle/>
          <a:p>
            <a:pPr algn="ctr">
              <a:lnSpc>
                <a:spcPts val="1450"/>
              </a:lnSpc>
              <a:spcAft>
                <a:spcPts val="200"/>
              </a:spcAft>
              <a:defRPr sz="1050" b="0" i="0">
                <a:solidFill>
                  <a:srgbClr val="5A5A5A"/>
                </a:solidFill>
                <a:latin typeface="Arial"/>
              </a:defRPr>
            </a:pPr>
            <a:r>
              <a:t>unrelated regions</a:t>
            </a:r>
          </a:p>
        </p:txBody>
      </p:sp>
      <p:sp>
        <p:nvSpPr>
          <p:cNvPr id="20" name="TextBox 19"/>
          <p:cNvSpPr txBox="1"/>
          <p:nvPr/>
        </p:nvSpPr>
        <p:spPr>
          <a:xfrm>
            <a:off x="8138160" y="2633472"/>
            <a:ext cx="1417320" cy="502920"/>
          </a:xfrm>
          <a:prstGeom prst="rect">
            <a:avLst/>
          </a:prstGeom>
          <a:noFill/>
        </p:spPr>
        <p:txBody>
          <a:bodyPr wrap="square" lIns="137160" tIns="50800" rIns="137160" bIns="50800">
            <a:spAutoFit/>
          </a:bodyPr>
          <a:lstStyle/>
          <a:p>
            <a:pPr algn="ctr">
              <a:lnSpc>
                <a:spcPts val="1450"/>
              </a:lnSpc>
              <a:spcAft>
                <a:spcPts val="200"/>
              </a:spcAft>
              <a:defRPr sz="1050" b="0" i="0">
                <a:solidFill>
                  <a:srgbClr val="5A5A5A"/>
                </a:solidFill>
                <a:latin typeface="Arial"/>
              </a:defRPr>
            </a:pPr>
            <a:r>
              <a:t>some shared vertices</a:t>
            </a:r>
          </a:p>
        </p:txBody>
      </p:sp>
      <p:sp>
        <p:nvSpPr>
          <p:cNvPr id="21" name="TextBox 20"/>
          <p:cNvSpPr txBox="1"/>
          <p:nvPr/>
        </p:nvSpPr>
        <p:spPr>
          <a:xfrm>
            <a:off x="9738360" y="2633472"/>
            <a:ext cx="1417320" cy="502920"/>
          </a:xfrm>
          <a:prstGeom prst="rect">
            <a:avLst/>
          </a:prstGeom>
          <a:noFill/>
        </p:spPr>
        <p:txBody>
          <a:bodyPr wrap="square" lIns="137160" tIns="50800" rIns="137160" bIns="50800">
            <a:spAutoFit/>
          </a:bodyPr>
          <a:lstStyle/>
          <a:p>
            <a:pPr algn="ctr">
              <a:lnSpc>
                <a:spcPts val="1450"/>
              </a:lnSpc>
              <a:spcAft>
                <a:spcPts val="200"/>
              </a:spcAft>
              <a:defRPr sz="1050" b="1" i="0">
                <a:solidFill>
                  <a:srgbClr val="1F3A5F"/>
                </a:solidFill>
                <a:latin typeface="Arial"/>
              </a:defRPr>
            </a:pPr>
            <a:r>
              <a:t>hot high-degree vertices</a:t>
            </a:r>
          </a:p>
        </p:txBody>
      </p:sp>
      <p:sp>
        <p:nvSpPr>
          <p:cNvPr id="22" name="Rounded Rectangle 21"/>
          <p:cNvSpPr/>
          <p:nvPr/>
        </p:nvSpPr>
        <p:spPr>
          <a:xfrm>
            <a:off x="6537960" y="3291840"/>
            <a:ext cx="4782312" cy="59436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FFFFFF"/>
                </a:solidFill>
                <a:latin typeface="Arial"/>
              </a:defRPr>
            </a:pPr>
            <a:r>
              <a:t>Contention ↑  →  Conflicts ↑  →  Abort ↑  →  Throughput ?</a:t>
            </a:r>
          </a:p>
        </p:txBody>
      </p:sp>
      <p:sp>
        <p:nvSpPr>
          <p:cNvPr id="23" name="TextBox 22"/>
          <p:cNvSpPr txBox="1"/>
          <p:nvPr/>
        </p:nvSpPr>
        <p:spPr>
          <a:xfrm>
            <a:off x="6537960" y="3977639"/>
            <a:ext cx="4782312" cy="822960"/>
          </a:xfrm>
          <a:prstGeom prst="rect">
            <a:avLst/>
          </a:prstGeom>
          <a:noFill/>
        </p:spPr>
        <p:txBody>
          <a:bodyPr wrap="square" lIns="137160" rIns="137160">
            <a:spAutoFit/>
          </a:bodyPr>
          <a:lstStyle/>
          <a:p>
            <a:pPr algn="l">
              <a:lnSpc>
                <a:spcPts val="1650"/>
              </a:lnSpc>
              <a:spcBef>
                <a:spcPts val="0"/>
              </a:spcBef>
              <a:spcAft>
                <a:spcPts val="400"/>
              </a:spcAft>
            </a:pPr>
            <a:r>
              <a:rPr sz="1150">
                <a:solidFill>
                  <a:srgbClr val="000000"/>
                </a:solidFill>
                <a:latin typeface="Arial"/>
              </a:rPr>
              <a:t>•  Random + Power-law  →  Low / Med / High</a:t>
            </a:r>
          </a:p>
          <a:p>
            <a:pPr algn="l">
              <a:lnSpc>
                <a:spcPts val="1650"/>
              </a:lnSpc>
              <a:spcBef>
                <a:spcPts val="0"/>
              </a:spcBef>
              <a:spcAft>
                <a:spcPts val="400"/>
              </a:spcAft>
            </a:pPr>
            <a:r>
              <a:rPr sz="1150">
                <a:solidFill>
                  <a:srgbClr val="000000"/>
                </a:solidFill>
                <a:latin typeface="Arial"/>
              </a:rPr>
              <a:t>•  Throughput, abort rate, retry count</a:t>
            </a:r>
          </a:p>
        </p:txBody>
      </p:sp>
      <p:sp>
        <p:nvSpPr>
          <p:cNvPr id="24" name="Rounded Rectangle 23"/>
          <p:cNvSpPr/>
          <p:nvPr/>
        </p:nvSpPr>
        <p:spPr>
          <a:xfrm>
            <a:off x="6537960" y="4846320"/>
            <a:ext cx="4782312" cy="86868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RQ2: Where does GPU-STM stop being competitive, and why?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228600"/>
            <a:ext cx="10881360" cy="292608"/>
          </a:xfrm>
          <a:prstGeom prst="rect">
            <a:avLst/>
          </a:prstGeom>
          <a:noFill/>
        </p:spPr>
        <p:txBody>
          <a:bodyPr wrap="square" lIns="137160" tIns="50800" rIns="137160" bIns="50800">
            <a:spAutoFit/>
          </a:bodyPr>
          <a:lstStyle/>
          <a:p>
            <a:pPr algn="l">
              <a:lnSpc>
                <a:spcPts val="1600"/>
              </a:lnSpc>
              <a:spcAft>
                <a:spcPts val="200"/>
              </a:spcAft>
              <a:defRPr sz="1200" b="0" i="0">
                <a:solidFill>
                  <a:srgbClr val="5A5A5A"/>
                </a:solidFill>
                <a:latin typeface="Arial"/>
              </a:defRPr>
            </a:pPr>
            <a:r>
              <a:t>EVALUATION  3 / 3</a:t>
            </a:r>
          </a:p>
        </p:txBody>
      </p:sp>
      <p:sp>
        <p:nvSpPr>
          <p:cNvPr id="3" name="TextBox 2"/>
          <p:cNvSpPr txBox="1"/>
          <p:nvPr/>
        </p:nvSpPr>
        <p:spPr>
          <a:xfrm>
            <a:off x="640080" y="502920"/>
            <a:ext cx="10881360" cy="594360"/>
          </a:xfrm>
          <a:prstGeom prst="rect">
            <a:avLst/>
          </a:prstGeom>
          <a:noFill/>
        </p:spPr>
        <p:txBody>
          <a:bodyPr wrap="square" lIns="137160" tIns="50800" rIns="137160" bIns="50800">
            <a:spAutoFit/>
          </a:bodyPr>
          <a:lstStyle/>
          <a:p>
            <a:pPr algn="l">
              <a:lnSpc>
                <a:spcPts val="2800"/>
              </a:lnSpc>
              <a:spcAft>
                <a:spcPts val="200"/>
              </a:spcAft>
              <a:defRPr sz="2400" b="1" i="0">
                <a:solidFill>
                  <a:srgbClr val="1F3A5F"/>
                </a:solidFill>
                <a:latin typeface="Arial"/>
              </a:defRPr>
            </a:pPr>
            <a:r>
              <a:t>Does the Abstraction Actually Help?</a:t>
            </a:r>
          </a:p>
        </p:txBody>
      </p:sp>
      <p:cxnSp>
        <p:nvCxnSpPr>
          <p:cNvPr id="4" name="Connector 3"/>
          <p:cNvCxnSpPr/>
          <p:nvPr/>
        </p:nvCxnSpPr>
        <p:spPr>
          <a:xfrm>
            <a:off x="640080" y="1170432"/>
            <a:ext cx="10908792" cy="0"/>
          </a:xfrm>
          <a:prstGeom prst="line">
            <a:avLst/>
          </a:prstGeom>
          <a:ln w="22225">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40080" y="6419088"/>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55664"/>
            <a:ext cx="8686800" cy="256032"/>
          </a:xfrm>
          <a:prstGeom prst="rect">
            <a:avLst/>
          </a:prstGeom>
          <a:noFill/>
        </p:spPr>
        <p:txBody>
          <a:bodyPr wrap="square" lIns="137160" tIns="50800" rIns="137160" bIns="50800">
            <a:spAutoFit/>
          </a:bodyPr>
          <a:lstStyle/>
          <a:p>
            <a:pPr algn="l">
              <a:lnSpc>
                <a:spcPts val="1300"/>
              </a:lnSpc>
              <a:spcAft>
                <a:spcPts val="200"/>
              </a:spcAft>
              <a:defRPr sz="900" b="0" i="0">
                <a:solidFill>
                  <a:srgbClr val="5A5A5A"/>
                </a:solidFill>
                <a:latin typeface="Arial"/>
              </a:defRPr>
            </a:pPr>
            <a:r>
              <a:t>GPU-STM for Concurrent Dynamic Graph Updates  —  Evaluation</a:t>
            </a:r>
          </a:p>
        </p:txBody>
      </p:sp>
      <p:sp>
        <p:nvSpPr>
          <p:cNvPr id="7" name="TextBox 6"/>
          <p:cNvSpPr txBox="1"/>
          <p:nvPr/>
        </p:nvSpPr>
        <p:spPr>
          <a:xfrm>
            <a:off x="10881360" y="6455664"/>
            <a:ext cx="640080" cy="256032"/>
          </a:xfrm>
          <a:prstGeom prst="rect">
            <a:avLst/>
          </a:prstGeom>
          <a:noFill/>
        </p:spPr>
        <p:txBody>
          <a:bodyPr wrap="square" lIns="137160" tIns="50800" rIns="137160" bIns="50800">
            <a:spAutoFit/>
          </a:bodyPr>
          <a:lstStyle/>
          <a:p>
            <a:r>
              <a:t>10</a:t>
            </a:r>
          </a:p>
        </p:txBody>
      </p:sp>
      <p:sp>
        <p:nvSpPr>
          <p:cNvPr id="8" name="Rounded Rectangle 7"/>
          <p:cNvSpPr/>
          <p:nvPr/>
        </p:nvSpPr>
        <p:spPr>
          <a:xfrm>
            <a:off x="640080" y="1417320"/>
            <a:ext cx="2926080" cy="77724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700"/>
              </a:lnSpc>
              <a:defRPr sz="1300" b="1">
                <a:solidFill>
                  <a:srgbClr val="1F3A5F"/>
                </a:solidFill>
                <a:latin typeface="Arial"/>
              </a:defRPr>
            </a:pPr>
            <a:r>
              <a:t>Simple:  update(v)</a:t>
            </a:r>
          </a:p>
        </p:txBody>
      </p:sp>
      <p:sp>
        <p:nvSpPr>
          <p:cNvPr id="9" name="Rounded Rectangle 8"/>
          <p:cNvSpPr/>
          <p:nvPr/>
        </p:nvSpPr>
        <p:spPr>
          <a:xfrm>
            <a:off x="3794760" y="1417320"/>
            <a:ext cx="3291840" cy="777240"/>
          </a:xfrm>
          <a:prstGeom prst="roundRect">
            <a:avLst/>
          </a:prstGeom>
          <a:solidFill>
            <a:srgbClr val="FFFFFF"/>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700"/>
              </a:lnSpc>
              <a:defRPr sz="1300" b="1">
                <a:solidFill>
                  <a:srgbClr val="1F3A5F"/>
                </a:solidFill>
                <a:latin typeface="Arial"/>
              </a:defRPr>
            </a:pPr>
            <a:r>
              <a:t>Two-object:  update(u) + update(v)</a:t>
            </a:r>
          </a:p>
        </p:txBody>
      </p:sp>
      <p:sp>
        <p:nvSpPr>
          <p:cNvPr id="10" name="Rounded Rectangle 9"/>
          <p:cNvSpPr/>
          <p:nvPr/>
        </p:nvSpPr>
        <p:spPr>
          <a:xfrm>
            <a:off x="7315200" y="1417320"/>
            <a:ext cx="4233672" cy="777240"/>
          </a:xfrm>
          <a:prstGeom prst="roundRect">
            <a:avLst/>
          </a:prstGeom>
          <a:solidFill>
            <a:srgbClr val="EFF2F7"/>
          </a:solidFill>
          <a:ln w="22225">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700"/>
              </a:lnSpc>
              <a:defRPr sz="1300" b="1">
                <a:solidFill>
                  <a:srgbClr val="1F3A5F"/>
                </a:solidFill>
                <a:latin typeface="Arial"/>
              </a:defRPr>
            </a:pPr>
            <a:r>
              <a:t>Multi-object:  insert + adjacency + degree</a:t>
            </a:r>
          </a:p>
        </p:txBody>
      </p:sp>
      <p:sp>
        <p:nvSpPr>
          <p:cNvPr id="11" name="Rounded Rectangle 10"/>
          <p:cNvSpPr/>
          <p:nvPr/>
        </p:nvSpPr>
        <p:spPr>
          <a:xfrm>
            <a:off x="640080" y="2423160"/>
            <a:ext cx="5394960" cy="1600200"/>
          </a:xfrm>
          <a:prstGeom prst="roundRect">
            <a:avLst/>
          </a:prstGeom>
          <a:solidFill>
            <a:srgbClr val="FFFFFF"/>
          </a:solidFill>
          <a:ln w="15875">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12" name="TextBox 11"/>
          <p:cNvSpPr txBox="1"/>
          <p:nvPr/>
        </p:nvSpPr>
        <p:spPr>
          <a:xfrm>
            <a:off x="868680" y="2542032"/>
            <a:ext cx="4937760" cy="320040"/>
          </a:xfrm>
          <a:prstGeom prst="rect">
            <a:avLst/>
          </a:prstGeom>
          <a:noFill/>
        </p:spPr>
        <p:txBody>
          <a:bodyPr wrap="square" lIns="137160" tIns="50800" rIns="137160" bIns="50800">
            <a:spAutoFit/>
          </a:bodyPr>
          <a:lstStyle/>
          <a:p>
            <a:pPr algn="l">
              <a:lnSpc>
                <a:spcPts val="1700"/>
              </a:lnSpc>
              <a:spcAft>
                <a:spcPts val="200"/>
              </a:spcAft>
              <a:defRPr sz="1300" b="1" i="0">
                <a:solidFill>
                  <a:srgbClr val="000000"/>
                </a:solidFill>
                <a:latin typeface="Arial"/>
              </a:defRPr>
            </a:pPr>
            <a:r>
              <a:t>Atomic/CAS  —  baseline</a:t>
            </a:r>
          </a:p>
        </p:txBody>
      </p:sp>
      <p:sp>
        <p:nvSpPr>
          <p:cNvPr id="13" name="TextBox 12"/>
          <p:cNvSpPr txBox="1"/>
          <p:nvPr/>
        </p:nvSpPr>
        <p:spPr>
          <a:xfrm>
            <a:off x="868680" y="2880360"/>
            <a:ext cx="4937760" cy="1005840"/>
          </a:xfrm>
          <a:prstGeom prst="rect">
            <a:avLst/>
          </a:prstGeom>
          <a:noFill/>
        </p:spPr>
        <p:txBody>
          <a:bodyPr wrap="square" lIns="137160" rIns="137160">
            <a:spAutoFit/>
          </a:bodyPr>
          <a:lstStyle/>
          <a:p>
            <a:pPr algn="l">
              <a:lnSpc>
                <a:spcPts val="1700"/>
              </a:lnSpc>
              <a:spcBef>
                <a:spcPts val="0"/>
              </a:spcBef>
              <a:spcAft>
                <a:spcPts val="400"/>
              </a:spcAft>
            </a:pPr>
            <a:r>
              <a:rPr sz="1200">
                <a:solidFill>
                  <a:srgbClr val="000000"/>
                </a:solidFill>
                <a:latin typeface="Arial"/>
              </a:rPr>
              <a:t>•  Explicit sync + ordering + retries</a:t>
            </a:r>
          </a:p>
          <a:p>
            <a:pPr algn="l">
              <a:lnSpc>
                <a:spcPts val="1700"/>
              </a:lnSpc>
              <a:spcBef>
                <a:spcPts val="0"/>
              </a:spcBef>
              <a:spcAft>
                <a:spcPts val="400"/>
              </a:spcAft>
            </a:pPr>
            <a:r>
              <a:rPr sz="1200">
                <a:solidFill>
                  <a:srgbClr val="000000"/>
                </a:solidFill>
                <a:latin typeface="Arial"/>
              </a:rPr>
              <a:t>•  Multi-object atomicity: manual</a:t>
            </a:r>
          </a:p>
        </p:txBody>
      </p:sp>
      <p:sp>
        <p:nvSpPr>
          <p:cNvPr id="14" name="Rounded Rectangle 13"/>
          <p:cNvSpPr/>
          <p:nvPr/>
        </p:nvSpPr>
        <p:spPr>
          <a:xfrm>
            <a:off x="6309360" y="2423160"/>
            <a:ext cx="5239512" cy="160020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endParaRPr/>
          </a:p>
        </p:txBody>
      </p:sp>
      <p:sp>
        <p:nvSpPr>
          <p:cNvPr id="15" name="TextBox 14"/>
          <p:cNvSpPr txBox="1"/>
          <p:nvPr/>
        </p:nvSpPr>
        <p:spPr>
          <a:xfrm>
            <a:off x="6537960" y="2542032"/>
            <a:ext cx="4754880" cy="320040"/>
          </a:xfrm>
          <a:prstGeom prst="rect">
            <a:avLst/>
          </a:prstGeom>
          <a:noFill/>
        </p:spPr>
        <p:txBody>
          <a:bodyPr wrap="square" lIns="137160" tIns="50800" rIns="137160" bIns="50800">
            <a:spAutoFit/>
          </a:bodyPr>
          <a:lstStyle/>
          <a:p>
            <a:pPr algn="l">
              <a:lnSpc>
                <a:spcPts val="1700"/>
              </a:lnSpc>
              <a:spcAft>
                <a:spcPts val="200"/>
              </a:spcAft>
              <a:defRPr sz="1300" b="1" i="0">
                <a:solidFill>
                  <a:srgbClr val="FFFFFF"/>
                </a:solidFill>
                <a:latin typeface="Arial"/>
              </a:defRPr>
            </a:pPr>
            <a:r>
              <a:t>GPU-STM  —  proposed</a:t>
            </a:r>
          </a:p>
        </p:txBody>
      </p:sp>
      <p:sp>
        <p:nvSpPr>
          <p:cNvPr id="16" name="TextBox 15"/>
          <p:cNvSpPr txBox="1"/>
          <p:nvPr/>
        </p:nvSpPr>
        <p:spPr>
          <a:xfrm>
            <a:off x="6537960" y="2880360"/>
            <a:ext cx="4754880" cy="1005840"/>
          </a:xfrm>
          <a:prstGeom prst="rect">
            <a:avLst/>
          </a:prstGeom>
          <a:noFill/>
        </p:spPr>
        <p:txBody>
          <a:bodyPr wrap="square" lIns="137160" rIns="137160">
            <a:spAutoFit/>
          </a:bodyPr>
          <a:lstStyle/>
          <a:p>
            <a:pPr algn="l">
              <a:spcAft>
                <a:spcPts val="400"/>
              </a:spcAft>
            </a:pPr>
            <a:r>
              <a:rPr sz="1200">
                <a:solidFill>
                  <a:srgbClr val="FFFFFF"/>
                </a:solidFill>
                <a:latin typeface="Arial"/>
              </a:rPr>
              <a:t>•  transaction { modify + metadata }</a:t>
            </a:r>
          </a:p>
          <a:p>
            <a:pPr algn="l">
              <a:spcAft>
                <a:spcPts val="400"/>
              </a:spcAft>
            </a:pPr>
            <a:r>
              <a:rPr sz="1200">
                <a:solidFill>
                  <a:srgbClr val="FFFFFF"/>
                </a:solidFill>
                <a:latin typeface="Arial"/>
              </a:rPr>
              <a:t>•  STM: detect → validate → commit/abort</a:t>
            </a:r>
          </a:p>
        </p:txBody>
      </p:sp>
      <p:graphicFrame>
        <p:nvGraphicFramePr>
          <p:cNvPr id="17" name="Table 16"/>
          <p:cNvGraphicFramePr>
            <a:graphicFrameLocks noGrp="1"/>
          </p:cNvGraphicFramePr>
          <p:nvPr/>
        </p:nvGraphicFramePr>
        <p:xfrm>
          <a:off x="640080" y="4206240"/>
          <a:ext cx="6400800" cy="122529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20040">
                <a:tc>
                  <a:txBody>
                    <a:bodyPr/>
                    <a:lstStyle/>
                    <a:p>
                      <a:pPr algn="ctr">
                        <a:lnSpc>
                          <a:spcPts val="1600"/>
                        </a:lnSpc>
                        <a:spcAft>
                          <a:spcPts val="100"/>
                        </a:spcAft>
                        <a:defRPr sz="1200" b="1">
                          <a:solidFill>
                            <a:srgbClr val="FFFFFF"/>
                          </a:solidFill>
                          <a:latin typeface="Arial"/>
                        </a:defRPr>
                      </a:pPr>
                      <a:endParaRPr/>
                    </a:p>
                  </a:txBody>
                  <a:tcPr anchor="ctr">
                    <a:solidFill>
                      <a:srgbClr val="1F3A5F"/>
                    </a:solidFill>
                  </a:tcPr>
                </a:tc>
                <a:tc>
                  <a:txBody>
                    <a:bodyPr/>
                    <a:lstStyle/>
                    <a:p>
                      <a:pPr algn="ctr">
                        <a:lnSpc>
                          <a:spcPts val="1600"/>
                        </a:lnSpc>
                        <a:spcAft>
                          <a:spcPts val="100"/>
                        </a:spcAft>
                        <a:defRPr sz="1200" b="1">
                          <a:solidFill>
                            <a:srgbClr val="FFFFFF"/>
                          </a:solidFill>
                          <a:latin typeface="Arial"/>
                        </a:defRPr>
                      </a:pPr>
                      <a:r>
                        <a:t>Atomic/CAS</a:t>
                      </a:r>
                    </a:p>
                  </a:txBody>
                  <a:tcPr anchor="ctr">
                    <a:solidFill>
                      <a:srgbClr val="1F3A5F"/>
                    </a:solidFill>
                  </a:tcPr>
                </a:tc>
                <a:tc>
                  <a:txBody>
                    <a:bodyPr/>
                    <a:lstStyle/>
                    <a:p>
                      <a:pPr algn="ctr">
                        <a:lnSpc>
                          <a:spcPts val="1600"/>
                        </a:lnSpc>
                        <a:spcAft>
                          <a:spcPts val="100"/>
                        </a:spcAft>
                        <a:defRPr sz="1200" b="1">
                          <a:solidFill>
                            <a:srgbClr val="FFFFFF"/>
                          </a:solidFill>
                          <a:latin typeface="Arial"/>
                        </a:defRPr>
                      </a:pPr>
                      <a:r>
                        <a:t>GPU-STM</a:t>
                      </a:r>
                    </a:p>
                  </a:txBody>
                  <a:tcPr anchor="ctr">
                    <a:solidFill>
                      <a:srgbClr val="1F3A5F"/>
                    </a:solidFill>
                  </a:tcPr>
                </a:tc>
                <a:extLst>
                  <a:ext uri="{0D108BD9-81ED-4DB2-BD59-A6C34878D82A}">
                    <a16:rowId xmlns:a16="http://schemas.microsoft.com/office/drawing/2014/main" val="10000"/>
                  </a:ext>
                </a:extLst>
              </a:tr>
              <a:tr h="301752">
                <a:tc>
                  <a:txBody>
                    <a:bodyPr/>
                    <a:lstStyle/>
                    <a:p>
                      <a:pPr algn="l">
                        <a:lnSpc>
                          <a:spcPts val="1600"/>
                        </a:lnSpc>
                        <a:spcAft>
                          <a:spcPts val="100"/>
                        </a:spcAft>
                        <a:defRPr sz="1200" b="1">
                          <a:solidFill>
                            <a:srgbClr val="000000"/>
                          </a:solidFill>
                          <a:latin typeface="Arial"/>
                        </a:defRPr>
                      </a:pPr>
                      <a:r>
                        <a:t>Sync. logic</a:t>
                      </a:r>
                    </a:p>
                  </a:txBody>
                  <a:tcPr anchor="ctr">
                    <a:solidFill>
                      <a:srgbClr val="FFFFFF"/>
                    </a:solidFill>
                  </a:tcPr>
                </a:tc>
                <a:tc>
                  <a:txBody>
                    <a:bodyPr/>
                    <a:lstStyle/>
                    <a:p>
                      <a:pPr algn="ctr">
                        <a:lnSpc>
                          <a:spcPts val="1600"/>
                        </a:lnSpc>
                        <a:spcAft>
                          <a:spcPts val="100"/>
                        </a:spcAft>
                        <a:defRPr sz="1200" b="0">
                          <a:solidFill>
                            <a:srgbClr val="000000"/>
                          </a:solidFill>
                          <a:latin typeface="Arial"/>
                        </a:defRPr>
                      </a:pPr>
                      <a:r>
                        <a:t>High</a:t>
                      </a:r>
                    </a:p>
                  </a:txBody>
                  <a:tcPr anchor="ctr">
                    <a:solidFill>
                      <a:srgbClr val="FFFFFF"/>
                    </a:solidFill>
                  </a:tcPr>
                </a:tc>
                <a:tc>
                  <a:txBody>
                    <a:bodyPr/>
                    <a:lstStyle/>
                    <a:p>
                      <a:pPr algn="ctr">
                        <a:lnSpc>
                          <a:spcPts val="1600"/>
                        </a:lnSpc>
                        <a:spcAft>
                          <a:spcPts val="100"/>
                        </a:spcAft>
                        <a:defRPr sz="1200" b="1">
                          <a:solidFill>
                            <a:srgbClr val="1F3A5F"/>
                          </a:solidFill>
                          <a:latin typeface="Arial"/>
                        </a:defRPr>
                      </a:pPr>
                      <a:r>
                        <a:t>Low</a:t>
                      </a:r>
                    </a:p>
                  </a:txBody>
                  <a:tcPr anchor="ctr">
                    <a:solidFill>
                      <a:srgbClr val="FFFFFF"/>
                    </a:solidFill>
                  </a:tcPr>
                </a:tc>
                <a:extLst>
                  <a:ext uri="{0D108BD9-81ED-4DB2-BD59-A6C34878D82A}">
                    <a16:rowId xmlns:a16="http://schemas.microsoft.com/office/drawing/2014/main" val="10001"/>
                  </a:ext>
                </a:extLst>
              </a:tr>
              <a:tr h="301752">
                <a:tc>
                  <a:txBody>
                    <a:bodyPr/>
                    <a:lstStyle/>
                    <a:p>
                      <a:pPr algn="l">
                        <a:lnSpc>
                          <a:spcPts val="1600"/>
                        </a:lnSpc>
                        <a:spcAft>
                          <a:spcPts val="100"/>
                        </a:spcAft>
                        <a:defRPr sz="1200" b="1">
                          <a:solidFill>
                            <a:srgbClr val="000000"/>
                          </a:solidFill>
                          <a:latin typeface="Arial"/>
                        </a:defRPr>
                      </a:pPr>
                      <a:r>
                        <a:t>Conflict handling</a:t>
                      </a:r>
                    </a:p>
                  </a:txBody>
                  <a:tcPr anchor="ctr">
                    <a:solidFill>
                      <a:srgbClr val="EFF2F7"/>
                    </a:solidFill>
                  </a:tcPr>
                </a:tc>
                <a:tc>
                  <a:txBody>
                    <a:bodyPr/>
                    <a:lstStyle/>
                    <a:p>
                      <a:pPr algn="ctr">
                        <a:lnSpc>
                          <a:spcPts val="1600"/>
                        </a:lnSpc>
                        <a:spcAft>
                          <a:spcPts val="100"/>
                        </a:spcAft>
                        <a:defRPr sz="1200" b="0">
                          <a:solidFill>
                            <a:srgbClr val="000000"/>
                          </a:solidFill>
                          <a:latin typeface="Arial"/>
                        </a:defRPr>
                      </a:pPr>
                      <a:r>
                        <a:t>App code</a:t>
                      </a:r>
                    </a:p>
                  </a:txBody>
                  <a:tcPr anchor="ctr">
                    <a:solidFill>
                      <a:srgbClr val="EFF2F7"/>
                    </a:solidFill>
                  </a:tcPr>
                </a:tc>
                <a:tc>
                  <a:txBody>
                    <a:bodyPr/>
                    <a:lstStyle/>
                    <a:p>
                      <a:pPr algn="ctr">
                        <a:lnSpc>
                          <a:spcPts val="1600"/>
                        </a:lnSpc>
                        <a:spcAft>
                          <a:spcPts val="100"/>
                        </a:spcAft>
                        <a:defRPr sz="1200" b="1">
                          <a:solidFill>
                            <a:srgbClr val="1F3A5F"/>
                          </a:solidFill>
                          <a:latin typeface="Arial"/>
                        </a:defRPr>
                      </a:pPr>
                      <a:r>
                        <a:t>STM</a:t>
                      </a:r>
                    </a:p>
                  </a:txBody>
                  <a:tcPr anchor="ctr">
                    <a:solidFill>
                      <a:srgbClr val="EFF2F7"/>
                    </a:solidFill>
                  </a:tcPr>
                </a:tc>
                <a:extLst>
                  <a:ext uri="{0D108BD9-81ED-4DB2-BD59-A6C34878D82A}">
                    <a16:rowId xmlns:a16="http://schemas.microsoft.com/office/drawing/2014/main" val="10002"/>
                  </a:ext>
                </a:extLst>
              </a:tr>
              <a:tr h="301752">
                <a:tc>
                  <a:txBody>
                    <a:bodyPr/>
                    <a:lstStyle/>
                    <a:p>
                      <a:pPr algn="l">
                        <a:lnSpc>
                          <a:spcPts val="1600"/>
                        </a:lnSpc>
                        <a:spcAft>
                          <a:spcPts val="100"/>
                        </a:spcAft>
                        <a:defRPr sz="1200" b="1">
                          <a:solidFill>
                            <a:srgbClr val="000000"/>
                          </a:solidFill>
                          <a:latin typeface="Arial"/>
                        </a:defRPr>
                      </a:pPr>
                      <a:r>
                        <a:t>Performance</a:t>
                      </a:r>
                    </a:p>
                  </a:txBody>
                  <a:tcPr anchor="ctr">
                    <a:solidFill>
                      <a:srgbClr val="FFFFFF"/>
                    </a:solidFill>
                  </a:tcPr>
                </a:tc>
                <a:tc>
                  <a:txBody>
                    <a:bodyPr/>
                    <a:lstStyle/>
                    <a:p>
                      <a:pPr algn="ctr">
                        <a:lnSpc>
                          <a:spcPts val="1600"/>
                        </a:lnSpc>
                        <a:spcAft>
                          <a:spcPts val="100"/>
                        </a:spcAft>
                        <a:defRPr sz="1200" b="0">
                          <a:solidFill>
                            <a:srgbClr val="000000"/>
                          </a:solidFill>
                          <a:latin typeface="Arial"/>
                        </a:defRPr>
                      </a:pPr>
                      <a:r>
                        <a:t>Baseline</a:t>
                      </a:r>
                    </a:p>
                  </a:txBody>
                  <a:tcPr anchor="ctr">
                    <a:solidFill>
                      <a:srgbClr val="FFFFFF"/>
                    </a:solidFill>
                  </a:tcPr>
                </a:tc>
                <a:tc>
                  <a:txBody>
                    <a:bodyPr/>
                    <a:lstStyle/>
                    <a:p>
                      <a:pPr algn="ctr">
                        <a:lnSpc>
                          <a:spcPts val="1600"/>
                        </a:lnSpc>
                        <a:spcAft>
                          <a:spcPts val="100"/>
                        </a:spcAft>
                        <a:defRPr sz="1200" b="1">
                          <a:solidFill>
                            <a:srgbClr val="1F3A5F"/>
                          </a:solidFill>
                          <a:latin typeface="Arial"/>
                        </a:defRPr>
                      </a:pPr>
                      <a:r>
                        <a:t>Competitive?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8" name="Rounded Rectangle 17"/>
          <p:cNvSpPr/>
          <p:nvPr/>
        </p:nvSpPr>
        <p:spPr>
          <a:xfrm>
            <a:off x="7315200" y="4206240"/>
            <a:ext cx="4233672" cy="1234440"/>
          </a:xfrm>
          <a:prstGeom prst="roundRect">
            <a:avLst/>
          </a:prstGeom>
          <a:solidFill>
            <a:srgbClr val="FFFBEB"/>
          </a:solidFill>
          <a:ln w="19050">
            <a:solidFill>
              <a:srgbClr val="5A5A5A"/>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600"/>
              </a:lnSpc>
              <a:defRPr sz="1200" b="1">
                <a:solidFill>
                  <a:srgbClr val="1F3A5F"/>
                </a:solidFill>
                <a:latin typeface="Arial"/>
              </a:defRPr>
            </a:pPr>
            <a:r>
              <a:t>Lower complexity → lower error potential</a:t>
            </a:r>
            <a:br/>
            <a:r>
              <a:t>Throughput + sync LOC + #atomics</a:t>
            </a:r>
          </a:p>
        </p:txBody>
      </p:sp>
      <p:sp>
        <p:nvSpPr>
          <p:cNvPr id="19" name="Rounded Rectangle 18"/>
          <p:cNvSpPr/>
          <p:nvPr/>
        </p:nvSpPr>
        <p:spPr>
          <a:xfrm>
            <a:off x="640080" y="5577840"/>
            <a:ext cx="10908792" cy="548640"/>
          </a:xfrm>
          <a:prstGeom prst="roundRect">
            <a:avLst/>
          </a:prstGeom>
          <a:solidFill>
            <a:srgbClr val="1F3A5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ctr">
              <a:lnSpc>
                <a:spcPts val="1700"/>
              </a:lnSpc>
              <a:defRPr sz="1300" b="1">
                <a:solidFill>
                  <a:srgbClr val="FFFFFF"/>
                </a:solidFill>
                <a:latin typeface="Arial"/>
              </a:defRPr>
            </a:pPr>
            <a:r>
              <a:t>RQ3: Can GPU-STM cut complexity without significant performance loss?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1453</Words>
  <Application>Microsoft Office PowerPoint</Application>
  <PresentationFormat>Widescreen</PresentationFormat>
  <Paragraphs>266</Paragraphs>
  <Slides>10</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Suyash Kumar</cp:lastModifiedBy>
  <cp:revision>6</cp:revision>
  <dcterms:created xsi:type="dcterms:W3CDTF">2013-01-27T09:14:16Z</dcterms:created>
  <dcterms:modified xsi:type="dcterms:W3CDTF">2026-09-13T18:15:52Z</dcterms:modified>
  <cp:category/>
</cp:coreProperties>
</file>