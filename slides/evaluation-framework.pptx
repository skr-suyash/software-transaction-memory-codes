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881360" cy="292608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5A5A5A"/>
                </a:solidFill>
                <a:latin typeface="Arial"/>
              </a:defRPr>
            </a:pPr>
            <a:r>
              <a:t>EVALUATION 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2800"/>
              </a:lnSpc>
              <a:spcAft>
                <a:spcPts val="200"/>
              </a:spcAft>
              <a:defRPr sz="2400" b="1" i="0">
                <a:solidFill>
                  <a:srgbClr val="1F3A5F"/>
                </a:solidFill>
                <a:latin typeface="Arial"/>
              </a:defRPr>
            </a:pPr>
            <a:r>
              <a:t>Systems, Workloads &amp; Metrics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70432"/>
            <a:ext cx="10908792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8686800" cy="256032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900" b="0" i="0">
                <a:solidFill>
                  <a:srgbClr val="5A5A5A"/>
                </a:solidFill>
                <a:latin typeface="Arial"/>
              </a:defRPr>
            </a:pPr>
            <a:r>
              <a:rPr dirty="0"/>
              <a:t>GPU-STM for Concurrent Dynamic Graph Updates  — 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40080" cy="256032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r">
              <a:lnSpc>
                <a:spcPts val="1300"/>
              </a:lnSpc>
              <a:spcAft>
                <a:spcPts val="200"/>
              </a:spcAft>
              <a:defRPr sz="900" b="0" i="0">
                <a:solidFill>
                  <a:srgbClr val="5A5A5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377440" cy="59436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FFFFFF"/>
                </a:solidFill>
                <a:latin typeface="Arial"/>
              </a:defRPr>
            </a:pPr>
            <a:r>
              <a:t>Same update stream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1709928"/>
            <a:ext cx="32004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417320"/>
            <a:ext cx="18288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000000"/>
                </a:solidFill>
                <a:latin typeface="Arial"/>
              </a:defRPr>
            </a:pPr>
            <a:r>
              <a:t>Atomic / 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417320"/>
            <a:ext cx="2103120" cy="594360"/>
          </a:xfrm>
          <a:prstGeom prst="roundRect">
            <a:avLst/>
          </a:prstGeom>
          <a:solidFill>
            <a:srgbClr val="1F3A5F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FFFFFF"/>
                </a:solidFill>
                <a:latin typeface="Arial"/>
              </a:defRPr>
            </a:pPr>
            <a:r>
              <a:t>GPU-STM  (proposed)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417320"/>
            <a:ext cx="18288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000000"/>
                </a:solidFill>
                <a:latin typeface="Arial"/>
              </a:defRPr>
            </a:pPr>
            <a:r>
              <a:t>GPMA+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66360" y="1709928"/>
            <a:ext cx="18288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52360" y="1709928"/>
            <a:ext cx="18288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46920" y="1417320"/>
            <a:ext cx="1901952" cy="594360"/>
          </a:xfrm>
          <a:prstGeom prst="roundRect">
            <a:avLst/>
          </a:prstGeom>
          <a:solidFill>
            <a:srgbClr val="EFF2F7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r>
              <a:t>Compare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64040" y="1709928"/>
            <a:ext cx="1828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2084831"/>
            <a:ext cx="10908792" cy="32004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ctr">
              <a:lnSpc>
                <a:spcPts val="1600"/>
              </a:lnSpc>
              <a:spcAft>
                <a:spcPts val="200"/>
              </a:spcAft>
              <a:defRPr sz="1200" b="1" i="0">
                <a:solidFill>
                  <a:srgbClr val="1F3A5F"/>
                </a:solidFill>
                <a:latin typeface="Arial"/>
              </a:defRPr>
            </a:pPr>
            <a:r>
              <a:t>Atomic/CAS ↔ GPU-STM isolates the cost / benefit of the STM abstraction.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2514600"/>
          <a:ext cx="667512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Implementation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1F3A5F"/>
                          </a:solidFill>
                          <a:latin typeface="Arial"/>
                        </a:defRPr>
                      </a:pPr>
                      <a:r>
                        <a:t>Atomic/CAS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Aft>
                          <a:spcPts val="100"/>
                        </a:spcAft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Controlled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Aft>
                          <a:spcPts val="100"/>
                        </a:spcAft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Same graph + logic as GPU-STM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1F3A5F"/>
                          </a:solidFill>
                          <a:latin typeface="Arial"/>
                        </a:defRPr>
                      </a:pPr>
                      <a:r>
                        <a:t>GPU-STM</a:t>
                      </a:r>
                    </a:p>
                  </a:txBody>
                  <a:tcPr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Aft>
                          <a:spcPts val="100"/>
                        </a:spcAft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Proposed</a:t>
                      </a:r>
                    </a:p>
                  </a:txBody>
                  <a:tcPr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Aft>
                          <a:spcPts val="100"/>
                        </a:spcAft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Transactional synchronization</a:t>
                      </a:r>
                    </a:p>
                  </a:txBody>
                  <a:tcPr anchor="ctr"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1F3A5F"/>
                          </a:solidFill>
                          <a:latin typeface="Arial"/>
                        </a:defRPr>
                      </a:pPr>
                      <a:r>
                        <a:rPr dirty="0"/>
                        <a:t>GPMA+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Aft>
                          <a:spcPts val="100"/>
                        </a:spcAft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Specialized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Aft>
                          <a:spcPts val="100"/>
                        </a:spcAft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Existing specialized approach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589520" y="2514600"/>
            <a:ext cx="3959352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2606040"/>
            <a:ext cx="3566160" cy="32004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  <a:defRPr sz="1300" b="1" i="0">
                <a:solidFill>
                  <a:srgbClr val="1F3A5F"/>
                </a:solidFill>
                <a:latin typeface="Arial"/>
              </a:defRPr>
            </a:pPr>
            <a:r>
              <a:t>Workloads &amp;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971800"/>
            <a:ext cx="3566160" cy="160020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 Insert / Delete / Mixed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 Random  /  Power-law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 Low / Medium / High contention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 Throughput  +  Abort rate  +  Correctness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10908792" cy="1234440"/>
          </a:xfrm>
          <a:prstGeom prst="roundRect">
            <a:avLst/>
          </a:prstGeom>
          <a:solidFill>
            <a:srgbClr val="EFF2F7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10424160" cy="32004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ctr">
              <a:lnSpc>
                <a:spcPts val="1600"/>
              </a:lnSpc>
              <a:spcAft>
                <a:spcPts val="200"/>
              </a:spcAft>
              <a:defRPr sz="1200" b="1" i="0">
                <a:solidFill>
                  <a:srgbClr val="1F3A5F"/>
                </a:solidFill>
                <a:latin typeface="Arial"/>
              </a:defRPr>
            </a:pPr>
            <a:r>
              <a:t>Correctness vs. sequential reference  —  no lost updates  ·  no duplicates  ·  correct multi-object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  <a:defRPr sz="1100" b="0" i="1">
                <a:solidFill>
                  <a:srgbClr val="333333"/>
                </a:solidFill>
                <a:latin typeface="Arial"/>
              </a:defRPr>
            </a:pPr>
            <a:r>
              <a:t>Sequential reference  →  Expected graph  ↔  GPU result  ···  to be measured, no invented numbers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881360" cy="292608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5A5A5A"/>
                </a:solidFill>
                <a:latin typeface="Arial"/>
              </a:defRPr>
            </a:pPr>
            <a:r>
              <a:t>EVALUATION 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2800"/>
              </a:lnSpc>
              <a:spcAft>
                <a:spcPts val="200"/>
              </a:spcAft>
              <a:defRPr sz="2400" b="1" i="0">
                <a:solidFill>
                  <a:srgbClr val="1F3A5F"/>
                </a:solidFill>
                <a:latin typeface="Arial"/>
              </a:defRPr>
            </a:pPr>
            <a:r>
              <a:t>Performance Under Increasing Contention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70432"/>
            <a:ext cx="10908792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8686800" cy="256032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900" b="0" i="0">
                <a:solidFill>
                  <a:srgbClr val="5A5A5A"/>
                </a:solidFill>
                <a:latin typeface="Arial"/>
              </a:defRPr>
            </a:pPr>
            <a:r>
              <a:t>GPU-STM for Concurrent Dynamic Graph Updates  — 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40080" cy="256032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r">
              <a:lnSpc>
                <a:spcPts val="1300"/>
              </a:lnSpc>
              <a:spcAft>
                <a:spcPts val="200"/>
              </a:spcAft>
              <a:defRPr sz="900" b="0" i="0">
                <a:solidFill>
                  <a:srgbClr val="5A5A5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754880" cy="316562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000000"/>
                </a:solidFill>
                <a:latin typeface="Arial"/>
              </a:defRPr>
            </a:pPr>
            <a:r>
              <a:rPr dirty="0"/>
              <a:t>Experiment 1  </a:t>
            </a:r>
            <a:r>
              <a:rPr lang="en-IN" dirty="0"/>
              <a:t>-</a:t>
            </a:r>
            <a:r>
              <a:rPr dirty="0"/>
              <a:t>  Basic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4754880" cy="137160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Arial"/>
              </a:rPr>
              <a:t>•  Edge insertion  /  deletion  /  mixed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Arial"/>
              </a:rPr>
              <a:t>•  Throughput  +  execution time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Arial"/>
              </a:rPr>
              <a:t>•  Same stream on Atomic, GPU-STM, GPMA+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29000"/>
            <a:ext cx="4754880" cy="960120"/>
          </a:xfrm>
          <a:prstGeom prst="roundRect">
            <a:avLst/>
          </a:prstGeom>
          <a:solidFill>
            <a:srgbClr val="EFF2F7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r>
              <a:t>RQ1: What overhead does GPU-STM add over atomic/CAS?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4754880" cy="64008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1">
                <a:solidFill>
                  <a:srgbClr val="5A5A5A"/>
                </a:solidFill>
                <a:latin typeface="Arial"/>
              </a:defRPr>
            </a:pPr>
            <a:r>
              <a:t>Planned result: to be measured.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4754880" cy="54864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333333"/>
                </a:solidFill>
                <a:latin typeface="Arial"/>
              </a:defRPr>
            </a:pPr>
            <a:r>
              <a:t>Manual: fast (?) but complex  vs.  STM: simpler, perf.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239512" cy="4526280"/>
          </a:xfrm>
          <a:prstGeom prst="roundRect">
            <a:avLst/>
          </a:prstGeom>
          <a:solidFill>
            <a:srgbClr val="FFFBEB"/>
          </a:solidFill>
          <a:ln w="2222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536192"/>
            <a:ext cx="4754880" cy="316562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1F3A5F"/>
                </a:solidFill>
                <a:latin typeface="Arial"/>
              </a:defRPr>
            </a:pPr>
            <a:r>
              <a:rPr dirty="0"/>
              <a:t>Experiment 2  </a:t>
            </a:r>
            <a:r>
              <a:rPr lang="en-IN" dirty="0"/>
              <a:t>-</a:t>
            </a:r>
            <a:r>
              <a:rPr dirty="0"/>
              <a:t>  Contention (focal)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14173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14173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2011680"/>
            <a:ext cx="1417320" cy="54864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FFFFFF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33472"/>
            <a:ext cx="1417320" cy="50292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ctr">
              <a:lnSpc>
                <a:spcPts val="1450"/>
              </a:lnSpc>
              <a:spcAft>
                <a:spcPts val="200"/>
              </a:spcAft>
              <a:defRPr sz="1050" b="0" i="0">
                <a:solidFill>
                  <a:srgbClr val="5A5A5A"/>
                </a:solidFill>
                <a:latin typeface="Arial"/>
              </a:defRPr>
            </a:pPr>
            <a:r>
              <a:t>unrelated regions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1417320" cy="50292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ctr">
              <a:lnSpc>
                <a:spcPts val="1450"/>
              </a:lnSpc>
              <a:spcAft>
                <a:spcPts val="200"/>
              </a:spcAft>
              <a:defRPr sz="1050" b="0" i="0">
                <a:solidFill>
                  <a:srgbClr val="5A5A5A"/>
                </a:solidFill>
                <a:latin typeface="Arial"/>
              </a:defRPr>
            </a:pPr>
            <a:r>
              <a:t>some shared vertices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633472"/>
            <a:ext cx="1417320" cy="50292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ctr">
              <a:lnSpc>
                <a:spcPts val="1450"/>
              </a:lnSpc>
              <a:spcAft>
                <a:spcPts val="200"/>
              </a:spcAft>
              <a:defRPr sz="1050" b="1" i="0">
                <a:solidFill>
                  <a:srgbClr val="1F3A5F"/>
                </a:solidFill>
                <a:latin typeface="Arial"/>
              </a:defRPr>
            </a:pPr>
            <a:r>
              <a:t>hot high-degree vertices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291840"/>
            <a:ext cx="4782312" cy="59436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FFFFFF"/>
                </a:solidFill>
                <a:latin typeface="Arial"/>
              </a:defRPr>
            </a:pPr>
            <a:r>
              <a:t>Contention ↑  →  Conflicts ↑  →  Abort ↑  →  Throughput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39"/>
            <a:ext cx="4782312" cy="8229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000000"/>
                </a:solidFill>
                <a:latin typeface="Arial"/>
              </a:rPr>
              <a:t>•  Random + Power-law  →  Low / Med / High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000000"/>
                </a:solidFill>
                <a:latin typeface="Arial"/>
              </a:rPr>
              <a:t>•  Throughput, abort rate, retry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846320"/>
            <a:ext cx="47823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r>
              <a:t>RQ2: Where does GPU-STM stop being competitive, and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881360" cy="292608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5A5A5A"/>
                </a:solidFill>
                <a:latin typeface="Arial"/>
              </a:defRPr>
            </a:pPr>
            <a:r>
              <a:t>EVALUATION 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2800"/>
              </a:lnSpc>
              <a:spcAft>
                <a:spcPts val="200"/>
              </a:spcAft>
              <a:defRPr sz="2400" b="1" i="0">
                <a:solidFill>
                  <a:srgbClr val="1F3A5F"/>
                </a:solidFill>
                <a:latin typeface="Arial"/>
              </a:defRPr>
            </a:pPr>
            <a:r>
              <a:t>Does the Abstraction Actually Help?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70432"/>
            <a:ext cx="10908792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8686800" cy="256032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900" b="0" i="0">
                <a:solidFill>
                  <a:srgbClr val="5A5A5A"/>
                </a:solidFill>
                <a:latin typeface="Arial"/>
              </a:defRPr>
            </a:pPr>
            <a:r>
              <a:t>GPU-STM for Concurrent Dynamic Graph Updates  — 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40080" cy="256032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r">
              <a:lnSpc>
                <a:spcPts val="1300"/>
              </a:lnSpc>
              <a:spcAft>
                <a:spcPts val="200"/>
              </a:spcAft>
              <a:defRPr sz="900" b="0" i="0">
                <a:solidFill>
                  <a:srgbClr val="5A5A5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9260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700"/>
              </a:lnSpc>
              <a:defRPr sz="1300" b="1">
                <a:solidFill>
                  <a:srgbClr val="1F3A5F"/>
                </a:solidFill>
                <a:latin typeface="Arial"/>
              </a:defRPr>
            </a:pPr>
            <a:r>
              <a:t>Simple:  update(v)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417320"/>
            <a:ext cx="3291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700"/>
              </a:lnSpc>
              <a:defRPr sz="1300" b="1">
                <a:solidFill>
                  <a:srgbClr val="1F3A5F"/>
                </a:solidFill>
                <a:latin typeface="Arial"/>
              </a:defRPr>
            </a:pPr>
            <a:r>
              <a:t>Two-object:  update(u) + update(v)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33672" cy="777240"/>
          </a:xfrm>
          <a:prstGeom prst="roundRect">
            <a:avLst/>
          </a:prstGeom>
          <a:solidFill>
            <a:srgbClr val="EFF2F7"/>
          </a:solidFill>
          <a:ln w="2222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700"/>
              </a:lnSpc>
              <a:defRPr sz="1300" b="1">
                <a:solidFill>
                  <a:srgbClr val="1F3A5F"/>
                </a:solidFill>
                <a:latin typeface="Arial"/>
              </a:defRPr>
            </a:pPr>
            <a:r>
              <a:rPr dirty="0"/>
              <a:t>Multi-object:  insert + adjacency + degree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539496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42032"/>
            <a:ext cx="4937760" cy="32004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  <a:defRPr sz="1300" b="1" i="0">
                <a:solidFill>
                  <a:srgbClr val="000000"/>
                </a:solidFill>
                <a:latin typeface="Arial"/>
              </a:defRPr>
            </a:pPr>
            <a:r>
              <a:t>Atomic/CAS  — 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4937760" cy="100584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Arial"/>
              </a:rPr>
              <a:t>•  Explicit sync + ordering + retries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Arial"/>
              </a:rPr>
              <a:t>•  Multi-object atomicity: manual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23160"/>
            <a:ext cx="5239512" cy="160020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542032"/>
            <a:ext cx="4754880" cy="320040"/>
          </a:xfrm>
          <a:prstGeom prst="rect">
            <a:avLst/>
          </a:prstGeom>
          <a:noFill/>
        </p:spPr>
        <p:txBody>
          <a:bodyPr wrap="square" lIns="137160" tIns="50800" rIns="137160" bIns="50800">
            <a:sp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GPU-STM  — 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80360"/>
            <a:ext cx="4754880" cy="100584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dirty="0">
                <a:solidFill>
                  <a:srgbClr val="FFFFFF"/>
                </a:solidFill>
                <a:latin typeface="Arial"/>
              </a:rPr>
              <a:t>•  transaction { modify + metadata }</a:t>
            </a:r>
          </a:p>
          <a:p>
            <a:pPr algn="l">
              <a:spcAft>
                <a:spcPts val="400"/>
              </a:spcAft>
            </a:pPr>
            <a:r>
              <a:rPr sz="1200" dirty="0">
                <a:solidFill>
                  <a:srgbClr val="FFFFFF"/>
                </a:solidFill>
                <a:latin typeface="Arial"/>
              </a:rPr>
              <a:t>•  STM: detect → validate → commit/abort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" y="4206240"/>
          <a:ext cx="6400800" cy="122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Atomic/CAS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GPU-STM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Sync.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1F3A5F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handling</a:t>
                      </a:r>
                    </a:p>
                  </a:txBody>
                  <a:tcPr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1F3A5F"/>
                          </a:solidFill>
                          <a:latin typeface="Arial"/>
                        </a:defRPr>
                      </a:pPr>
                      <a:r>
                        <a:t>STM</a:t>
                      </a:r>
                    </a:p>
                  </a:txBody>
                  <a:tcPr anchor="ctr"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Performance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100"/>
                        </a:spcAft>
                        <a:defRPr sz="1200" b="1">
                          <a:solidFill>
                            <a:srgbClr val="1F3A5F"/>
                          </a:solidFill>
                          <a:latin typeface="Arial"/>
                        </a:defRPr>
                      </a:pPr>
                      <a:r>
                        <a:rPr dirty="0"/>
                        <a:t>Competitive?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315200" y="4206240"/>
            <a:ext cx="4233672" cy="1234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600"/>
              </a:lnSpc>
              <a:defRPr sz="1200" b="1">
                <a:solidFill>
                  <a:srgbClr val="1F3A5F"/>
                </a:solidFill>
                <a:latin typeface="Arial"/>
              </a:defRPr>
            </a:pPr>
            <a:r>
              <a:t>Lower complexity → lower error potential</a:t>
            </a:r>
            <a:br/>
            <a:r>
              <a:t>Throughput + sync LOC + #atomics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77840"/>
            <a:ext cx="10908792" cy="54864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>
              <a:lnSpc>
                <a:spcPts val="1700"/>
              </a:lnSpc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RQ3: Can GPU-STM cut complexity without significant performance loss?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390</Words>
  <Application>Microsoft Office PowerPoint</Application>
  <PresentationFormat>Widescreen</PresentationFormat>
  <Paragraphs>77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Suyash Kumar</cp:lastModifiedBy>
  <cp:revision>2</cp:revision>
  <dcterms:created xsi:type="dcterms:W3CDTF">2013-01-27T09:14:16Z</dcterms:created>
  <dcterms:modified xsi:type="dcterms:W3CDTF">2026-09-13T18:16:04Z</dcterms:modified>
  <cp:category/>
</cp:coreProperties>
</file>