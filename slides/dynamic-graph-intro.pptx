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
  </p:notesMasterIdLst>
  <p:sldIdLst>
    <p:sldId id="256" r:id="rId2"/>
    <p:sldId id="257" r:id="rId3"/>
    <p:sldId id="258" r:id="rId4"/>
    <p:sldId id="259" r:id="rId5"/>
    <p:sldId id="261" r:id="rId12"/>
    <p:sldId id="262"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0" d="100"/>
          <a:sy n="70" d="100"/>
        </p:scale>
        <p:origin x="512" y="5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133203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Unlike a traditional static graph, where we build the graph and then run algorithms on it, a dynamic graph is continuously changing. For example, in a social network, new connections are constantly being created and old connections can disappear.</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If a thousand threads update the same adjacency at once without synchronisation, we observe races, lost updates and corruption. This pressure is modest on CPUs with few threads, but severe on GPUs. Our question is how to permit such concurrency correctly and efficiently.</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Manual synchronization with locks, atomics and CAS is already difficult, and SIMT execution makes it worse through divergence and deadlock risk. Our motivation is a general-purpose GPU-STM abstraction that hides this complexity and avoids such bugs, while staying close to specialized performance.</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9/13/2026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9/13/2026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9/13/2026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9/13/2026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228600"/>
            <a:ext cx="11064240" cy="274320"/>
          </a:xfrm>
          <a:prstGeom prst="rect">
            <a:avLst/>
          </a:prstGeom>
          <a:noFill/>
        </p:spPr>
        <p:txBody>
          <a:bodyPr wrap="square">
            <a:spAutoFit/>
          </a:bodyPr>
          <a:lstStyle/>
          <a:p>
            <a:pPr algn="l">
              <a:defRPr sz="1100" b="0" i="0">
                <a:solidFill>
                  <a:srgbClr val="5A5A5A"/>
                </a:solidFill>
                <a:latin typeface="Arial"/>
              </a:defRPr>
            </a:pPr>
            <a:r>
              <a:t>1  —  INTRODUCTION</a:t>
            </a:r>
          </a:p>
        </p:txBody>
      </p:sp>
      <p:sp>
        <p:nvSpPr>
          <p:cNvPr id="3" name="TextBox 2"/>
          <p:cNvSpPr txBox="1"/>
          <p:nvPr/>
        </p:nvSpPr>
        <p:spPr>
          <a:xfrm>
            <a:off x="548640" y="457200"/>
            <a:ext cx="11064240" cy="594360"/>
          </a:xfrm>
          <a:prstGeom prst="rect">
            <a:avLst/>
          </a:prstGeom>
          <a:noFill/>
        </p:spPr>
        <p:txBody>
          <a:bodyPr wrap="square">
            <a:spAutoFit/>
          </a:bodyPr>
          <a:lstStyle/>
          <a:p>
            <a:pPr algn="l">
              <a:defRPr sz="2800" b="1" i="0">
                <a:solidFill>
                  <a:srgbClr val="1F3A5F"/>
                </a:solidFill>
                <a:latin typeface="Arial"/>
              </a:defRPr>
            </a:pPr>
            <a:r>
              <a:t>What is a Dynamic Graph?</a:t>
            </a:r>
          </a:p>
        </p:txBody>
      </p:sp>
      <p:cxnSp>
        <p:nvCxnSpPr>
          <p:cNvPr id="4" name="Connector 3"/>
          <p:cNvCxnSpPr/>
          <p:nvPr/>
        </p:nvCxnSpPr>
        <p:spPr>
          <a:xfrm>
            <a:off x="548640" y="1143000"/>
            <a:ext cx="11091672" cy="0"/>
          </a:xfrm>
          <a:prstGeom prst="line">
            <a:avLst/>
          </a:prstGeom>
          <a:ln w="19050">
            <a:solidFill>
              <a:srgbClr val="1F3A5F"/>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548640" y="6446520"/>
            <a:ext cx="11091672" cy="0"/>
          </a:xfrm>
          <a:prstGeom prst="line">
            <a:avLst/>
          </a:prstGeom>
          <a:ln w="9525">
            <a:solidFill>
              <a:srgbClr val="BFBFBF"/>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48640" y="6473952"/>
            <a:ext cx="7315200" cy="228600"/>
          </a:xfrm>
          <a:prstGeom prst="rect">
            <a:avLst/>
          </a:prstGeom>
          <a:noFill/>
        </p:spPr>
        <p:txBody>
          <a:bodyPr wrap="square">
            <a:spAutoFit/>
          </a:bodyPr>
          <a:lstStyle/>
          <a:p>
            <a:pPr algn="l">
              <a:defRPr sz="900" b="0" i="0">
                <a:solidFill>
                  <a:srgbClr val="5A5A5A"/>
                </a:solidFill>
                <a:latin typeface="Arial"/>
              </a:defRPr>
            </a:pPr>
            <a:r>
              <a:t>General-Purpose STM for Concurrent Dynamic Graph Updates on GPUs</a:t>
            </a:r>
          </a:p>
        </p:txBody>
      </p:sp>
      <p:sp>
        <p:nvSpPr>
          <p:cNvPr id="7" name="TextBox 6"/>
          <p:cNvSpPr txBox="1"/>
          <p:nvPr/>
        </p:nvSpPr>
        <p:spPr>
          <a:xfrm>
            <a:off x="10972800" y="6473952"/>
            <a:ext cx="640080" cy="228600"/>
          </a:xfrm>
          <a:prstGeom prst="rect">
            <a:avLst/>
          </a:prstGeom>
          <a:noFill/>
        </p:spPr>
        <p:txBody>
          <a:bodyPr wrap="square">
            <a:spAutoFit/>
          </a:bodyPr>
          <a:lstStyle/>
          <a:p>
            <a:pPr algn="r">
              <a:defRPr sz="900" b="0" i="0">
                <a:solidFill>
                  <a:srgbClr val="5A5A5A"/>
                </a:solidFill>
                <a:latin typeface="Arial"/>
              </a:defRPr>
            </a:pPr>
            <a:r>
              <a:t>1</a:t>
            </a:r>
          </a:p>
        </p:txBody>
      </p:sp>
      <p:sp>
        <p:nvSpPr>
          <p:cNvPr id="8" name="TextBox 7"/>
          <p:cNvSpPr txBox="1"/>
          <p:nvPr/>
        </p:nvSpPr>
        <p:spPr>
          <a:xfrm>
            <a:off x="548640" y="1325880"/>
            <a:ext cx="11091672" cy="411480"/>
          </a:xfrm>
          <a:prstGeom prst="rect">
            <a:avLst/>
          </a:prstGeom>
          <a:noFill/>
        </p:spPr>
        <p:txBody>
          <a:bodyPr wrap="square">
            <a:spAutoFit/>
          </a:bodyPr>
          <a:lstStyle/>
          <a:p>
            <a:pPr algn="l">
              <a:defRPr sz="1300" b="0" i="1">
                <a:solidFill>
                  <a:srgbClr val="333333"/>
                </a:solidFill>
                <a:latin typeface="Arial"/>
              </a:defRPr>
            </a:pPr>
            <a:r>
              <a:t>A dynamic graph G(t) = (V(t), E(t)) is a graph whose vertex and edge sets change over time through insertions and deletions.</a:t>
            </a:r>
          </a:p>
        </p:txBody>
      </p:sp>
      <p:sp>
        <p:nvSpPr>
          <p:cNvPr id="9" name="TextBox 8"/>
          <p:cNvSpPr txBox="1"/>
          <p:nvPr/>
        </p:nvSpPr>
        <p:spPr>
          <a:xfrm>
            <a:off x="548640" y="1920240"/>
            <a:ext cx="3291840" cy="320040"/>
          </a:xfrm>
          <a:prstGeom prst="rect">
            <a:avLst/>
          </a:prstGeom>
          <a:noFill/>
        </p:spPr>
        <p:txBody>
          <a:bodyPr wrap="square">
            <a:spAutoFit/>
          </a:bodyPr>
          <a:lstStyle/>
          <a:p>
            <a:pPr algn="l">
              <a:defRPr sz="1400" b="1" i="0">
                <a:solidFill>
                  <a:srgbClr val="000000"/>
                </a:solidFill>
                <a:latin typeface="Arial"/>
              </a:defRPr>
            </a:pPr>
            <a:r>
              <a:t>Static graph — fixed structure</a:t>
            </a:r>
          </a:p>
        </p:txBody>
      </p:sp>
      <p:cxnSp>
        <p:nvCxnSpPr>
          <p:cNvPr id="10" name="Connector 9"/>
          <p:cNvCxnSpPr/>
          <p:nvPr/>
        </p:nvCxnSpPr>
        <p:spPr>
          <a:xfrm flipV="1">
            <a:off x="1371600" y="2606039"/>
            <a:ext cx="868679" cy="182881"/>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2240279" y="2606039"/>
            <a:ext cx="548641" cy="640081"/>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1371600" y="2788920"/>
            <a:ext cx="1417320" cy="457200"/>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371600" y="2788920"/>
            <a:ext cx="320040" cy="1005840"/>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sp>
        <p:nvSpPr>
          <p:cNvPr id="14" name="Oval 13"/>
          <p:cNvSpPr/>
          <p:nvPr/>
        </p:nvSpPr>
        <p:spPr>
          <a:xfrm>
            <a:off x="1097280" y="2514600"/>
            <a:ext cx="548640" cy="548640"/>
          </a:xfrm>
          <a:prstGeom prst="ellipse">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200">
                <a:solidFill>
                  <a:srgbClr val="000000"/>
                </a:solidFill>
                <a:latin typeface="Arial"/>
              </a:defRPr>
            </a:pPr>
            <a:r>
              <a:t>A</a:t>
            </a:r>
          </a:p>
        </p:txBody>
      </p:sp>
      <p:sp>
        <p:nvSpPr>
          <p:cNvPr id="15" name="Oval 14"/>
          <p:cNvSpPr/>
          <p:nvPr/>
        </p:nvSpPr>
        <p:spPr>
          <a:xfrm>
            <a:off x="1965960" y="2331720"/>
            <a:ext cx="548640" cy="548640"/>
          </a:xfrm>
          <a:prstGeom prst="ellipse">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200">
                <a:solidFill>
                  <a:srgbClr val="000000"/>
                </a:solidFill>
                <a:latin typeface="Arial"/>
              </a:defRPr>
            </a:pPr>
            <a:r>
              <a:t>B</a:t>
            </a:r>
          </a:p>
        </p:txBody>
      </p:sp>
      <p:sp>
        <p:nvSpPr>
          <p:cNvPr id="16" name="Oval 15"/>
          <p:cNvSpPr/>
          <p:nvPr/>
        </p:nvSpPr>
        <p:spPr>
          <a:xfrm>
            <a:off x="2514600" y="2971800"/>
            <a:ext cx="548640" cy="548640"/>
          </a:xfrm>
          <a:prstGeom prst="ellipse">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200">
                <a:solidFill>
                  <a:srgbClr val="000000"/>
                </a:solidFill>
                <a:latin typeface="Arial"/>
              </a:defRPr>
            </a:pPr>
            <a:r>
              <a:t>C</a:t>
            </a:r>
          </a:p>
        </p:txBody>
      </p:sp>
      <p:sp>
        <p:nvSpPr>
          <p:cNvPr id="17" name="Oval 16"/>
          <p:cNvSpPr/>
          <p:nvPr/>
        </p:nvSpPr>
        <p:spPr>
          <a:xfrm>
            <a:off x="1417320" y="3520440"/>
            <a:ext cx="548640" cy="548640"/>
          </a:xfrm>
          <a:prstGeom prst="ellipse">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200">
                <a:solidFill>
                  <a:srgbClr val="000000"/>
                </a:solidFill>
                <a:latin typeface="Arial"/>
              </a:defRPr>
            </a:pPr>
            <a:r>
              <a:t>D</a:t>
            </a:r>
          </a:p>
        </p:txBody>
      </p:sp>
      <p:sp>
        <p:nvSpPr>
          <p:cNvPr id="18" name="TextBox 17"/>
          <p:cNvSpPr txBox="1"/>
          <p:nvPr/>
        </p:nvSpPr>
        <p:spPr>
          <a:xfrm>
            <a:off x="548640" y="4206240"/>
            <a:ext cx="3291840" cy="274320"/>
          </a:xfrm>
          <a:prstGeom prst="rect">
            <a:avLst/>
          </a:prstGeom>
          <a:noFill/>
        </p:spPr>
        <p:txBody>
          <a:bodyPr wrap="square">
            <a:spAutoFit/>
          </a:bodyPr>
          <a:lstStyle/>
          <a:p>
            <a:pPr algn="l">
              <a:defRPr sz="1100" b="0" i="0">
                <a:solidFill>
                  <a:srgbClr val="5A5A5A"/>
                </a:solidFill>
                <a:latin typeface="Arial"/>
              </a:defRPr>
            </a:pPr>
            <a:r>
              <a:t>Built once, then analysed.</a:t>
            </a:r>
          </a:p>
        </p:txBody>
      </p:sp>
      <p:cxnSp>
        <p:nvCxnSpPr>
          <p:cNvPr id="19" name="Connector 18"/>
          <p:cNvCxnSpPr/>
          <p:nvPr/>
        </p:nvCxnSpPr>
        <p:spPr>
          <a:xfrm>
            <a:off x="4114800" y="1920240"/>
            <a:ext cx="0" cy="2651760"/>
          </a:xfrm>
          <a:prstGeom prst="line">
            <a:avLst/>
          </a:prstGeom>
          <a:ln w="9525">
            <a:solidFill>
              <a:srgbClr val="BFBFBF"/>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4480560" y="1920240"/>
            <a:ext cx="3840480" cy="320040"/>
          </a:xfrm>
          <a:prstGeom prst="rect">
            <a:avLst/>
          </a:prstGeom>
          <a:noFill/>
        </p:spPr>
        <p:txBody>
          <a:bodyPr wrap="square">
            <a:spAutoFit/>
          </a:bodyPr>
          <a:lstStyle/>
          <a:p>
            <a:pPr algn="l">
              <a:defRPr sz="1400" b="1" i="0">
                <a:solidFill>
                  <a:srgbClr val="000000"/>
                </a:solidFill>
                <a:latin typeface="Arial"/>
              </a:defRPr>
            </a:pPr>
            <a:r>
              <a:t>Dynamic graph — evolving structure</a:t>
            </a:r>
          </a:p>
        </p:txBody>
      </p:sp>
      <p:sp>
        <p:nvSpPr>
          <p:cNvPr id="21" name="TextBox 20"/>
          <p:cNvSpPr txBox="1"/>
          <p:nvPr/>
        </p:nvSpPr>
        <p:spPr>
          <a:xfrm>
            <a:off x="4480560" y="2331720"/>
            <a:ext cx="1554480" cy="274320"/>
          </a:xfrm>
          <a:prstGeom prst="rect">
            <a:avLst/>
          </a:prstGeom>
          <a:noFill/>
        </p:spPr>
        <p:txBody>
          <a:bodyPr wrap="square">
            <a:spAutoFit/>
          </a:bodyPr>
          <a:lstStyle/>
          <a:p>
            <a:pPr algn="ctr">
              <a:defRPr sz="1100" b="0" i="0">
                <a:solidFill>
                  <a:srgbClr val="5A5A5A"/>
                </a:solidFill>
                <a:latin typeface="Arial"/>
              </a:defRPr>
            </a:pPr>
            <a:r>
              <a:t>Before</a:t>
            </a:r>
          </a:p>
        </p:txBody>
      </p:sp>
      <p:cxnSp>
        <p:nvCxnSpPr>
          <p:cNvPr id="22" name="Connector 21"/>
          <p:cNvCxnSpPr/>
          <p:nvPr/>
        </p:nvCxnSpPr>
        <p:spPr>
          <a:xfrm flipV="1">
            <a:off x="4946904" y="2798063"/>
            <a:ext cx="594360" cy="137161"/>
          </a:xfrm>
          <a:prstGeom prst="line">
            <a:avLst/>
          </a:prstGeom>
          <a:ln w="1587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5541264" y="2798063"/>
            <a:ext cx="320040" cy="502921"/>
          </a:xfrm>
          <a:prstGeom prst="line">
            <a:avLst/>
          </a:prstGeom>
          <a:ln w="1587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4946904" y="2935224"/>
            <a:ext cx="914400" cy="365760"/>
          </a:xfrm>
          <a:prstGeom prst="line">
            <a:avLst/>
          </a:prstGeom>
          <a:ln w="1587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4946904" y="2935224"/>
            <a:ext cx="137160" cy="777239"/>
          </a:xfrm>
          <a:prstGeom prst="line">
            <a:avLst/>
          </a:prstGeom>
          <a:ln w="15875">
            <a:solidFill>
              <a:srgbClr val="000000"/>
            </a:solidFill>
          </a:ln>
        </p:spPr>
        <p:style>
          <a:lnRef idx="2">
            <a:schemeClr val="accent1"/>
          </a:lnRef>
          <a:fillRef idx="0">
            <a:schemeClr val="accent1"/>
          </a:fillRef>
          <a:effectRef idx="1">
            <a:schemeClr val="accent1"/>
          </a:effectRef>
          <a:fontRef idx="minor">
            <a:schemeClr val="tx1"/>
          </a:fontRef>
        </p:style>
      </p:cxnSp>
      <p:sp>
        <p:nvSpPr>
          <p:cNvPr id="26" name="Oval 25"/>
          <p:cNvSpPr/>
          <p:nvPr/>
        </p:nvSpPr>
        <p:spPr>
          <a:xfrm>
            <a:off x="4709160" y="2697480"/>
            <a:ext cx="475488" cy="475488"/>
          </a:xfrm>
          <a:prstGeom prst="ellipse">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200">
                <a:solidFill>
                  <a:srgbClr val="000000"/>
                </a:solidFill>
                <a:latin typeface="Arial"/>
              </a:defRPr>
            </a:pPr>
            <a:r>
              <a:t>A</a:t>
            </a:r>
          </a:p>
        </p:txBody>
      </p:sp>
      <p:sp>
        <p:nvSpPr>
          <p:cNvPr id="27" name="Oval 26"/>
          <p:cNvSpPr/>
          <p:nvPr/>
        </p:nvSpPr>
        <p:spPr>
          <a:xfrm>
            <a:off x="5303520" y="2560320"/>
            <a:ext cx="475488" cy="475488"/>
          </a:xfrm>
          <a:prstGeom prst="ellipse">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200">
                <a:solidFill>
                  <a:srgbClr val="000000"/>
                </a:solidFill>
                <a:latin typeface="Arial"/>
              </a:defRPr>
            </a:pPr>
            <a:r>
              <a:t>B</a:t>
            </a:r>
          </a:p>
        </p:txBody>
      </p:sp>
      <p:sp>
        <p:nvSpPr>
          <p:cNvPr id="28" name="Oval 27"/>
          <p:cNvSpPr/>
          <p:nvPr/>
        </p:nvSpPr>
        <p:spPr>
          <a:xfrm>
            <a:off x="5623560" y="3063240"/>
            <a:ext cx="475488" cy="475488"/>
          </a:xfrm>
          <a:prstGeom prst="ellipse">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200">
                <a:solidFill>
                  <a:srgbClr val="000000"/>
                </a:solidFill>
                <a:latin typeface="Arial"/>
              </a:defRPr>
            </a:pPr>
            <a:r>
              <a:t>C</a:t>
            </a:r>
          </a:p>
        </p:txBody>
      </p:sp>
      <p:sp>
        <p:nvSpPr>
          <p:cNvPr id="29" name="Oval 28"/>
          <p:cNvSpPr/>
          <p:nvPr/>
        </p:nvSpPr>
        <p:spPr>
          <a:xfrm>
            <a:off x="4846320" y="3474720"/>
            <a:ext cx="475488" cy="475488"/>
          </a:xfrm>
          <a:prstGeom prst="ellipse">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200">
                <a:solidFill>
                  <a:srgbClr val="000000"/>
                </a:solidFill>
                <a:latin typeface="Arial"/>
              </a:defRPr>
            </a:pPr>
            <a:r>
              <a:t>D</a:t>
            </a:r>
          </a:p>
        </p:txBody>
      </p:sp>
      <p:sp>
        <p:nvSpPr>
          <p:cNvPr id="30" name="TextBox 29"/>
          <p:cNvSpPr txBox="1"/>
          <p:nvPr/>
        </p:nvSpPr>
        <p:spPr>
          <a:xfrm>
            <a:off x="6263640" y="2971800"/>
            <a:ext cx="640080" cy="320040"/>
          </a:xfrm>
          <a:prstGeom prst="rect">
            <a:avLst/>
          </a:prstGeom>
          <a:noFill/>
        </p:spPr>
        <p:txBody>
          <a:bodyPr wrap="square">
            <a:spAutoFit/>
          </a:bodyPr>
          <a:lstStyle/>
          <a:p>
            <a:pPr algn="ctr">
              <a:defRPr sz="2000" b="0" i="0">
                <a:solidFill>
                  <a:srgbClr val="1F3A5F"/>
                </a:solidFill>
                <a:latin typeface="Arial"/>
              </a:defRPr>
            </a:pPr>
            <a:r>
              <a:t>→</a:t>
            </a:r>
          </a:p>
        </p:txBody>
      </p:sp>
      <p:sp>
        <p:nvSpPr>
          <p:cNvPr id="31" name="TextBox 30"/>
          <p:cNvSpPr txBox="1"/>
          <p:nvPr/>
        </p:nvSpPr>
        <p:spPr>
          <a:xfrm>
            <a:off x="6080760" y="3291840"/>
            <a:ext cx="1005840" cy="274320"/>
          </a:xfrm>
          <a:prstGeom prst="rect">
            <a:avLst/>
          </a:prstGeom>
          <a:noFill/>
        </p:spPr>
        <p:txBody>
          <a:bodyPr wrap="square">
            <a:spAutoFit/>
          </a:bodyPr>
          <a:lstStyle/>
          <a:p>
            <a:pPr algn="ctr">
              <a:defRPr sz="1100" b="0" i="0">
                <a:solidFill>
                  <a:srgbClr val="000000"/>
                </a:solidFill>
                <a:latin typeface="Arial"/>
              </a:defRPr>
            </a:pPr>
            <a:r>
              <a:t>+ (A, E)</a:t>
            </a:r>
          </a:p>
        </p:txBody>
      </p:sp>
      <p:sp>
        <p:nvSpPr>
          <p:cNvPr id="32" name="TextBox 31"/>
          <p:cNvSpPr txBox="1"/>
          <p:nvPr/>
        </p:nvSpPr>
        <p:spPr>
          <a:xfrm>
            <a:off x="7040880" y="2331720"/>
            <a:ext cx="1737360" cy="274320"/>
          </a:xfrm>
          <a:prstGeom prst="rect">
            <a:avLst/>
          </a:prstGeom>
          <a:noFill/>
        </p:spPr>
        <p:txBody>
          <a:bodyPr wrap="square">
            <a:spAutoFit/>
          </a:bodyPr>
          <a:lstStyle/>
          <a:p>
            <a:pPr algn="ctr">
              <a:defRPr sz="1100" b="0" i="0">
                <a:solidFill>
                  <a:srgbClr val="5A5A5A"/>
                </a:solidFill>
                <a:latin typeface="Arial"/>
              </a:defRPr>
            </a:pPr>
            <a:r>
              <a:t>After</a:t>
            </a:r>
          </a:p>
        </p:txBody>
      </p:sp>
      <p:cxnSp>
        <p:nvCxnSpPr>
          <p:cNvPr id="33" name="Connector 32"/>
          <p:cNvCxnSpPr/>
          <p:nvPr/>
        </p:nvCxnSpPr>
        <p:spPr>
          <a:xfrm flipV="1">
            <a:off x="7507224" y="2798063"/>
            <a:ext cx="594359" cy="137161"/>
          </a:xfrm>
          <a:prstGeom prst="line">
            <a:avLst/>
          </a:prstGeom>
          <a:ln w="1587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8101583" y="2798063"/>
            <a:ext cx="320041" cy="502921"/>
          </a:xfrm>
          <a:prstGeom prst="line">
            <a:avLst/>
          </a:prstGeom>
          <a:ln w="1587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7507224" y="2935224"/>
            <a:ext cx="914400" cy="365760"/>
          </a:xfrm>
          <a:prstGeom prst="line">
            <a:avLst/>
          </a:prstGeom>
          <a:ln w="1587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7507224" y="2935224"/>
            <a:ext cx="91440" cy="777239"/>
          </a:xfrm>
          <a:prstGeom prst="line">
            <a:avLst/>
          </a:prstGeom>
          <a:ln w="1587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7507224" y="2935224"/>
            <a:ext cx="1097280" cy="822960"/>
          </a:xfrm>
          <a:prstGeom prst="line">
            <a:avLst/>
          </a:prstGeom>
          <a:ln w="22225">
            <a:solidFill>
              <a:srgbClr val="C00000"/>
            </a:solidFill>
          </a:ln>
        </p:spPr>
        <p:style>
          <a:lnRef idx="2">
            <a:schemeClr val="accent1"/>
          </a:lnRef>
          <a:fillRef idx="0">
            <a:schemeClr val="accent1"/>
          </a:fillRef>
          <a:effectRef idx="1">
            <a:schemeClr val="accent1"/>
          </a:effectRef>
          <a:fontRef idx="minor">
            <a:schemeClr val="tx1"/>
          </a:fontRef>
        </p:style>
      </p:cxnSp>
      <p:sp>
        <p:nvSpPr>
          <p:cNvPr id="38" name="Oval 37"/>
          <p:cNvSpPr/>
          <p:nvPr/>
        </p:nvSpPr>
        <p:spPr>
          <a:xfrm>
            <a:off x="7269480" y="2697480"/>
            <a:ext cx="475488" cy="475488"/>
          </a:xfrm>
          <a:prstGeom prst="ellipse">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200">
                <a:solidFill>
                  <a:srgbClr val="000000"/>
                </a:solidFill>
                <a:latin typeface="Arial"/>
              </a:defRPr>
            </a:pPr>
            <a:r>
              <a:t>A</a:t>
            </a:r>
          </a:p>
        </p:txBody>
      </p:sp>
      <p:sp>
        <p:nvSpPr>
          <p:cNvPr id="39" name="Oval 38"/>
          <p:cNvSpPr/>
          <p:nvPr/>
        </p:nvSpPr>
        <p:spPr>
          <a:xfrm>
            <a:off x="7863840" y="2560320"/>
            <a:ext cx="475488" cy="475488"/>
          </a:xfrm>
          <a:prstGeom prst="ellipse">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200">
                <a:solidFill>
                  <a:srgbClr val="000000"/>
                </a:solidFill>
                <a:latin typeface="Arial"/>
              </a:defRPr>
            </a:pPr>
            <a:r>
              <a:t>B</a:t>
            </a:r>
          </a:p>
        </p:txBody>
      </p:sp>
      <p:sp>
        <p:nvSpPr>
          <p:cNvPr id="40" name="Oval 39"/>
          <p:cNvSpPr/>
          <p:nvPr/>
        </p:nvSpPr>
        <p:spPr>
          <a:xfrm>
            <a:off x="8183879" y="3063240"/>
            <a:ext cx="475488" cy="475488"/>
          </a:xfrm>
          <a:prstGeom prst="ellipse">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200">
                <a:solidFill>
                  <a:srgbClr val="000000"/>
                </a:solidFill>
                <a:latin typeface="Arial"/>
              </a:defRPr>
            </a:pPr>
            <a:r>
              <a:t>C</a:t>
            </a:r>
          </a:p>
        </p:txBody>
      </p:sp>
      <p:sp>
        <p:nvSpPr>
          <p:cNvPr id="41" name="Oval 40"/>
          <p:cNvSpPr/>
          <p:nvPr/>
        </p:nvSpPr>
        <p:spPr>
          <a:xfrm>
            <a:off x="7360920" y="3474720"/>
            <a:ext cx="475488" cy="475488"/>
          </a:xfrm>
          <a:prstGeom prst="ellipse">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200">
                <a:solidFill>
                  <a:srgbClr val="000000"/>
                </a:solidFill>
                <a:latin typeface="Arial"/>
              </a:defRPr>
            </a:pPr>
            <a:r>
              <a:t>D</a:t>
            </a:r>
          </a:p>
        </p:txBody>
      </p:sp>
      <p:sp>
        <p:nvSpPr>
          <p:cNvPr id="42" name="Oval 41"/>
          <p:cNvSpPr/>
          <p:nvPr/>
        </p:nvSpPr>
        <p:spPr>
          <a:xfrm>
            <a:off x="8366760" y="3520440"/>
            <a:ext cx="475488" cy="475488"/>
          </a:xfrm>
          <a:prstGeom prst="ellipse">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200">
                <a:solidFill>
                  <a:srgbClr val="000000"/>
                </a:solidFill>
                <a:latin typeface="Arial"/>
              </a:defRPr>
            </a:pPr>
            <a:r>
              <a:t>E</a:t>
            </a:r>
          </a:p>
        </p:txBody>
      </p:sp>
      <p:sp>
        <p:nvSpPr>
          <p:cNvPr id="43" name="TextBox 42"/>
          <p:cNvSpPr txBox="1"/>
          <p:nvPr/>
        </p:nvSpPr>
        <p:spPr>
          <a:xfrm>
            <a:off x="4480560" y="4206240"/>
            <a:ext cx="4297680" cy="274320"/>
          </a:xfrm>
          <a:prstGeom prst="rect">
            <a:avLst/>
          </a:prstGeom>
          <a:noFill/>
        </p:spPr>
        <p:txBody>
          <a:bodyPr wrap="square">
            <a:spAutoFit/>
          </a:bodyPr>
          <a:lstStyle/>
          <a:p>
            <a:pPr algn="l">
              <a:defRPr sz="1100" b="0" i="0">
                <a:solidFill>
                  <a:srgbClr val="5A5A5A"/>
                </a:solidFill>
                <a:latin typeface="Arial"/>
              </a:defRPr>
            </a:pPr>
            <a:r>
              <a:t>Edge (A, E) inserted; deletions analogous.</a:t>
            </a:r>
          </a:p>
        </p:txBody>
      </p:sp>
      <p:cxnSp>
        <p:nvCxnSpPr>
          <p:cNvPr id="44" name="Connector 43"/>
          <p:cNvCxnSpPr/>
          <p:nvPr/>
        </p:nvCxnSpPr>
        <p:spPr>
          <a:xfrm>
            <a:off x="9052560" y="1920240"/>
            <a:ext cx="0" cy="2651760"/>
          </a:xfrm>
          <a:prstGeom prst="line">
            <a:avLst/>
          </a:prstGeom>
          <a:ln w="9525">
            <a:solidFill>
              <a:srgbClr val="BFBFBF"/>
            </a:solidFill>
          </a:ln>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9326880" y="1920240"/>
            <a:ext cx="2286000" cy="320040"/>
          </a:xfrm>
          <a:prstGeom prst="rect">
            <a:avLst/>
          </a:prstGeom>
          <a:noFill/>
        </p:spPr>
        <p:txBody>
          <a:bodyPr wrap="square">
            <a:spAutoFit/>
          </a:bodyPr>
          <a:lstStyle/>
          <a:p>
            <a:pPr algn="l">
              <a:defRPr sz="1400" b="1" i="0">
                <a:solidFill>
                  <a:srgbClr val="000000"/>
                </a:solidFill>
                <a:latin typeface="Arial"/>
              </a:defRPr>
            </a:pPr>
            <a:r>
              <a:t>Typical examples</a:t>
            </a:r>
          </a:p>
        </p:txBody>
      </p:sp>
      <p:sp>
        <p:nvSpPr>
          <p:cNvPr id="46" name="TextBox 45"/>
          <p:cNvSpPr txBox="1"/>
          <p:nvPr/>
        </p:nvSpPr>
        <p:spPr>
          <a:xfrm>
            <a:off x="9326880" y="2377440"/>
            <a:ext cx="2286000" cy="1828800"/>
          </a:xfrm>
          <a:prstGeom prst="rect">
            <a:avLst/>
          </a:prstGeom>
          <a:noFill/>
        </p:spPr>
        <p:txBody>
          <a:bodyPr wrap="square">
            <a:spAutoFit/>
          </a:bodyPr>
          <a:lstStyle/>
          <a:p>
            <a:pPr algn="l">
              <a:spcBef>
                <a:spcPts val="0"/>
              </a:spcBef>
              <a:spcAft>
                <a:spcPts val="400"/>
              </a:spcAft>
            </a:pPr>
            <a:r>
              <a:rPr sz="1200">
                <a:solidFill>
                  <a:srgbClr val="000000"/>
                </a:solidFill>
                <a:latin typeface="Arial"/>
              </a:rPr>
              <a:t>•  Social networks</a:t>
            </a:r>
          </a:p>
          <a:p>
            <a:pPr algn="l">
              <a:spcBef>
                <a:spcPts val="0"/>
              </a:spcBef>
              <a:spcAft>
                <a:spcPts val="400"/>
              </a:spcAft>
            </a:pPr>
            <a:r>
              <a:rPr sz="1200">
                <a:solidFill>
                  <a:srgbClr val="000000"/>
                </a:solidFill>
                <a:latin typeface="Arial"/>
              </a:rPr>
              <a:t>•  Road networks</a:t>
            </a:r>
          </a:p>
          <a:p>
            <a:pPr algn="l">
              <a:spcBef>
                <a:spcPts val="0"/>
              </a:spcBef>
              <a:spcAft>
                <a:spcPts val="400"/>
              </a:spcAft>
            </a:pPr>
            <a:r>
              <a:rPr sz="1200">
                <a:solidFill>
                  <a:srgbClr val="000000"/>
                </a:solidFill>
                <a:latin typeface="Arial"/>
              </a:rPr>
              <a:t>•  Communication networks</a:t>
            </a:r>
          </a:p>
          <a:p>
            <a:pPr algn="l">
              <a:spcBef>
                <a:spcPts val="0"/>
              </a:spcBef>
              <a:spcAft>
                <a:spcPts val="400"/>
              </a:spcAft>
            </a:pPr>
            <a:r>
              <a:rPr sz="1200">
                <a:solidFill>
                  <a:srgbClr val="000000"/>
                </a:solidFill>
                <a:latin typeface="Arial"/>
              </a:rPr>
              <a:t>•  Recommendation graphs</a:t>
            </a:r>
          </a:p>
        </p:txBody>
      </p:sp>
      <p:sp>
        <p:nvSpPr>
          <p:cNvPr id="47" name="TextBox 46"/>
          <p:cNvSpPr txBox="1"/>
          <p:nvPr/>
        </p:nvSpPr>
        <p:spPr>
          <a:xfrm>
            <a:off x="548640" y="5029200"/>
            <a:ext cx="11091672" cy="822960"/>
          </a:xfrm>
          <a:prstGeom prst="rect">
            <a:avLst/>
          </a:prstGeom>
          <a:noFill/>
        </p:spPr>
        <p:txBody>
          <a:bodyPr wrap="square">
            <a:spAutoFit/>
          </a:bodyPr>
          <a:lstStyle/>
          <a:p>
            <a:pPr algn="l">
              <a:defRPr sz="1300" b="0" i="0">
                <a:solidFill>
                  <a:srgbClr val="000000"/>
                </a:solidFill>
                <a:latin typeface="Arial"/>
              </a:defRPr>
            </a:pPr>
            <a:r>
              <a:t>Key idea:  unlike static analysis, the graph is updated continuously as new data arrives, e.g. new friendships formed or roads closed.</a:t>
            </a:r>
          </a:p>
        </p:txBody>
      </p:sp>
      <p:cxnSp>
        <p:nvCxnSpPr>
          <p:cNvPr id="48" name="Connector 47"/>
          <p:cNvCxnSpPr/>
          <p:nvPr/>
        </p:nvCxnSpPr>
        <p:spPr>
          <a:xfrm>
            <a:off x="548640" y="4892040"/>
            <a:ext cx="11091672" cy="0"/>
          </a:xfrm>
          <a:prstGeom prst="line">
            <a:avLst/>
          </a:prstGeom>
          <a:ln w="9525">
            <a:solidFill>
              <a:srgbClr val="BFBFBF"/>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228600"/>
            <a:ext cx="11064240" cy="274320"/>
          </a:xfrm>
          <a:prstGeom prst="rect">
            <a:avLst/>
          </a:prstGeom>
          <a:noFill/>
        </p:spPr>
        <p:txBody>
          <a:bodyPr wrap="square">
            <a:spAutoFit/>
          </a:bodyPr>
          <a:lstStyle/>
          <a:p>
            <a:pPr algn="l">
              <a:defRPr sz="1100" b="0" i="0">
                <a:solidFill>
                  <a:srgbClr val="5A5A5A"/>
                </a:solidFill>
                <a:latin typeface="Arial"/>
              </a:defRPr>
            </a:pPr>
            <a:r>
              <a:t>2  —  PROBLEM</a:t>
            </a:r>
          </a:p>
        </p:txBody>
      </p:sp>
      <p:sp>
        <p:nvSpPr>
          <p:cNvPr id="3" name="TextBox 2"/>
          <p:cNvSpPr txBox="1"/>
          <p:nvPr/>
        </p:nvSpPr>
        <p:spPr>
          <a:xfrm>
            <a:off x="548640" y="457200"/>
            <a:ext cx="11064240" cy="523220"/>
          </a:xfrm>
          <a:prstGeom prst="rect">
            <a:avLst/>
          </a:prstGeom>
          <a:noFill/>
        </p:spPr>
        <p:txBody>
          <a:bodyPr wrap="square">
            <a:spAutoFit/>
          </a:bodyPr>
          <a:lstStyle/>
          <a:p>
            <a:pPr algn="l">
              <a:defRPr sz="2800" b="1" i="0">
                <a:solidFill>
                  <a:srgbClr val="1F3A5F"/>
                </a:solidFill>
                <a:latin typeface="Arial"/>
              </a:defRPr>
            </a:pPr>
            <a:r>
              <a:rPr lang="en-IN" dirty="0"/>
              <a:t>Why concurrent updates are a problem?</a:t>
            </a:r>
            <a:endParaRPr dirty="0"/>
          </a:p>
        </p:txBody>
      </p:sp>
      <p:cxnSp>
        <p:nvCxnSpPr>
          <p:cNvPr id="4" name="Connector 3"/>
          <p:cNvCxnSpPr/>
          <p:nvPr/>
        </p:nvCxnSpPr>
        <p:spPr>
          <a:xfrm>
            <a:off x="548640" y="1143000"/>
            <a:ext cx="11091672" cy="0"/>
          </a:xfrm>
          <a:prstGeom prst="line">
            <a:avLst/>
          </a:prstGeom>
          <a:ln w="19050">
            <a:solidFill>
              <a:srgbClr val="1F3A5F"/>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548640" y="6446520"/>
            <a:ext cx="11091672" cy="0"/>
          </a:xfrm>
          <a:prstGeom prst="line">
            <a:avLst/>
          </a:prstGeom>
          <a:ln w="9525">
            <a:solidFill>
              <a:srgbClr val="BFBFBF"/>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48640" y="6473952"/>
            <a:ext cx="7315200" cy="228600"/>
          </a:xfrm>
          <a:prstGeom prst="rect">
            <a:avLst/>
          </a:prstGeom>
          <a:noFill/>
        </p:spPr>
        <p:txBody>
          <a:bodyPr wrap="square">
            <a:spAutoFit/>
          </a:bodyPr>
          <a:lstStyle/>
          <a:p>
            <a:pPr algn="l">
              <a:defRPr sz="900" b="0" i="0">
                <a:solidFill>
                  <a:srgbClr val="5A5A5A"/>
                </a:solidFill>
                <a:latin typeface="Arial"/>
              </a:defRPr>
            </a:pPr>
            <a:r>
              <a:t>General-Purpose STM for Concurrent Dynamic Graph Updates on GPUs</a:t>
            </a:r>
          </a:p>
        </p:txBody>
      </p:sp>
      <p:sp>
        <p:nvSpPr>
          <p:cNvPr id="7" name="TextBox 6"/>
          <p:cNvSpPr txBox="1"/>
          <p:nvPr/>
        </p:nvSpPr>
        <p:spPr>
          <a:xfrm>
            <a:off x="10972800" y="6473952"/>
            <a:ext cx="640080" cy="228600"/>
          </a:xfrm>
          <a:prstGeom prst="rect">
            <a:avLst/>
          </a:prstGeom>
          <a:noFill/>
        </p:spPr>
        <p:txBody>
          <a:bodyPr wrap="square">
            <a:spAutoFit/>
          </a:bodyPr>
          <a:lstStyle/>
          <a:p>
            <a:pPr algn="r">
              <a:defRPr sz="900" b="0" i="0">
                <a:solidFill>
                  <a:srgbClr val="5A5A5A"/>
                </a:solidFill>
                <a:latin typeface="Arial"/>
              </a:defRPr>
            </a:pPr>
            <a:r>
              <a:t>2</a:t>
            </a:r>
          </a:p>
        </p:txBody>
      </p:sp>
      <p:sp>
        <p:nvSpPr>
          <p:cNvPr id="8" name="TextBox 7"/>
          <p:cNvSpPr txBox="1"/>
          <p:nvPr/>
        </p:nvSpPr>
        <p:spPr>
          <a:xfrm>
            <a:off x="548640" y="1325880"/>
            <a:ext cx="11091672" cy="292388"/>
          </a:xfrm>
          <a:prstGeom prst="rect">
            <a:avLst/>
          </a:prstGeom>
          <a:noFill/>
        </p:spPr>
        <p:txBody>
          <a:bodyPr wrap="square">
            <a:spAutoFit/>
          </a:bodyPr>
          <a:lstStyle/>
          <a:p>
            <a:pPr algn="l">
              <a:defRPr sz="1300" b="0" i="1">
                <a:solidFill>
                  <a:srgbClr val="333333"/>
                </a:solidFill>
                <a:latin typeface="Arial"/>
              </a:defRPr>
            </a:pPr>
            <a:r>
              <a:rPr dirty="0"/>
              <a:t>Consider </a:t>
            </a:r>
            <a:r>
              <a:rPr lang="en-IN" dirty="0"/>
              <a:t>multiple</a:t>
            </a:r>
            <a:r>
              <a:rPr dirty="0"/>
              <a:t> threads applying updates concurrently, many targeting the same vertex.</a:t>
            </a:r>
          </a:p>
        </p:txBody>
      </p:sp>
      <p:sp>
        <p:nvSpPr>
          <p:cNvPr id="9" name="TextBox 8"/>
          <p:cNvSpPr txBox="1"/>
          <p:nvPr/>
        </p:nvSpPr>
        <p:spPr>
          <a:xfrm>
            <a:off x="1590040" y="1907827"/>
            <a:ext cx="3474720" cy="320040"/>
          </a:xfrm>
          <a:prstGeom prst="rect">
            <a:avLst/>
          </a:prstGeom>
          <a:noFill/>
        </p:spPr>
        <p:txBody>
          <a:bodyPr wrap="square">
            <a:spAutoFit/>
          </a:bodyPr>
          <a:lstStyle/>
          <a:p>
            <a:pPr algn="l">
              <a:defRPr sz="1400" b="1" i="0">
                <a:solidFill>
                  <a:srgbClr val="000000"/>
                </a:solidFill>
                <a:latin typeface="Arial"/>
              </a:defRPr>
            </a:pPr>
            <a:r>
              <a:t>Concurrent updates to vertex A</a:t>
            </a:r>
          </a:p>
        </p:txBody>
      </p:sp>
      <p:sp>
        <p:nvSpPr>
          <p:cNvPr id="10" name="TextBox 9"/>
          <p:cNvSpPr txBox="1"/>
          <p:nvPr/>
        </p:nvSpPr>
        <p:spPr>
          <a:xfrm>
            <a:off x="1590040" y="2319308"/>
            <a:ext cx="3017520" cy="2011680"/>
          </a:xfrm>
          <a:prstGeom prst="rect">
            <a:avLst/>
          </a:prstGeom>
          <a:noFill/>
        </p:spPr>
        <p:txBody>
          <a:bodyPr wrap="square">
            <a:spAutoFit/>
          </a:bodyPr>
          <a:lstStyle/>
          <a:p>
            <a:pPr algn="l">
              <a:spcBef>
                <a:spcPts val="0"/>
              </a:spcBef>
              <a:spcAft>
                <a:spcPts val="400"/>
              </a:spcAft>
            </a:pPr>
            <a:r>
              <a:rPr sz="1200" b="1" dirty="0">
                <a:solidFill>
                  <a:srgbClr val="000000"/>
                </a:solidFill>
                <a:latin typeface="Arial"/>
              </a:rPr>
              <a:t>•  T1: </a:t>
            </a:r>
            <a:r>
              <a:rPr sz="1200" b="0" dirty="0">
                <a:solidFill>
                  <a:srgbClr val="000000"/>
                </a:solidFill>
                <a:latin typeface="Arial"/>
              </a:rPr>
              <a:t>Insert (A, E)</a:t>
            </a:r>
          </a:p>
          <a:p>
            <a:pPr algn="l">
              <a:spcBef>
                <a:spcPts val="0"/>
              </a:spcBef>
              <a:spcAft>
                <a:spcPts val="400"/>
              </a:spcAft>
            </a:pPr>
            <a:r>
              <a:rPr sz="1200" b="1" dirty="0">
                <a:solidFill>
                  <a:srgbClr val="000000"/>
                </a:solidFill>
                <a:latin typeface="Arial"/>
              </a:rPr>
              <a:t>•  T2: </a:t>
            </a:r>
            <a:r>
              <a:rPr sz="1200" b="0" dirty="0">
                <a:solidFill>
                  <a:srgbClr val="000000"/>
                </a:solidFill>
                <a:latin typeface="Arial"/>
              </a:rPr>
              <a:t>Delete (A, B)</a:t>
            </a:r>
          </a:p>
          <a:p>
            <a:pPr algn="l">
              <a:spcBef>
                <a:spcPts val="0"/>
              </a:spcBef>
              <a:spcAft>
                <a:spcPts val="400"/>
              </a:spcAft>
            </a:pPr>
            <a:r>
              <a:rPr sz="1200" b="1" dirty="0">
                <a:solidFill>
                  <a:srgbClr val="000000"/>
                </a:solidFill>
                <a:latin typeface="Arial"/>
              </a:rPr>
              <a:t>•  T3: </a:t>
            </a:r>
            <a:r>
              <a:rPr sz="1200" b="0" dirty="0">
                <a:solidFill>
                  <a:srgbClr val="000000"/>
                </a:solidFill>
                <a:latin typeface="Arial"/>
              </a:rPr>
              <a:t>Insert (A, F)</a:t>
            </a:r>
          </a:p>
          <a:p>
            <a:pPr algn="l">
              <a:spcBef>
                <a:spcPts val="0"/>
              </a:spcBef>
              <a:spcAft>
                <a:spcPts val="400"/>
              </a:spcAft>
            </a:pPr>
            <a:r>
              <a:rPr sz="1200" b="1" dirty="0">
                <a:solidFill>
                  <a:srgbClr val="000000"/>
                </a:solidFill>
                <a:latin typeface="Arial"/>
              </a:rPr>
              <a:t>•  T4: </a:t>
            </a:r>
            <a:r>
              <a:rPr sz="1200" b="0" dirty="0">
                <a:solidFill>
                  <a:srgbClr val="000000"/>
                </a:solidFill>
                <a:latin typeface="Arial"/>
              </a:rPr>
              <a:t>Insert (A, G)</a:t>
            </a:r>
          </a:p>
          <a:p>
            <a:pPr algn="l">
              <a:spcBef>
                <a:spcPts val="0"/>
              </a:spcBef>
              <a:spcAft>
                <a:spcPts val="400"/>
              </a:spcAft>
            </a:pPr>
            <a:r>
              <a:rPr sz="1200" b="1" dirty="0">
                <a:solidFill>
                  <a:srgbClr val="000000"/>
                </a:solidFill>
                <a:latin typeface="Arial"/>
              </a:rPr>
              <a:t>•  T5: </a:t>
            </a:r>
            <a:r>
              <a:rPr sz="1200" b="0" dirty="0">
                <a:solidFill>
                  <a:srgbClr val="000000"/>
                </a:solidFill>
                <a:latin typeface="Arial"/>
              </a:rPr>
              <a:t>Delete (A, C)  ...</a:t>
            </a:r>
          </a:p>
        </p:txBody>
      </p:sp>
      <p:sp>
        <p:nvSpPr>
          <p:cNvPr id="11" name="Rounded Rectangle 10"/>
          <p:cNvSpPr/>
          <p:nvPr/>
        </p:nvSpPr>
        <p:spPr>
          <a:xfrm>
            <a:off x="4790439" y="2685068"/>
            <a:ext cx="1554480" cy="1005840"/>
          </a:xfrm>
          <a:prstGeom prst="roundRect">
            <a:avLst/>
          </a:prstGeom>
          <a:solidFill>
            <a:srgbClr val="FFFFFF"/>
          </a:solidFill>
          <a:ln w="19050">
            <a:solidFill>
              <a:srgbClr val="1F3A5F"/>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200" b="1">
                <a:solidFill>
                  <a:srgbClr val="1F3A5F"/>
                </a:solidFill>
                <a:latin typeface="Arial"/>
              </a:defRPr>
            </a:pPr>
            <a:r>
              <a:t>Vertex A</a:t>
            </a:r>
            <a:br/>
            <a:r>
              <a:t>adjacency</a:t>
            </a:r>
          </a:p>
        </p:txBody>
      </p:sp>
      <p:cxnSp>
        <p:nvCxnSpPr>
          <p:cNvPr id="12" name="Connector 11"/>
          <p:cNvCxnSpPr/>
          <p:nvPr/>
        </p:nvCxnSpPr>
        <p:spPr>
          <a:xfrm>
            <a:off x="4607560" y="2456468"/>
            <a:ext cx="182879" cy="731520"/>
          </a:xfrm>
          <a:prstGeom prst="line">
            <a:avLst/>
          </a:prstGeom>
          <a:ln w="12700">
            <a:solidFill>
              <a:srgbClr val="5A5A5A"/>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4607560" y="2822228"/>
            <a:ext cx="182879" cy="365760"/>
          </a:xfrm>
          <a:prstGeom prst="line">
            <a:avLst/>
          </a:prstGeom>
          <a:ln w="12700">
            <a:solidFill>
              <a:srgbClr val="5A5A5A"/>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4607560" y="3142268"/>
            <a:ext cx="182879" cy="45720"/>
          </a:xfrm>
          <a:prstGeom prst="line">
            <a:avLst/>
          </a:prstGeom>
          <a:ln w="12700">
            <a:solidFill>
              <a:srgbClr val="5A5A5A"/>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V="1">
            <a:off x="4607560" y="3187988"/>
            <a:ext cx="182879" cy="274320"/>
          </a:xfrm>
          <a:prstGeom prst="line">
            <a:avLst/>
          </a:prstGeom>
          <a:ln w="12700">
            <a:solidFill>
              <a:srgbClr val="5A5A5A"/>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V="1">
            <a:off x="4607560" y="3187988"/>
            <a:ext cx="182879" cy="594359"/>
          </a:xfrm>
          <a:prstGeom prst="line">
            <a:avLst/>
          </a:prstGeom>
          <a:ln w="12700">
            <a:solidFill>
              <a:srgbClr val="5A5A5A"/>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4699000" y="3828068"/>
            <a:ext cx="1737360" cy="274320"/>
          </a:xfrm>
          <a:prstGeom prst="rect">
            <a:avLst/>
          </a:prstGeom>
          <a:noFill/>
        </p:spPr>
        <p:txBody>
          <a:bodyPr wrap="square">
            <a:spAutoFit/>
          </a:bodyPr>
          <a:lstStyle/>
          <a:p>
            <a:pPr algn="l">
              <a:defRPr sz="1100" b="0" i="0">
                <a:solidFill>
                  <a:srgbClr val="5A5A5A"/>
                </a:solidFill>
                <a:latin typeface="Arial"/>
              </a:defRPr>
            </a:pPr>
            <a:r>
              <a:t>shared adjacency structure</a:t>
            </a:r>
          </a:p>
        </p:txBody>
      </p:sp>
      <p:cxnSp>
        <p:nvCxnSpPr>
          <p:cNvPr id="18" name="Connector 17"/>
          <p:cNvCxnSpPr/>
          <p:nvPr/>
        </p:nvCxnSpPr>
        <p:spPr>
          <a:xfrm>
            <a:off x="6664960" y="1907827"/>
            <a:ext cx="0" cy="2697481"/>
          </a:xfrm>
          <a:prstGeom prst="line">
            <a:avLst/>
          </a:prstGeom>
          <a:ln w="9525">
            <a:solidFill>
              <a:srgbClr val="BFBFBF"/>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6985000" y="1907827"/>
            <a:ext cx="2743200" cy="320040"/>
          </a:xfrm>
          <a:prstGeom prst="rect">
            <a:avLst/>
          </a:prstGeom>
          <a:noFill/>
        </p:spPr>
        <p:txBody>
          <a:bodyPr wrap="square">
            <a:spAutoFit/>
          </a:bodyPr>
          <a:lstStyle/>
          <a:p>
            <a:pPr algn="l">
              <a:defRPr sz="1400" b="1" i="0">
                <a:solidFill>
                  <a:srgbClr val="000000"/>
                </a:solidFill>
                <a:latin typeface="Arial"/>
              </a:defRPr>
            </a:pPr>
            <a:r>
              <a:t>Without synchronisation</a:t>
            </a:r>
          </a:p>
        </p:txBody>
      </p:sp>
      <p:sp>
        <p:nvSpPr>
          <p:cNvPr id="20" name="TextBox 19"/>
          <p:cNvSpPr txBox="1"/>
          <p:nvPr/>
        </p:nvSpPr>
        <p:spPr>
          <a:xfrm>
            <a:off x="6985000" y="2319308"/>
            <a:ext cx="2743200" cy="2286000"/>
          </a:xfrm>
          <a:prstGeom prst="rect">
            <a:avLst/>
          </a:prstGeom>
          <a:noFill/>
        </p:spPr>
        <p:txBody>
          <a:bodyPr wrap="square">
            <a:spAutoFit/>
          </a:bodyPr>
          <a:lstStyle/>
          <a:p>
            <a:pPr algn="l">
              <a:spcBef>
                <a:spcPts val="0"/>
              </a:spcBef>
              <a:spcAft>
                <a:spcPts val="400"/>
              </a:spcAft>
            </a:pPr>
            <a:r>
              <a:rPr sz="1200" b="1" dirty="0">
                <a:solidFill>
                  <a:srgbClr val="000000"/>
                </a:solidFill>
                <a:latin typeface="Arial"/>
              </a:rPr>
              <a:t>•  Race conditions</a:t>
            </a:r>
            <a:r>
              <a:rPr sz="1200" b="0" dirty="0">
                <a:solidFill>
                  <a:srgbClr val="000000"/>
                </a:solidFill>
                <a:latin typeface="Arial"/>
              </a:rPr>
              <a:t> — concurrent modification of shared state.</a:t>
            </a:r>
          </a:p>
          <a:p>
            <a:pPr algn="l">
              <a:spcBef>
                <a:spcPts val="0"/>
              </a:spcBef>
              <a:spcAft>
                <a:spcPts val="400"/>
              </a:spcAft>
            </a:pPr>
            <a:r>
              <a:rPr sz="1200" b="1" dirty="0">
                <a:solidFill>
                  <a:srgbClr val="000000"/>
                </a:solidFill>
                <a:latin typeface="Arial"/>
              </a:rPr>
              <a:t>•  Lost updates</a:t>
            </a:r>
            <a:r>
              <a:rPr sz="1200" b="0" dirty="0">
                <a:solidFill>
                  <a:srgbClr val="000000"/>
                </a:solidFill>
                <a:latin typeface="Arial"/>
              </a:rPr>
              <a:t> — one update overwrites another.</a:t>
            </a:r>
          </a:p>
          <a:p>
            <a:pPr algn="l">
              <a:spcBef>
                <a:spcPts val="0"/>
              </a:spcBef>
              <a:spcAft>
                <a:spcPts val="400"/>
              </a:spcAft>
            </a:pPr>
            <a:r>
              <a:rPr sz="1200" b="1" dirty="0">
                <a:solidFill>
                  <a:srgbClr val="000000"/>
                </a:solidFill>
                <a:latin typeface="Arial"/>
              </a:rPr>
              <a:t>•  Inconsistent state</a:t>
            </a:r>
            <a:r>
              <a:rPr sz="1200" b="0" dirty="0">
                <a:solidFill>
                  <a:srgbClr val="000000"/>
                </a:solidFill>
                <a:latin typeface="Arial"/>
              </a:rPr>
              <a:t> — result does not reflect requested updates.</a:t>
            </a:r>
          </a:p>
          <a:p>
            <a:pPr algn="l">
              <a:spcBef>
                <a:spcPts val="0"/>
              </a:spcBef>
              <a:spcAft>
                <a:spcPts val="400"/>
              </a:spcAft>
            </a:pPr>
            <a:r>
              <a:rPr sz="1200" b="1" dirty="0">
                <a:solidFill>
                  <a:srgbClr val="000000"/>
                </a:solidFill>
                <a:latin typeface="Arial"/>
              </a:rPr>
              <a:t>•  Corruption</a:t>
            </a:r>
            <a:r>
              <a:rPr sz="1200" b="0" dirty="0">
                <a:solidFill>
                  <a:srgbClr val="000000"/>
                </a:solidFill>
                <a:latin typeface="Arial"/>
              </a:rPr>
              <a:t> — structural invariants violated.</a:t>
            </a:r>
          </a:p>
        </p:txBody>
      </p:sp>
      <p:cxnSp>
        <p:nvCxnSpPr>
          <p:cNvPr id="25" name="Connector 24"/>
          <p:cNvCxnSpPr/>
          <p:nvPr/>
        </p:nvCxnSpPr>
        <p:spPr>
          <a:xfrm>
            <a:off x="548640" y="4846320"/>
            <a:ext cx="11091672" cy="0"/>
          </a:xfrm>
          <a:prstGeom prst="line">
            <a:avLst/>
          </a:prstGeom>
          <a:ln w="9525">
            <a:solidFill>
              <a:srgbClr val="BFBFBF"/>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548640" y="5029200"/>
            <a:ext cx="11091672" cy="320040"/>
          </a:xfrm>
          <a:prstGeom prst="rect">
            <a:avLst/>
          </a:prstGeom>
          <a:noFill/>
        </p:spPr>
        <p:txBody>
          <a:bodyPr wrap="square">
            <a:spAutoFit/>
          </a:bodyPr>
          <a:lstStyle/>
          <a:p>
            <a:pPr algn="ctr">
              <a:defRPr sz="1100" b="0" i="0">
                <a:solidFill>
                  <a:srgbClr val="5A5A5A"/>
                </a:solidFill>
                <a:latin typeface="Arial"/>
              </a:defRPr>
            </a:pPr>
            <a:r>
              <a:t>Research question</a:t>
            </a:r>
          </a:p>
        </p:txBody>
      </p:sp>
      <p:sp>
        <p:nvSpPr>
          <p:cNvPr id="27" name="TextBox 26"/>
          <p:cNvSpPr txBox="1"/>
          <p:nvPr/>
        </p:nvSpPr>
        <p:spPr>
          <a:xfrm>
            <a:off x="1371600" y="5349240"/>
            <a:ext cx="9445752" cy="731520"/>
          </a:xfrm>
          <a:prstGeom prst="rect">
            <a:avLst/>
          </a:prstGeom>
          <a:noFill/>
        </p:spPr>
        <p:txBody>
          <a:bodyPr wrap="square">
            <a:spAutoFit/>
          </a:bodyPr>
          <a:lstStyle/>
          <a:p>
            <a:pPr algn="ctr">
              <a:defRPr sz="1500" b="1" i="0">
                <a:solidFill>
                  <a:srgbClr val="1F3A5F"/>
                </a:solidFill>
                <a:latin typeface="Arial"/>
              </a:defRPr>
            </a:pPr>
            <a:r>
              <a:rPr dirty="0"/>
              <a:t>How can thousands of GPU threads update a shared dynamic graph concurrently while preserving correctness and performance?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228600"/>
            <a:ext cx="11064240" cy="274320"/>
          </a:xfrm>
          <a:prstGeom prst="rect">
            <a:avLst/>
          </a:prstGeom>
          <a:noFill/>
        </p:spPr>
        <p:txBody>
          <a:bodyPr wrap="square">
            <a:spAutoFit/>
          </a:bodyPr>
          <a:lstStyle/>
          <a:p>
            <a:pPr algn="l">
              <a:defRPr sz="1100" b="0" i="0">
                <a:solidFill>
                  <a:srgbClr val="5A5A5A"/>
                </a:solidFill>
                <a:latin typeface="Arial"/>
              </a:defRPr>
            </a:pPr>
            <a:r>
              <a:t>3  —  MOTIVATION</a:t>
            </a:r>
          </a:p>
        </p:txBody>
      </p:sp>
      <p:sp>
        <p:nvSpPr>
          <p:cNvPr id="3" name="TextBox 2"/>
          <p:cNvSpPr txBox="1"/>
          <p:nvPr/>
        </p:nvSpPr>
        <p:spPr>
          <a:xfrm>
            <a:off x="548640" y="457200"/>
            <a:ext cx="11064240" cy="594360"/>
          </a:xfrm>
          <a:prstGeom prst="rect">
            <a:avLst/>
          </a:prstGeom>
          <a:noFill/>
        </p:spPr>
        <p:txBody>
          <a:bodyPr wrap="square">
            <a:spAutoFit/>
          </a:bodyPr>
          <a:lstStyle/>
          <a:p>
            <a:pPr algn="l">
              <a:defRPr sz="2600" b="1" i="0">
                <a:solidFill>
                  <a:srgbClr val="1F3A5F"/>
                </a:solidFill>
                <a:latin typeface="Arial"/>
              </a:defRPr>
            </a:pPr>
            <a:r>
              <a:rPr dirty="0"/>
              <a:t>Why Do We Need a Synchronization Abstraction?</a:t>
            </a:r>
          </a:p>
        </p:txBody>
      </p:sp>
      <p:cxnSp>
        <p:nvCxnSpPr>
          <p:cNvPr id="4" name="Connector 3"/>
          <p:cNvCxnSpPr/>
          <p:nvPr/>
        </p:nvCxnSpPr>
        <p:spPr>
          <a:xfrm>
            <a:off x="548640" y="1143000"/>
            <a:ext cx="11091672" cy="0"/>
          </a:xfrm>
          <a:prstGeom prst="line">
            <a:avLst/>
          </a:prstGeom>
          <a:ln w="19050">
            <a:solidFill>
              <a:srgbClr val="1F3A5F"/>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548640" y="6446520"/>
            <a:ext cx="11091672" cy="0"/>
          </a:xfrm>
          <a:prstGeom prst="line">
            <a:avLst/>
          </a:prstGeom>
          <a:ln w="9525">
            <a:solidFill>
              <a:srgbClr val="BFBFBF"/>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48640" y="6473952"/>
            <a:ext cx="7315200" cy="228600"/>
          </a:xfrm>
          <a:prstGeom prst="rect">
            <a:avLst/>
          </a:prstGeom>
          <a:noFill/>
        </p:spPr>
        <p:txBody>
          <a:bodyPr wrap="square">
            <a:spAutoFit/>
          </a:bodyPr>
          <a:lstStyle/>
          <a:p>
            <a:pPr algn="l">
              <a:defRPr sz="900" b="0" i="0">
                <a:solidFill>
                  <a:srgbClr val="5A5A5A"/>
                </a:solidFill>
                <a:latin typeface="Arial"/>
              </a:defRPr>
            </a:pPr>
            <a:r>
              <a:rPr dirty="0"/>
              <a:t>General-Purpose STM for Concurrent Dynamic </a:t>
            </a:r>
            <a:r>
              <a:rPr dirty="0" err="1"/>
              <a:t>GraphUpdates</a:t>
            </a:r>
            <a:r>
              <a:rPr dirty="0"/>
              <a:t> on GPUs</a:t>
            </a:r>
          </a:p>
        </p:txBody>
      </p:sp>
      <p:sp>
        <p:nvSpPr>
          <p:cNvPr id="7" name="TextBox 6"/>
          <p:cNvSpPr txBox="1"/>
          <p:nvPr/>
        </p:nvSpPr>
        <p:spPr>
          <a:xfrm>
            <a:off x="10972800" y="6473952"/>
            <a:ext cx="640080" cy="228600"/>
          </a:xfrm>
          <a:prstGeom prst="rect">
            <a:avLst/>
          </a:prstGeom>
          <a:noFill/>
        </p:spPr>
        <p:txBody>
          <a:bodyPr wrap="square">
            <a:spAutoFit/>
          </a:bodyPr>
          <a:lstStyle/>
          <a:p>
            <a:pPr algn="r">
              <a:defRPr sz="900" b="0" i="0">
                <a:solidFill>
                  <a:srgbClr val="5A5A5A"/>
                </a:solidFill>
                <a:latin typeface="Arial"/>
              </a:defRPr>
            </a:pPr>
            <a:r>
              <a:t>3</a:t>
            </a:r>
          </a:p>
        </p:txBody>
      </p:sp>
      <p:sp>
        <p:nvSpPr>
          <p:cNvPr id="8" name="TextBox 7"/>
          <p:cNvSpPr txBox="1"/>
          <p:nvPr/>
        </p:nvSpPr>
        <p:spPr>
          <a:xfrm>
            <a:off x="548640" y="1325880"/>
            <a:ext cx="11091672" cy="365760"/>
          </a:xfrm>
          <a:prstGeom prst="rect">
            <a:avLst/>
          </a:prstGeom>
          <a:noFill/>
        </p:spPr>
        <p:txBody>
          <a:bodyPr wrap="square">
            <a:spAutoFit/>
          </a:bodyPr>
          <a:lstStyle/>
          <a:p>
            <a:pPr algn="l">
              <a:defRPr sz="1300" b="0" i="1">
                <a:solidFill>
                  <a:srgbClr val="333333"/>
                </a:solidFill>
                <a:latin typeface="Arial"/>
              </a:defRPr>
            </a:pPr>
            <a:r>
              <a:rPr dirty="0"/>
              <a:t>Manual GPU synchronization with locks, atomics, and CAS is complex and error-prone.</a:t>
            </a:r>
          </a:p>
        </p:txBody>
      </p:sp>
      <p:sp>
        <p:nvSpPr>
          <p:cNvPr id="20" name="TextBox 19"/>
          <p:cNvSpPr txBox="1"/>
          <p:nvPr/>
        </p:nvSpPr>
        <p:spPr>
          <a:xfrm>
            <a:off x="4114800" y="1756750"/>
            <a:ext cx="3017520" cy="320040"/>
          </a:xfrm>
          <a:prstGeom prst="rect">
            <a:avLst/>
          </a:prstGeom>
          <a:noFill/>
        </p:spPr>
        <p:txBody>
          <a:bodyPr wrap="square">
            <a:spAutoFit/>
          </a:bodyPr>
          <a:lstStyle/>
          <a:p>
            <a:pPr algn="l">
              <a:defRPr sz="1400" b="1" i="0">
                <a:solidFill>
                  <a:srgbClr val="000000"/>
                </a:solidFill>
                <a:latin typeface="Arial"/>
              </a:defRPr>
            </a:pPr>
            <a:r>
              <a:rPr u="sng" dirty="0"/>
              <a:t>Why GPUs make it harder (SIMT)</a:t>
            </a:r>
          </a:p>
        </p:txBody>
      </p:sp>
      <p:sp>
        <p:nvSpPr>
          <p:cNvPr id="21" name="TextBox 20"/>
          <p:cNvSpPr txBox="1"/>
          <p:nvPr/>
        </p:nvSpPr>
        <p:spPr>
          <a:xfrm>
            <a:off x="4160520" y="2203704"/>
            <a:ext cx="3017520" cy="320040"/>
          </a:xfrm>
          <a:prstGeom prst="rect">
            <a:avLst/>
          </a:prstGeom>
          <a:noFill/>
        </p:spPr>
        <p:txBody>
          <a:bodyPr wrap="square">
            <a:spAutoFit/>
          </a:bodyPr>
          <a:lstStyle/>
          <a:p>
            <a:pPr algn="l">
              <a:defRPr sz="1100" b="0" i="0">
                <a:solidFill>
                  <a:srgbClr val="5A5A5A"/>
                </a:solidFill>
                <a:latin typeface="Arial"/>
              </a:defRPr>
            </a:pPr>
            <a:r>
              <a:rPr dirty="0"/>
              <a:t>Developers add locks, atomics, CAS, retries, ordering.</a:t>
            </a:r>
          </a:p>
        </p:txBody>
      </p:sp>
      <p:sp>
        <p:nvSpPr>
          <p:cNvPr id="22" name="Rounded Rectangle 21"/>
          <p:cNvSpPr/>
          <p:nvPr/>
        </p:nvSpPr>
        <p:spPr>
          <a:xfrm>
            <a:off x="4297680" y="2660904"/>
            <a:ext cx="2651760" cy="292608"/>
          </a:xfrm>
          <a:prstGeom prst="roundRect">
            <a:avLst/>
          </a:prstGeom>
          <a:solidFill>
            <a:srgbClr val="FFFFFF"/>
          </a:solidFill>
          <a:ln w="12700">
            <a:solidFill>
              <a:srgbClr val="5A5A5A"/>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0">
                <a:solidFill>
                  <a:srgbClr val="000000"/>
                </a:solidFill>
                <a:latin typeface="Arial"/>
              </a:defRPr>
            </a:pPr>
            <a:r>
              <a:t>Fine-grained locks</a:t>
            </a:r>
          </a:p>
        </p:txBody>
      </p:sp>
      <p:sp>
        <p:nvSpPr>
          <p:cNvPr id="23" name="TextBox 22"/>
          <p:cNvSpPr txBox="1"/>
          <p:nvPr/>
        </p:nvSpPr>
        <p:spPr>
          <a:xfrm>
            <a:off x="5303520" y="2953512"/>
            <a:ext cx="640080" cy="182880"/>
          </a:xfrm>
          <a:prstGeom prst="rect">
            <a:avLst/>
          </a:prstGeom>
          <a:noFill/>
        </p:spPr>
        <p:txBody>
          <a:bodyPr wrap="square">
            <a:spAutoFit/>
          </a:bodyPr>
          <a:lstStyle/>
          <a:p>
            <a:pPr algn="ctr">
              <a:defRPr sz="1000" b="0" i="0">
                <a:solidFill>
                  <a:srgbClr val="5A5A5A"/>
                </a:solidFill>
                <a:latin typeface="Arial"/>
              </a:defRPr>
            </a:pPr>
            <a:r>
              <a:t>↓</a:t>
            </a:r>
          </a:p>
        </p:txBody>
      </p:sp>
      <p:sp>
        <p:nvSpPr>
          <p:cNvPr id="24" name="Rounded Rectangle 23"/>
          <p:cNvSpPr/>
          <p:nvPr/>
        </p:nvSpPr>
        <p:spPr>
          <a:xfrm>
            <a:off x="4297680" y="3136392"/>
            <a:ext cx="2651760" cy="292608"/>
          </a:xfrm>
          <a:prstGeom prst="roundRect">
            <a:avLst/>
          </a:prstGeom>
          <a:solidFill>
            <a:srgbClr val="FFFFFF"/>
          </a:solidFill>
          <a:ln w="12700">
            <a:solidFill>
              <a:srgbClr val="5A5A5A"/>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0">
                <a:solidFill>
                  <a:srgbClr val="000000"/>
                </a:solidFill>
                <a:latin typeface="Arial"/>
              </a:defRPr>
            </a:pPr>
            <a:r>
              <a:t>Warp divergence</a:t>
            </a:r>
          </a:p>
        </p:txBody>
      </p:sp>
      <p:sp>
        <p:nvSpPr>
          <p:cNvPr id="25" name="TextBox 24"/>
          <p:cNvSpPr txBox="1"/>
          <p:nvPr/>
        </p:nvSpPr>
        <p:spPr>
          <a:xfrm>
            <a:off x="5303520" y="3429000"/>
            <a:ext cx="640080" cy="182880"/>
          </a:xfrm>
          <a:prstGeom prst="rect">
            <a:avLst/>
          </a:prstGeom>
          <a:noFill/>
        </p:spPr>
        <p:txBody>
          <a:bodyPr wrap="square">
            <a:spAutoFit/>
          </a:bodyPr>
          <a:lstStyle/>
          <a:p>
            <a:pPr algn="ctr">
              <a:defRPr sz="1000" b="0" i="0">
                <a:solidFill>
                  <a:srgbClr val="5A5A5A"/>
                </a:solidFill>
                <a:latin typeface="Arial"/>
              </a:defRPr>
            </a:pPr>
            <a:r>
              <a:t>↓</a:t>
            </a:r>
          </a:p>
        </p:txBody>
      </p:sp>
      <p:sp>
        <p:nvSpPr>
          <p:cNvPr id="26" name="Rounded Rectangle 25"/>
          <p:cNvSpPr/>
          <p:nvPr/>
        </p:nvSpPr>
        <p:spPr>
          <a:xfrm>
            <a:off x="4297680" y="3611880"/>
            <a:ext cx="2651760" cy="292608"/>
          </a:xfrm>
          <a:prstGeom prst="roundRect">
            <a:avLst/>
          </a:prstGeom>
          <a:solidFill>
            <a:srgbClr val="FFFFFF"/>
          </a:solidFill>
          <a:ln w="12700">
            <a:solidFill>
              <a:srgbClr val="5A5A5A"/>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0">
                <a:solidFill>
                  <a:srgbClr val="000000"/>
                </a:solidFill>
                <a:latin typeface="Arial"/>
              </a:defRPr>
            </a:pPr>
            <a:r>
              <a:t>Deadlock / livelock risk</a:t>
            </a:r>
          </a:p>
        </p:txBody>
      </p:sp>
      <p:sp>
        <p:nvSpPr>
          <p:cNvPr id="27" name="TextBox 26"/>
          <p:cNvSpPr txBox="1"/>
          <p:nvPr/>
        </p:nvSpPr>
        <p:spPr>
          <a:xfrm>
            <a:off x="5303520" y="3904488"/>
            <a:ext cx="640080" cy="182880"/>
          </a:xfrm>
          <a:prstGeom prst="rect">
            <a:avLst/>
          </a:prstGeom>
          <a:noFill/>
        </p:spPr>
        <p:txBody>
          <a:bodyPr wrap="square">
            <a:spAutoFit/>
          </a:bodyPr>
          <a:lstStyle/>
          <a:p>
            <a:pPr algn="ctr">
              <a:defRPr sz="1000" b="0" i="0">
                <a:solidFill>
                  <a:srgbClr val="5A5A5A"/>
                </a:solidFill>
                <a:latin typeface="Arial"/>
              </a:defRPr>
            </a:pPr>
            <a:r>
              <a:t>↓</a:t>
            </a:r>
          </a:p>
        </p:txBody>
      </p:sp>
      <p:sp>
        <p:nvSpPr>
          <p:cNvPr id="28" name="Rounded Rectangle 27"/>
          <p:cNvSpPr/>
          <p:nvPr/>
        </p:nvSpPr>
        <p:spPr>
          <a:xfrm>
            <a:off x="4297680" y="4087368"/>
            <a:ext cx="2651760" cy="292608"/>
          </a:xfrm>
          <a:prstGeom prst="roundRect">
            <a:avLst/>
          </a:prstGeom>
          <a:solidFill>
            <a:srgbClr val="FFFFFF"/>
          </a:solidFill>
          <a:ln w="12700">
            <a:solidFill>
              <a:srgbClr val="5A5A5A"/>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0">
                <a:solidFill>
                  <a:srgbClr val="000000"/>
                </a:solidFill>
                <a:latin typeface="Arial"/>
              </a:defRPr>
            </a:pPr>
            <a:r>
              <a:t>Complex logic</a:t>
            </a:r>
          </a:p>
        </p:txBody>
      </p:sp>
      <p:sp>
        <p:nvSpPr>
          <p:cNvPr id="29" name="TextBox 28"/>
          <p:cNvSpPr txBox="1"/>
          <p:nvPr/>
        </p:nvSpPr>
        <p:spPr>
          <a:xfrm>
            <a:off x="5303520" y="4379976"/>
            <a:ext cx="640080" cy="182880"/>
          </a:xfrm>
          <a:prstGeom prst="rect">
            <a:avLst/>
          </a:prstGeom>
          <a:noFill/>
        </p:spPr>
        <p:txBody>
          <a:bodyPr wrap="square">
            <a:spAutoFit/>
          </a:bodyPr>
          <a:lstStyle/>
          <a:p>
            <a:pPr algn="ctr">
              <a:defRPr sz="1000" b="0" i="0">
                <a:solidFill>
                  <a:srgbClr val="5A5A5A"/>
                </a:solidFill>
                <a:latin typeface="Arial"/>
              </a:defRPr>
            </a:pPr>
            <a:r>
              <a:t>↓</a:t>
            </a:r>
          </a:p>
        </p:txBody>
      </p:sp>
      <p:sp>
        <p:nvSpPr>
          <p:cNvPr id="30" name="Rounded Rectangle 29"/>
          <p:cNvSpPr/>
          <p:nvPr/>
        </p:nvSpPr>
        <p:spPr>
          <a:xfrm>
            <a:off x="4297680" y="4562856"/>
            <a:ext cx="2651760" cy="292608"/>
          </a:xfrm>
          <a:prstGeom prst="roundRect">
            <a:avLst/>
          </a:prstGeom>
          <a:solidFill>
            <a:srgbClr val="FFFFFF"/>
          </a:solidFill>
          <a:ln w="15875">
            <a:solidFill>
              <a:srgbClr val="1F3A5F"/>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1F3A5F"/>
                </a:solidFill>
                <a:latin typeface="Arial"/>
              </a:defRPr>
            </a:pPr>
            <a:r>
              <a:t>Concurrency bugs</a:t>
            </a:r>
          </a:p>
        </p:txBody>
      </p:sp>
      <p:sp>
        <p:nvSpPr>
          <p:cNvPr id="32" name="TextBox 31"/>
          <p:cNvSpPr txBox="1"/>
          <p:nvPr/>
        </p:nvSpPr>
        <p:spPr>
          <a:xfrm>
            <a:off x="8321040" y="1874519"/>
            <a:ext cx="3291840" cy="320040"/>
          </a:xfrm>
          <a:prstGeom prst="rect">
            <a:avLst/>
          </a:prstGeom>
          <a:noFill/>
        </p:spPr>
        <p:txBody>
          <a:bodyPr wrap="square">
            <a:spAutoFit/>
          </a:bodyPr>
          <a:lstStyle/>
          <a:p>
            <a:pPr algn="l">
              <a:defRPr sz="1400" b="1" i="0">
                <a:solidFill>
                  <a:srgbClr val="000000"/>
                </a:solidFill>
                <a:latin typeface="Arial"/>
              </a:defRPr>
            </a:pPr>
            <a:r>
              <a:rPr lang="en-IN" dirty="0"/>
              <a:t>Core trade-off</a:t>
            </a:r>
          </a:p>
        </p:txBody>
      </p:sp>
      <p:sp>
        <p:nvSpPr>
          <p:cNvPr id="33" name="Rounded Rectangle 32"/>
          <p:cNvSpPr/>
          <p:nvPr/>
        </p:nvSpPr>
        <p:spPr>
          <a:xfrm>
            <a:off x="8321040" y="2286000"/>
            <a:ext cx="3291840" cy="1051560"/>
          </a:xfrm>
          <a:prstGeom prst="roundRect">
            <a:avLst/>
          </a:prstGeom>
          <a:solidFill>
            <a:srgbClr val="FFFFFF"/>
          </a:solidFill>
          <a:ln w="15875">
            <a:solidFill>
              <a:srgbClr val="5A5A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8458200" y="2359152"/>
            <a:ext cx="3017520" cy="292608"/>
          </a:xfrm>
          <a:prstGeom prst="rect">
            <a:avLst/>
          </a:prstGeom>
          <a:noFill/>
        </p:spPr>
        <p:txBody>
          <a:bodyPr wrap="square">
            <a:spAutoFit/>
          </a:bodyPr>
          <a:lstStyle/>
          <a:p>
            <a:pPr algn="l">
              <a:defRPr sz="1200" b="1" i="0">
                <a:solidFill>
                  <a:srgbClr val="000000"/>
                </a:solidFill>
                <a:latin typeface="Arial"/>
              </a:defRPr>
            </a:pPr>
            <a:r>
              <a:rPr dirty="0"/>
              <a:t>Specialized synchronization</a:t>
            </a:r>
          </a:p>
        </p:txBody>
      </p:sp>
      <p:cxnSp>
        <p:nvCxnSpPr>
          <p:cNvPr id="35" name="Connector 34"/>
          <p:cNvCxnSpPr/>
          <p:nvPr/>
        </p:nvCxnSpPr>
        <p:spPr>
          <a:xfrm>
            <a:off x="8458200" y="2670048"/>
            <a:ext cx="3017519" cy="0"/>
          </a:xfrm>
          <a:prstGeom prst="line">
            <a:avLst/>
          </a:prstGeom>
          <a:ln w="9525">
            <a:solidFill>
              <a:srgbClr val="BFBFBF"/>
            </a:solidFill>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8458200" y="2743200"/>
            <a:ext cx="3017520" cy="502919"/>
          </a:xfrm>
          <a:prstGeom prst="rect">
            <a:avLst/>
          </a:prstGeom>
          <a:noFill/>
        </p:spPr>
        <p:txBody>
          <a:bodyPr wrap="square">
            <a:spAutoFit/>
          </a:bodyPr>
          <a:lstStyle/>
          <a:p>
            <a:pPr algn="l">
              <a:spcBef>
                <a:spcPts val="0"/>
              </a:spcBef>
              <a:spcAft>
                <a:spcPts val="100"/>
              </a:spcAft>
            </a:pPr>
            <a:r>
              <a:rPr sz="1100">
                <a:solidFill>
                  <a:srgbClr val="000000"/>
                </a:solidFill>
                <a:latin typeface="Arial"/>
              </a:rPr>
              <a:t>•  High performance</a:t>
            </a:r>
          </a:p>
          <a:p>
            <a:pPr algn="l">
              <a:spcBef>
                <a:spcPts val="0"/>
              </a:spcBef>
              <a:spcAft>
                <a:spcPts val="100"/>
              </a:spcAft>
            </a:pPr>
            <a:r>
              <a:rPr sz="1100">
                <a:solidFill>
                  <a:srgbClr val="000000"/>
                </a:solidFill>
                <a:latin typeface="Arial"/>
              </a:rPr>
              <a:t>•  High complexity</a:t>
            </a:r>
          </a:p>
          <a:p>
            <a:pPr algn="l">
              <a:spcBef>
                <a:spcPts val="0"/>
              </a:spcBef>
              <a:spcAft>
                <a:spcPts val="100"/>
              </a:spcAft>
            </a:pPr>
            <a:r>
              <a:rPr sz="1100">
                <a:solidFill>
                  <a:srgbClr val="000000"/>
                </a:solidFill>
                <a:latin typeface="Arial"/>
              </a:rPr>
              <a:t>•  Error-prone</a:t>
            </a:r>
          </a:p>
        </p:txBody>
      </p:sp>
      <p:sp>
        <p:nvSpPr>
          <p:cNvPr id="37" name="TextBox 36"/>
          <p:cNvSpPr txBox="1"/>
          <p:nvPr/>
        </p:nvSpPr>
        <p:spPr>
          <a:xfrm>
            <a:off x="9601200" y="3337560"/>
            <a:ext cx="731520" cy="274320"/>
          </a:xfrm>
          <a:prstGeom prst="rect">
            <a:avLst/>
          </a:prstGeom>
          <a:noFill/>
        </p:spPr>
        <p:txBody>
          <a:bodyPr wrap="square">
            <a:spAutoFit/>
          </a:bodyPr>
          <a:lstStyle/>
          <a:p>
            <a:pPr algn="ctr">
              <a:defRPr sz="1100" b="1" i="0">
                <a:solidFill>
                  <a:srgbClr val="1F3A5F"/>
                </a:solidFill>
                <a:latin typeface="Arial"/>
              </a:defRPr>
            </a:pPr>
            <a:r>
              <a:t>↓  Goal</a:t>
            </a:r>
          </a:p>
        </p:txBody>
      </p:sp>
      <p:sp>
        <p:nvSpPr>
          <p:cNvPr id="38" name="Rounded Rectangle 37"/>
          <p:cNvSpPr/>
          <p:nvPr/>
        </p:nvSpPr>
        <p:spPr>
          <a:xfrm>
            <a:off x="8321040" y="3657600"/>
            <a:ext cx="3291840" cy="960120"/>
          </a:xfrm>
          <a:prstGeom prst="roundRect">
            <a:avLst/>
          </a:prstGeom>
          <a:solidFill>
            <a:srgbClr val="EFF2F7"/>
          </a:solidFill>
          <a:ln w="19050">
            <a:solidFill>
              <a:srgbClr val="1F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8458200" y="3703320"/>
            <a:ext cx="3017520" cy="274320"/>
          </a:xfrm>
          <a:prstGeom prst="rect">
            <a:avLst/>
          </a:prstGeom>
          <a:noFill/>
        </p:spPr>
        <p:txBody>
          <a:bodyPr wrap="square">
            <a:spAutoFit/>
          </a:bodyPr>
          <a:lstStyle/>
          <a:p>
            <a:pPr algn="l">
              <a:defRPr sz="1200" b="1" i="0">
                <a:solidFill>
                  <a:srgbClr val="1F3A5F"/>
                </a:solidFill>
                <a:latin typeface="Arial"/>
              </a:defRPr>
            </a:pPr>
            <a:r>
              <a:t>GPU-STM abstraction</a:t>
            </a:r>
          </a:p>
        </p:txBody>
      </p:sp>
      <p:cxnSp>
        <p:nvCxnSpPr>
          <p:cNvPr id="40" name="Connector 39"/>
          <p:cNvCxnSpPr/>
          <p:nvPr/>
        </p:nvCxnSpPr>
        <p:spPr>
          <a:xfrm>
            <a:off x="8458200" y="3977639"/>
            <a:ext cx="3017520" cy="0"/>
          </a:xfrm>
          <a:prstGeom prst="line">
            <a:avLst/>
          </a:prstGeom>
          <a:ln w="9525">
            <a:solidFill>
              <a:srgbClr val="BFBFBF"/>
            </a:solidFill>
          </a:ln>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8458200" y="4023360"/>
            <a:ext cx="3017520" cy="548640"/>
          </a:xfrm>
          <a:prstGeom prst="rect">
            <a:avLst/>
          </a:prstGeom>
          <a:noFill/>
        </p:spPr>
        <p:txBody>
          <a:bodyPr wrap="square">
            <a:spAutoFit/>
          </a:bodyPr>
          <a:lstStyle/>
          <a:p>
            <a:pPr algn="l">
              <a:spcBef>
                <a:spcPts val="0"/>
              </a:spcBef>
              <a:spcAft>
                <a:spcPts val="300"/>
              </a:spcAft>
            </a:pPr>
            <a:r>
              <a:rPr sz="1100">
                <a:solidFill>
                  <a:srgbClr val="000000"/>
                </a:solidFill>
                <a:latin typeface="Arial"/>
              </a:rPr>
              <a:t>•  Lower complexity; fewer bugs</a:t>
            </a:r>
          </a:p>
          <a:p>
            <a:pPr algn="l">
              <a:spcBef>
                <a:spcPts val="0"/>
              </a:spcBef>
              <a:spcAft>
                <a:spcPts val="300"/>
              </a:spcAft>
            </a:pPr>
            <a:r>
              <a:rPr sz="1100">
                <a:solidFill>
                  <a:srgbClr val="000000"/>
                </a:solidFill>
                <a:latin typeface="Arial"/>
              </a:rPr>
              <a:t>•  ≈ competitive performance ?</a:t>
            </a:r>
          </a:p>
        </p:txBody>
      </p:sp>
      <p:sp>
        <p:nvSpPr>
          <p:cNvPr id="43" name="TextBox 42"/>
          <p:cNvSpPr txBox="1"/>
          <p:nvPr/>
        </p:nvSpPr>
        <p:spPr>
          <a:xfrm>
            <a:off x="77724" y="5141721"/>
            <a:ext cx="11091672" cy="274320"/>
          </a:xfrm>
          <a:prstGeom prst="rect">
            <a:avLst/>
          </a:prstGeom>
          <a:noFill/>
        </p:spPr>
        <p:txBody>
          <a:bodyPr wrap="square">
            <a:spAutoFit/>
          </a:bodyPr>
          <a:lstStyle/>
          <a:p>
            <a:pPr algn="ctr">
              <a:defRPr sz="1100" b="0" i="0">
                <a:solidFill>
                  <a:srgbClr val="5A5A5A"/>
                </a:solidFill>
                <a:latin typeface="Arial"/>
              </a:defRPr>
            </a:pPr>
            <a:r>
              <a:rPr dirty="0"/>
              <a:t>Key research goal</a:t>
            </a:r>
          </a:p>
        </p:txBody>
      </p:sp>
      <p:sp>
        <p:nvSpPr>
          <p:cNvPr id="44" name="TextBox 43"/>
          <p:cNvSpPr txBox="1"/>
          <p:nvPr/>
        </p:nvSpPr>
        <p:spPr>
          <a:xfrm>
            <a:off x="626364" y="5461761"/>
            <a:ext cx="9994392" cy="731520"/>
          </a:xfrm>
          <a:prstGeom prst="rect">
            <a:avLst/>
          </a:prstGeom>
          <a:noFill/>
        </p:spPr>
        <p:txBody>
          <a:bodyPr wrap="square">
            <a:spAutoFit/>
          </a:bodyPr>
          <a:lstStyle/>
          <a:p>
            <a:pPr algn="ctr">
              <a:defRPr sz="1500" b="1" i="0">
                <a:solidFill>
                  <a:srgbClr val="1F3A5F"/>
                </a:solidFill>
                <a:latin typeface="Arial"/>
              </a:defRPr>
            </a:pPr>
            <a:r>
              <a:t>Reduce synchronization complexity and bugs — without sacrificing significant performance.</a:t>
            </a:r>
          </a:p>
        </p:txBody>
      </p:sp>
      <p:sp>
        <p:nvSpPr>
          <p:cNvPr id="52" name="TextBox 51">
            <a:extLst>
              <a:ext uri="{FF2B5EF4-FFF2-40B4-BE49-F238E27FC236}">
                <a16:creationId xmlns:a16="http://schemas.microsoft.com/office/drawing/2014/main" id="{BE0DCBF6-05A2-97AF-70B3-27D07F2C3F97}"/>
              </a:ext>
            </a:extLst>
          </p:cNvPr>
          <p:cNvSpPr txBox="1"/>
          <p:nvPr/>
        </p:nvSpPr>
        <p:spPr>
          <a:xfrm>
            <a:off x="602403" y="1899159"/>
            <a:ext cx="2377440" cy="320040"/>
          </a:xfrm>
          <a:prstGeom prst="rect">
            <a:avLst/>
          </a:prstGeom>
          <a:noFill/>
        </p:spPr>
        <p:txBody>
          <a:bodyPr wrap="square">
            <a:spAutoFit/>
          </a:bodyPr>
          <a:lstStyle/>
          <a:p>
            <a:pPr algn="l">
              <a:defRPr sz="1400" b="1" i="0">
                <a:solidFill>
                  <a:srgbClr val="000000"/>
                </a:solidFill>
                <a:latin typeface="Arial"/>
              </a:defRPr>
            </a:pPr>
            <a:r>
              <a:rPr dirty="0"/>
              <a:t>CPU vs. GPU</a:t>
            </a:r>
          </a:p>
        </p:txBody>
      </p:sp>
      <p:sp>
        <p:nvSpPr>
          <p:cNvPr id="54" name="TextBox 53">
            <a:extLst>
              <a:ext uri="{FF2B5EF4-FFF2-40B4-BE49-F238E27FC236}">
                <a16:creationId xmlns:a16="http://schemas.microsoft.com/office/drawing/2014/main" id="{AE507B5D-D606-C75F-05FD-E044A5DB8AFD}"/>
              </a:ext>
            </a:extLst>
          </p:cNvPr>
          <p:cNvSpPr txBox="1"/>
          <p:nvPr/>
        </p:nvSpPr>
        <p:spPr>
          <a:xfrm>
            <a:off x="602403" y="2194561"/>
            <a:ext cx="2377440" cy="2286000"/>
          </a:xfrm>
          <a:prstGeom prst="rect">
            <a:avLst/>
          </a:prstGeom>
          <a:noFill/>
        </p:spPr>
        <p:txBody>
          <a:bodyPr wrap="square">
            <a:spAutoFit/>
          </a:bodyPr>
          <a:lstStyle/>
          <a:p>
            <a:pPr algn="l">
              <a:spcBef>
                <a:spcPts val="0"/>
              </a:spcBef>
              <a:spcAft>
                <a:spcPts val="400"/>
              </a:spcAft>
            </a:pPr>
            <a:r>
              <a:rPr sz="1200" b="1" dirty="0">
                <a:solidFill>
                  <a:srgbClr val="000000"/>
                </a:solidFill>
                <a:latin typeface="Arial"/>
              </a:rPr>
              <a:t>•  CPU: </a:t>
            </a:r>
            <a:r>
              <a:rPr sz="1200" b="0" dirty="0">
                <a:solidFill>
                  <a:srgbClr val="000000"/>
                </a:solidFill>
                <a:latin typeface="Arial"/>
              </a:rPr>
              <a:t>few threads; limited contention.</a:t>
            </a:r>
          </a:p>
          <a:p>
            <a:pPr algn="l">
              <a:spcBef>
                <a:spcPts val="0"/>
              </a:spcBef>
              <a:spcAft>
                <a:spcPts val="400"/>
              </a:spcAft>
            </a:pPr>
            <a:r>
              <a:rPr sz="1200" b="1" dirty="0">
                <a:solidFill>
                  <a:srgbClr val="000000"/>
                </a:solidFill>
                <a:latin typeface="Arial"/>
              </a:rPr>
              <a:t>•  GPU: </a:t>
            </a:r>
            <a:r>
              <a:rPr sz="1200" b="0" dirty="0">
                <a:solidFill>
                  <a:srgbClr val="000000"/>
                </a:solidFill>
                <a:latin typeface="Arial"/>
              </a:rPr>
              <a:t>thousands of threads; massive contention.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228600"/>
            <a:ext cx="11064240" cy="274320"/>
          </a:xfrm>
          <a:prstGeom prst="rect">
            <a:avLst/>
          </a:prstGeom>
          <a:noFill/>
        </p:spPr>
        <p:txBody>
          <a:bodyPr wrap="square">
            <a:spAutoFit/>
          </a:bodyPr>
          <a:lstStyle/>
          <a:p>
            <a:pPr algn="l">
              <a:defRPr sz="1100" b="0" i="0">
                <a:solidFill>
                  <a:srgbClr val="5A5A5A"/>
                </a:solidFill>
                <a:latin typeface="Arial"/>
              </a:defRPr>
            </a:pPr>
            <a:r>
              <a:t>4  —  ABSTRACTION</a:t>
            </a:r>
          </a:p>
        </p:txBody>
      </p:sp>
      <p:sp>
        <p:nvSpPr>
          <p:cNvPr id="3" name="TextBox 2"/>
          <p:cNvSpPr txBox="1"/>
          <p:nvPr/>
        </p:nvSpPr>
        <p:spPr>
          <a:xfrm>
            <a:off x="548640" y="457200"/>
            <a:ext cx="11064240" cy="594360"/>
          </a:xfrm>
          <a:prstGeom prst="rect">
            <a:avLst/>
          </a:prstGeom>
          <a:noFill/>
        </p:spPr>
        <p:txBody>
          <a:bodyPr wrap="square">
            <a:spAutoFit/>
          </a:bodyPr>
          <a:lstStyle/>
          <a:p>
            <a:pPr algn="l">
              <a:defRPr sz="2400" b="1" i="0">
                <a:solidFill>
                  <a:srgbClr val="1F3A5F"/>
                </a:solidFill>
                <a:latin typeface="Arial"/>
              </a:defRPr>
            </a:pPr>
            <a:r>
              <a:t>Software Transactional Memory (STM): The Abstraction</a:t>
            </a:r>
          </a:p>
        </p:txBody>
      </p:sp>
      <p:cxnSp>
        <p:nvCxnSpPr>
          <p:cNvPr id="4" name="Connector 3"/>
          <p:cNvCxnSpPr/>
          <p:nvPr/>
        </p:nvCxnSpPr>
        <p:spPr>
          <a:xfrm>
            <a:off x="548640" y="1143000"/>
            <a:ext cx="11091672" cy="0"/>
          </a:xfrm>
          <a:prstGeom prst="line">
            <a:avLst/>
          </a:prstGeom>
          <a:ln w="19050">
            <a:solidFill>
              <a:srgbClr val="1F3A5F"/>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548640" y="6446520"/>
            <a:ext cx="11091672" cy="0"/>
          </a:xfrm>
          <a:prstGeom prst="line">
            <a:avLst/>
          </a:prstGeom>
          <a:ln w="9525">
            <a:solidFill>
              <a:srgbClr val="BFBFBF"/>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48640" y="6473952"/>
            <a:ext cx="7315200" cy="228600"/>
          </a:xfrm>
          <a:prstGeom prst="rect">
            <a:avLst/>
          </a:prstGeom>
          <a:noFill/>
        </p:spPr>
        <p:txBody>
          <a:bodyPr wrap="square">
            <a:spAutoFit/>
          </a:bodyPr>
          <a:lstStyle/>
          <a:p>
            <a:pPr algn="l">
              <a:defRPr sz="900" b="0" i="0">
                <a:solidFill>
                  <a:srgbClr val="5A5A5A"/>
                </a:solidFill>
                <a:latin typeface="Arial"/>
              </a:defRPr>
            </a:pPr>
            <a:r>
              <a:t>General-Purpose STM for Concurrent Dynamic Graph Updates on GPUs</a:t>
            </a:r>
          </a:p>
        </p:txBody>
      </p:sp>
      <p:sp>
        <p:nvSpPr>
          <p:cNvPr id="7" name="TextBox 6"/>
          <p:cNvSpPr txBox="1"/>
          <p:nvPr/>
        </p:nvSpPr>
        <p:spPr>
          <a:xfrm>
            <a:off x="10972800" y="6473952"/>
            <a:ext cx="640080" cy="228600"/>
          </a:xfrm>
          <a:prstGeom prst="rect">
            <a:avLst/>
          </a:prstGeom>
          <a:noFill/>
        </p:spPr>
        <p:txBody>
          <a:bodyPr wrap="square">
            <a:spAutoFit/>
          </a:bodyPr>
          <a:lstStyle/>
          <a:p>
            <a:pPr algn="r">
              <a:defRPr sz="900" b="0" i="0">
                <a:solidFill>
                  <a:srgbClr val="5A5A5A"/>
                </a:solidFill>
                <a:latin typeface="Arial"/>
              </a:defRPr>
            </a:pPr>
            <a:r>
              <a:t>4</a:t>
            </a:r>
          </a:p>
        </p:txBody>
      </p:sp>
      <p:sp>
        <p:nvSpPr>
          <p:cNvPr id="8" name="TextBox 7"/>
          <p:cNvSpPr txBox="1"/>
          <p:nvPr/>
        </p:nvSpPr>
        <p:spPr>
          <a:xfrm>
            <a:off x="548640" y="1325880"/>
            <a:ext cx="11091672" cy="365760"/>
          </a:xfrm>
          <a:prstGeom prst="rect">
            <a:avLst/>
          </a:prstGeom>
          <a:noFill/>
        </p:spPr>
        <p:txBody>
          <a:bodyPr wrap="square">
            <a:spAutoFit/>
          </a:bodyPr>
          <a:lstStyle/>
          <a:p>
            <a:pPr algn="l">
              <a:defRPr sz="1300" b="0" i="1">
                <a:solidFill>
                  <a:srgbClr val="333333"/>
                </a:solidFill>
                <a:latin typeface="Arial"/>
              </a:defRPr>
            </a:pPr>
            <a:r>
              <a:t>Instead of managing synchronization manually, programmers express operations as transactions.</a:t>
            </a:r>
          </a:p>
        </p:txBody>
      </p:sp>
      <p:sp>
        <p:nvSpPr>
          <p:cNvPr id="9" name="TextBox 8"/>
          <p:cNvSpPr txBox="1"/>
          <p:nvPr/>
        </p:nvSpPr>
        <p:spPr>
          <a:xfrm>
            <a:off x="548640" y="1874519"/>
            <a:ext cx="3200400" cy="320040"/>
          </a:xfrm>
          <a:prstGeom prst="rect">
            <a:avLst/>
          </a:prstGeom>
          <a:noFill/>
        </p:spPr>
        <p:txBody>
          <a:bodyPr wrap="square">
            <a:spAutoFit/>
          </a:bodyPr>
          <a:lstStyle/>
          <a:p>
            <a:pPr algn="l">
              <a:defRPr sz="1400" b="1" i="0">
                <a:solidFill>
                  <a:srgbClr val="000000"/>
                </a:solidFill>
                <a:latin typeface="Arial"/>
              </a:defRPr>
            </a:pPr>
            <a:r>
              <a:t>Manual synchronization</a:t>
            </a:r>
          </a:p>
        </p:txBody>
      </p:sp>
      <p:sp>
        <p:nvSpPr>
          <p:cNvPr id="10" name="Rounded Rectangle 9"/>
          <p:cNvSpPr/>
          <p:nvPr/>
        </p:nvSpPr>
        <p:spPr>
          <a:xfrm>
            <a:off x="914400" y="2331720"/>
            <a:ext cx="2468880" cy="384048"/>
          </a:xfrm>
          <a:prstGeom prst="roundRect">
            <a:avLst/>
          </a:prstGeom>
          <a:solidFill>
            <a:srgbClr val="FFFFFF"/>
          </a:solidFill>
          <a:ln w="15875">
            <a:solidFill>
              <a:srgbClr val="5A5A5A"/>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200" b="0">
                <a:solidFill>
                  <a:srgbClr val="000000"/>
                </a:solidFill>
                <a:latin typeface="Arial"/>
              </a:defRPr>
            </a:pPr>
            <a:r>
              <a:t>Lock</a:t>
            </a:r>
          </a:p>
        </p:txBody>
      </p:sp>
      <p:sp>
        <p:nvSpPr>
          <p:cNvPr id="11" name="TextBox 10"/>
          <p:cNvSpPr txBox="1"/>
          <p:nvPr/>
        </p:nvSpPr>
        <p:spPr>
          <a:xfrm>
            <a:off x="914400" y="2715768"/>
            <a:ext cx="2468880" cy="201168"/>
          </a:xfrm>
          <a:prstGeom prst="rect">
            <a:avLst/>
          </a:prstGeom>
          <a:noFill/>
        </p:spPr>
        <p:txBody>
          <a:bodyPr wrap="square">
            <a:spAutoFit/>
          </a:bodyPr>
          <a:lstStyle/>
          <a:p>
            <a:pPr algn="ctr">
              <a:defRPr sz="1100" b="0" i="0">
                <a:solidFill>
                  <a:srgbClr val="5A5A5A"/>
                </a:solidFill>
                <a:latin typeface="Arial"/>
              </a:defRPr>
            </a:pPr>
            <a:r>
              <a:t>↓</a:t>
            </a:r>
          </a:p>
        </p:txBody>
      </p:sp>
      <p:sp>
        <p:nvSpPr>
          <p:cNvPr id="12" name="Rounded Rectangle 11"/>
          <p:cNvSpPr/>
          <p:nvPr/>
        </p:nvSpPr>
        <p:spPr>
          <a:xfrm>
            <a:off x="914400" y="2916936"/>
            <a:ext cx="2468880" cy="384048"/>
          </a:xfrm>
          <a:prstGeom prst="roundRect">
            <a:avLst/>
          </a:prstGeom>
          <a:solidFill>
            <a:srgbClr val="FFFFFF"/>
          </a:solidFill>
          <a:ln w="15875">
            <a:solidFill>
              <a:srgbClr val="5A5A5A"/>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200" b="0">
                <a:solidFill>
                  <a:srgbClr val="000000"/>
                </a:solidFill>
                <a:latin typeface="Arial"/>
              </a:defRPr>
            </a:pPr>
            <a:r>
              <a:t>Modify graph</a:t>
            </a:r>
          </a:p>
        </p:txBody>
      </p:sp>
      <p:sp>
        <p:nvSpPr>
          <p:cNvPr id="13" name="TextBox 12"/>
          <p:cNvSpPr txBox="1"/>
          <p:nvPr/>
        </p:nvSpPr>
        <p:spPr>
          <a:xfrm>
            <a:off x="914400" y="3300984"/>
            <a:ext cx="2468880" cy="201168"/>
          </a:xfrm>
          <a:prstGeom prst="rect">
            <a:avLst/>
          </a:prstGeom>
          <a:noFill/>
        </p:spPr>
        <p:txBody>
          <a:bodyPr wrap="square">
            <a:spAutoFit/>
          </a:bodyPr>
          <a:lstStyle/>
          <a:p>
            <a:pPr algn="ctr">
              <a:defRPr sz="1100" b="0" i="0">
                <a:solidFill>
                  <a:srgbClr val="5A5A5A"/>
                </a:solidFill>
                <a:latin typeface="Arial"/>
              </a:defRPr>
            </a:pPr>
            <a:r>
              <a:t>↓</a:t>
            </a:r>
          </a:p>
        </p:txBody>
      </p:sp>
      <p:sp>
        <p:nvSpPr>
          <p:cNvPr id="14" name="Rounded Rectangle 13"/>
          <p:cNvSpPr/>
          <p:nvPr/>
        </p:nvSpPr>
        <p:spPr>
          <a:xfrm>
            <a:off x="914400" y="3502152"/>
            <a:ext cx="2468880" cy="384048"/>
          </a:xfrm>
          <a:prstGeom prst="roundRect">
            <a:avLst/>
          </a:prstGeom>
          <a:solidFill>
            <a:srgbClr val="FFFFFF"/>
          </a:solidFill>
          <a:ln w="15875">
            <a:solidFill>
              <a:srgbClr val="5A5A5A"/>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200" b="0">
                <a:solidFill>
                  <a:srgbClr val="000000"/>
                </a:solidFill>
                <a:latin typeface="Arial"/>
              </a:defRPr>
            </a:pPr>
            <a:r>
              <a:t>Unlock</a:t>
            </a:r>
          </a:p>
        </p:txBody>
      </p:sp>
      <p:sp>
        <p:nvSpPr>
          <p:cNvPr id="15" name="TextBox 14"/>
          <p:cNvSpPr txBox="1"/>
          <p:nvPr/>
        </p:nvSpPr>
        <p:spPr>
          <a:xfrm>
            <a:off x="548640" y="4206240"/>
            <a:ext cx="3200400" cy="320040"/>
          </a:xfrm>
          <a:prstGeom prst="rect">
            <a:avLst/>
          </a:prstGeom>
          <a:noFill/>
        </p:spPr>
        <p:txBody>
          <a:bodyPr wrap="square">
            <a:spAutoFit/>
          </a:bodyPr>
          <a:lstStyle/>
          <a:p>
            <a:pPr algn="ctr">
              <a:defRPr sz="1100" b="0" i="1">
                <a:solidFill>
                  <a:srgbClr val="5A5A5A"/>
                </a:solidFill>
                <a:latin typeface="Arial"/>
              </a:defRPr>
            </a:pPr>
            <a:r>
              <a:rPr dirty="0"/>
              <a:t>Programmer manages synchronization</a:t>
            </a:r>
          </a:p>
        </p:txBody>
      </p:sp>
      <p:sp>
        <p:nvSpPr>
          <p:cNvPr id="16" name="TextBox 15"/>
          <p:cNvSpPr txBox="1"/>
          <p:nvPr/>
        </p:nvSpPr>
        <p:spPr>
          <a:xfrm>
            <a:off x="3794760" y="3017520"/>
            <a:ext cx="502920" cy="457200"/>
          </a:xfrm>
          <a:prstGeom prst="rect">
            <a:avLst/>
          </a:prstGeom>
          <a:noFill/>
        </p:spPr>
        <p:txBody>
          <a:bodyPr wrap="square">
            <a:spAutoFit/>
          </a:bodyPr>
          <a:lstStyle/>
          <a:p>
            <a:pPr algn="ctr">
              <a:defRPr sz="2200" b="1" i="0">
                <a:solidFill>
                  <a:srgbClr val="1F3A5F"/>
                </a:solidFill>
                <a:latin typeface="Arial"/>
              </a:defRPr>
            </a:pPr>
            <a:r>
              <a:t>→</a:t>
            </a:r>
          </a:p>
        </p:txBody>
      </p:sp>
      <p:sp>
        <p:nvSpPr>
          <p:cNvPr id="17" name="TextBox 16"/>
          <p:cNvSpPr txBox="1"/>
          <p:nvPr/>
        </p:nvSpPr>
        <p:spPr>
          <a:xfrm>
            <a:off x="4434840" y="1874519"/>
            <a:ext cx="3108960" cy="320040"/>
          </a:xfrm>
          <a:prstGeom prst="rect">
            <a:avLst/>
          </a:prstGeom>
          <a:noFill/>
        </p:spPr>
        <p:txBody>
          <a:bodyPr wrap="square">
            <a:spAutoFit/>
          </a:bodyPr>
          <a:lstStyle/>
          <a:p>
            <a:pPr algn="l">
              <a:defRPr sz="1400" b="1" i="0">
                <a:solidFill>
                  <a:srgbClr val="1F3A5F"/>
                </a:solidFill>
                <a:latin typeface="Arial"/>
              </a:defRPr>
            </a:pPr>
            <a:r>
              <a:t>STM abstraction</a:t>
            </a:r>
          </a:p>
        </p:txBody>
      </p:sp>
      <p:sp>
        <p:nvSpPr>
          <p:cNvPr id="18" name="Rounded Rectangle 17"/>
          <p:cNvSpPr/>
          <p:nvPr/>
        </p:nvSpPr>
        <p:spPr>
          <a:xfrm>
            <a:off x="4434840" y="2331720"/>
            <a:ext cx="3108960" cy="1783080"/>
          </a:xfrm>
          <a:prstGeom prst="roundRect">
            <a:avLst/>
          </a:prstGeom>
          <a:solidFill>
            <a:srgbClr val="EFF2F7"/>
          </a:solidFill>
          <a:ln w="22225">
            <a:solidFill>
              <a:srgbClr val="1F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617720" y="2468879"/>
            <a:ext cx="2743200" cy="320040"/>
          </a:xfrm>
          <a:prstGeom prst="rect">
            <a:avLst/>
          </a:prstGeom>
          <a:noFill/>
        </p:spPr>
        <p:txBody>
          <a:bodyPr wrap="square">
            <a:spAutoFit/>
          </a:bodyPr>
          <a:lstStyle/>
          <a:p>
            <a:pPr algn="l">
              <a:defRPr sz="1200" b="0" i="0">
                <a:solidFill>
                  <a:srgbClr val="1F3A5F"/>
                </a:solidFill>
                <a:latin typeface="Arial"/>
              </a:defRPr>
            </a:pPr>
            <a:r>
              <a:t>transaction {</a:t>
            </a:r>
          </a:p>
        </p:txBody>
      </p:sp>
      <p:sp>
        <p:nvSpPr>
          <p:cNvPr id="20" name="TextBox 19"/>
          <p:cNvSpPr txBox="1"/>
          <p:nvPr/>
        </p:nvSpPr>
        <p:spPr>
          <a:xfrm>
            <a:off x="4617720" y="2926079"/>
            <a:ext cx="2743200" cy="548640"/>
          </a:xfrm>
          <a:prstGeom prst="rect">
            <a:avLst/>
          </a:prstGeom>
          <a:noFill/>
        </p:spPr>
        <p:txBody>
          <a:bodyPr wrap="square">
            <a:spAutoFit/>
          </a:bodyPr>
          <a:lstStyle/>
          <a:p>
            <a:pPr algn="ctr">
              <a:defRPr sz="1400" b="1" i="0">
                <a:solidFill>
                  <a:srgbClr val="000000"/>
                </a:solidFill>
                <a:latin typeface="Arial"/>
              </a:defRPr>
            </a:pPr>
            <a:r>
              <a:t>Read / Modify graph</a:t>
            </a:r>
          </a:p>
        </p:txBody>
      </p:sp>
      <p:sp>
        <p:nvSpPr>
          <p:cNvPr id="21" name="TextBox 20"/>
          <p:cNvSpPr txBox="1"/>
          <p:nvPr/>
        </p:nvSpPr>
        <p:spPr>
          <a:xfrm>
            <a:off x="4617720" y="3566160"/>
            <a:ext cx="2743200" cy="320040"/>
          </a:xfrm>
          <a:prstGeom prst="rect">
            <a:avLst/>
          </a:prstGeom>
          <a:noFill/>
        </p:spPr>
        <p:txBody>
          <a:bodyPr wrap="square">
            <a:spAutoFit/>
          </a:bodyPr>
          <a:lstStyle/>
          <a:p>
            <a:pPr algn="l">
              <a:defRPr sz="1200" b="0" i="0">
                <a:solidFill>
                  <a:srgbClr val="1F3A5F"/>
                </a:solidFill>
                <a:latin typeface="Arial"/>
              </a:defRPr>
            </a:pPr>
            <a:r>
              <a:t>}</a:t>
            </a:r>
          </a:p>
        </p:txBody>
      </p:sp>
      <p:sp>
        <p:nvSpPr>
          <p:cNvPr id="22" name="TextBox 21"/>
          <p:cNvSpPr txBox="1"/>
          <p:nvPr/>
        </p:nvSpPr>
        <p:spPr>
          <a:xfrm>
            <a:off x="4434840" y="4206240"/>
            <a:ext cx="3108960" cy="320040"/>
          </a:xfrm>
          <a:prstGeom prst="rect">
            <a:avLst/>
          </a:prstGeom>
          <a:noFill/>
        </p:spPr>
        <p:txBody>
          <a:bodyPr wrap="square">
            <a:spAutoFit/>
          </a:bodyPr>
          <a:lstStyle/>
          <a:p>
            <a:pPr algn="ctr">
              <a:defRPr sz="1100" b="0" i="1">
                <a:solidFill>
                  <a:srgbClr val="1F3A5F"/>
                </a:solidFill>
                <a:latin typeface="Arial"/>
              </a:defRPr>
            </a:pPr>
            <a:r>
              <a:rPr dirty="0"/>
              <a:t>Programmer specifies operation only</a:t>
            </a:r>
          </a:p>
        </p:txBody>
      </p:sp>
      <p:sp>
        <p:nvSpPr>
          <p:cNvPr id="23" name="TextBox 22"/>
          <p:cNvSpPr txBox="1"/>
          <p:nvPr/>
        </p:nvSpPr>
        <p:spPr>
          <a:xfrm>
            <a:off x="7635240" y="3017520"/>
            <a:ext cx="502920" cy="457200"/>
          </a:xfrm>
          <a:prstGeom prst="rect">
            <a:avLst/>
          </a:prstGeom>
          <a:noFill/>
        </p:spPr>
        <p:txBody>
          <a:bodyPr wrap="square">
            <a:spAutoFit/>
          </a:bodyPr>
          <a:lstStyle/>
          <a:p>
            <a:pPr algn="ctr">
              <a:defRPr sz="2200" b="1" i="0">
                <a:solidFill>
                  <a:srgbClr val="1F3A5F"/>
                </a:solidFill>
                <a:latin typeface="Arial"/>
              </a:defRPr>
            </a:pPr>
            <a:r>
              <a:t>→</a:t>
            </a:r>
          </a:p>
        </p:txBody>
      </p:sp>
      <p:sp>
        <p:nvSpPr>
          <p:cNvPr id="24" name="TextBox 23"/>
          <p:cNvSpPr txBox="1"/>
          <p:nvPr/>
        </p:nvSpPr>
        <p:spPr>
          <a:xfrm>
            <a:off x="8275320" y="1874519"/>
            <a:ext cx="3337560" cy="320040"/>
          </a:xfrm>
          <a:prstGeom prst="rect">
            <a:avLst/>
          </a:prstGeom>
          <a:noFill/>
        </p:spPr>
        <p:txBody>
          <a:bodyPr wrap="square">
            <a:spAutoFit/>
          </a:bodyPr>
          <a:lstStyle/>
          <a:p>
            <a:pPr algn="l">
              <a:defRPr sz="1400" b="1" i="0">
                <a:solidFill>
                  <a:srgbClr val="000000"/>
                </a:solidFill>
                <a:latin typeface="Arial"/>
              </a:defRPr>
            </a:pPr>
            <a:r>
              <a:t>What STM handles</a:t>
            </a:r>
          </a:p>
        </p:txBody>
      </p:sp>
      <p:sp>
        <p:nvSpPr>
          <p:cNvPr id="25" name="Rounded Rectangle 24"/>
          <p:cNvSpPr/>
          <p:nvPr/>
        </p:nvSpPr>
        <p:spPr>
          <a:xfrm>
            <a:off x="8595360" y="2331720"/>
            <a:ext cx="2697480" cy="347472"/>
          </a:xfrm>
          <a:prstGeom prst="roundRect">
            <a:avLst/>
          </a:prstGeom>
          <a:solidFill>
            <a:srgbClr val="FFFFFF"/>
          </a:solidFill>
          <a:ln w="15875">
            <a:solidFill>
              <a:srgbClr val="5A5A5A"/>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0">
                <a:solidFill>
                  <a:srgbClr val="000000"/>
                </a:solidFill>
                <a:latin typeface="Arial"/>
              </a:defRPr>
            </a:pPr>
            <a:r>
              <a:t>Read / write tracking</a:t>
            </a:r>
          </a:p>
        </p:txBody>
      </p:sp>
      <p:sp>
        <p:nvSpPr>
          <p:cNvPr id="26" name="TextBox 25"/>
          <p:cNvSpPr txBox="1"/>
          <p:nvPr/>
        </p:nvSpPr>
        <p:spPr>
          <a:xfrm>
            <a:off x="8595360" y="2679191"/>
            <a:ext cx="2697480" cy="182880"/>
          </a:xfrm>
          <a:prstGeom prst="rect">
            <a:avLst/>
          </a:prstGeom>
          <a:noFill/>
        </p:spPr>
        <p:txBody>
          <a:bodyPr wrap="square">
            <a:spAutoFit/>
          </a:bodyPr>
          <a:lstStyle/>
          <a:p>
            <a:pPr algn="ctr">
              <a:defRPr sz="1000" b="0" i="0">
                <a:solidFill>
                  <a:srgbClr val="5A5A5A"/>
                </a:solidFill>
                <a:latin typeface="Arial"/>
              </a:defRPr>
            </a:pPr>
            <a:r>
              <a:t>↓</a:t>
            </a:r>
          </a:p>
        </p:txBody>
      </p:sp>
      <p:sp>
        <p:nvSpPr>
          <p:cNvPr id="27" name="Rounded Rectangle 26"/>
          <p:cNvSpPr/>
          <p:nvPr/>
        </p:nvSpPr>
        <p:spPr>
          <a:xfrm>
            <a:off x="8595360" y="2862072"/>
            <a:ext cx="2697480" cy="347472"/>
          </a:xfrm>
          <a:prstGeom prst="roundRect">
            <a:avLst/>
          </a:prstGeom>
          <a:solidFill>
            <a:srgbClr val="FFFFFF"/>
          </a:solidFill>
          <a:ln w="15875">
            <a:solidFill>
              <a:srgbClr val="5A5A5A"/>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0">
                <a:solidFill>
                  <a:srgbClr val="000000"/>
                </a:solidFill>
                <a:latin typeface="Arial"/>
              </a:defRPr>
            </a:pPr>
            <a:r>
              <a:t>Conflict detection</a:t>
            </a:r>
          </a:p>
        </p:txBody>
      </p:sp>
      <p:sp>
        <p:nvSpPr>
          <p:cNvPr id="28" name="TextBox 27"/>
          <p:cNvSpPr txBox="1"/>
          <p:nvPr/>
        </p:nvSpPr>
        <p:spPr>
          <a:xfrm>
            <a:off x="8595360" y="3209544"/>
            <a:ext cx="2697480" cy="182880"/>
          </a:xfrm>
          <a:prstGeom prst="rect">
            <a:avLst/>
          </a:prstGeom>
          <a:noFill/>
        </p:spPr>
        <p:txBody>
          <a:bodyPr wrap="square">
            <a:spAutoFit/>
          </a:bodyPr>
          <a:lstStyle/>
          <a:p>
            <a:pPr algn="ctr">
              <a:defRPr sz="1000" b="0" i="0">
                <a:solidFill>
                  <a:srgbClr val="5A5A5A"/>
                </a:solidFill>
                <a:latin typeface="Arial"/>
              </a:defRPr>
            </a:pPr>
            <a:r>
              <a:t>↓</a:t>
            </a:r>
          </a:p>
        </p:txBody>
      </p:sp>
      <p:sp>
        <p:nvSpPr>
          <p:cNvPr id="29" name="Rounded Rectangle 28"/>
          <p:cNvSpPr/>
          <p:nvPr/>
        </p:nvSpPr>
        <p:spPr>
          <a:xfrm>
            <a:off x="8595360" y="3392424"/>
            <a:ext cx="2697480" cy="347472"/>
          </a:xfrm>
          <a:prstGeom prst="roundRect">
            <a:avLst/>
          </a:prstGeom>
          <a:solidFill>
            <a:srgbClr val="FFFFFF"/>
          </a:solidFill>
          <a:ln w="15875">
            <a:solidFill>
              <a:srgbClr val="5A5A5A"/>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0">
                <a:solidFill>
                  <a:srgbClr val="000000"/>
                </a:solidFill>
                <a:latin typeface="Arial"/>
              </a:defRPr>
            </a:pPr>
            <a:r>
              <a:t>Validation</a:t>
            </a:r>
          </a:p>
        </p:txBody>
      </p:sp>
      <p:sp>
        <p:nvSpPr>
          <p:cNvPr id="30" name="TextBox 29"/>
          <p:cNvSpPr txBox="1"/>
          <p:nvPr/>
        </p:nvSpPr>
        <p:spPr>
          <a:xfrm>
            <a:off x="8595360" y="3739896"/>
            <a:ext cx="2697480" cy="182880"/>
          </a:xfrm>
          <a:prstGeom prst="rect">
            <a:avLst/>
          </a:prstGeom>
          <a:noFill/>
        </p:spPr>
        <p:txBody>
          <a:bodyPr wrap="square">
            <a:spAutoFit/>
          </a:bodyPr>
          <a:lstStyle/>
          <a:p>
            <a:pPr algn="ctr">
              <a:defRPr sz="1000" b="0" i="0">
                <a:solidFill>
                  <a:srgbClr val="5A5A5A"/>
                </a:solidFill>
                <a:latin typeface="Arial"/>
              </a:defRPr>
            </a:pPr>
            <a:r>
              <a:t>↓</a:t>
            </a:r>
          </a:p>
        </p:txBody>
      </p:sp>
      <p:sp>
        <p:nvSpPr>
          <p:cNvPr id="31" name="Rounded Rectangle 30"/>
          <p:cNvSpPr/>
          <p:nvPr/>
        </p:nvSpPr>
        <p:spPr>
          <a:xfrm>
            <a:off x="8595360" y="3922776"/>
            <a:ext cx="2697480" cy="347472"/>
          </a:xfrm>
          <a:prstGeom prst="roundRect">
            <a:avLst/>
          </a:prstGeom>
          <a:solidFill>
            <a:srgbClr val="EFF2F7"/>
          </a:solidFill>
          <a:ln w="15875">
            <a:solidFill>
              <a:srgbClr val="1F3A5F"/>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1F3A5F"/>
                </a:solidFill>
                <a:latin typeface="Arial"/>
              </a:defRPr>
            </a:pPr>
            <a:r>
              <a:t>Commit / abort</a:t>
            </a:r>
          </a:p>
        </p:txBody>
      </p:sp>
      <p:sp>
        <p:nvSpPr>
          <p:cNvPr id="32" name="TextBox 31"/>
          <p:cNvSpPr txBox="1"/>
          <p:nvPr/>
        </p:nvSpPr>
        <p:spPr>
          <a:xfrm>
            <a:off x="8275320" y="4526280"/>
            <a:ext cx="3337560" cy="274320"/>
          </a:xfrm>
          <a:prstGeom prst="rect">
            <a:avLst/>
          </a:prstGeom>
          <a:noFill/>
        </p:spPr>
        <p:txBody>
          <a:bodyPr wrap="square">
            <a:spAutoFit/>
          </a:bodyPr>
          <a:lstStyle/>
          <a:p>
            <a:pPr algn="ctr">
              <a:defRPr sz="1100" b="1" i="0">
                <a:solidFill>
                  <a:srgbClr val="1F3A5F"/>
                </a:solidFill>
                <a:latin typeface="Arial"/>
              </a:defRPr>
            </a:pPr>
            <a:r>
              <a:t>STM manages synchronization</a:t>
            </a:r>
          </a:p>
        </p:txBody>
      </p:sp>
      <p:cxnSp>
        <p:nvCxnSpPr>
          <p:cNvPr id="33" name="Connector 32"/>
          <p:cNvCxnSpPr/>
          <p:nvPr/>
        </p:nvCxnSpPr>
        <p:spPr>
          <a:xfrm>
            <a:off x="548640" y="5074920"/>
            <a:ext cx="11091672" cy="0"/>
          </a:xfrm>
          <a:prstGeom prst="line">
            <a:avLst/>
          </a:prstGeom>
          <a:ln w="9525">
            <a:solidFill>
              <a:srgbClr val="BFBFBF"/>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548640" y="5212080"/>
            <a:ext cx="11091672" cy="274320"/>
          </a:xfrm>
          <a:prstGeom prst="rect">
            <a:avLst/>
          </a:prstGeom>
          <a:noFill/>
        </p:spPr>
        <p:txBody>
          <a:bodyPr wrap="square">
            <a:spAutoFit/>
          </a:bodyPr>
          <a:lstStyle/>
          <a:p>
            <a:pPr algn="ctr">
              <a:defRPr sz="1100" b="0" i="0">
                <a:solidFill>
                  <a:srgbClr val="5A5A5A"/>
                </a:solidFill>
                <a:latin typeface="Arial"/>
              </a:defRPr>
            </a:pPr>
            <a:r>
              <a:t>Takeaway</a:t>
            </a:r>
          </a:p>
        </p:txBody>
      </p:sp>
      <p:sp>
        <p:nvSpPr>
          <p:cNvPr id="35" name="TextBox 34"/>
          <p:cNvSpPr txBox="1"/>
          <p:nvPr/>
        </p:nvSpPr>
        <p:spPr>
          <a:xfrm>
            <a:off x="1371600" y="5532120"/>
            <a:ext cx="9445752" cy="548640"/>
          </a:xfrm>
          <a:prstGeom prst="rect">
            <a:avLst/>
          </a:prstGeom>
          <a:noFill/>
        </p:spPr>
        <p:txBody>
          <a:bodyPr wrap="square">
            <a:spAutoFit/>
          </a:bodyPr>
          <a:lstStyle/>
          <a:p>
            <a:pPr algn="ctr">
              <a:defRPr sz="1500" b="1" i="0">
                <a:solidFill>
                  <a:srgbClr val="1F3A5F"/>
                </a:solidFill>
                <a:latin typeface="Arial"/>
              </a:defRPr>
            </a:pPr>
            <a:r>
              <a:rPr dirty="0"/>
              <a:t>STM separates application logic from synchronization management.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28600"/>
            <a:ext cx="11064240" cy="274320"/>
          </a:xfrm>
          <a:prstGeom prst="rect">
            <a:avLst/>
          </a:prstGeom>
          <a:noFill/>
        </p:spPr>
        <p:txBody>
          <a:bodyPr wrap="square">
            <a:spAutoFit/>
          </a:bodyPr>
          <a:lstStyle/>
          <a:p>
            <a:pPr algn="l">
              <a:defRPr sz="1100" b="0" i="0">
                <a:solidFill>
                  <a:srgbClr val="5A5A5A"/>
                </a:solidFill>
                <a:latin typeface="Arial"/>
              </a:defRPr>
            </a:pPr>
            <a:r>
              <a:t>5  —  LITERATURE</a:t>
            </a:r>
          </a:p>
        </p:txBody>
      </p:sp>
      <p:sp>
        <p:nvSpPr>
          <p:cNvPr id="3" name="TextBox 2"/>
          <p:cNvSpPr txBox="1"/>
          <p:nvPr/>
        </p:nvSpPr>
        <p:spPr>
          <a:xfrm>
            <a:off x="548640" y="457200"/>
            <a:ext cx="11064240" cy="594360"/>
          </a:xfrm>
          <a:prstGeom prst="rect">
            <a:avLst/>
          </a:prstGeom>
          <a:noFill/>
        </p:spPr>
        <p:txBody>
          <a:bodyPr wrap="square">
            <a:spAutoFit/>
          </a:bodyPr>
          <a:lstStyle/>
          <a:p>
            <a:pPr algn="l">
              <a:defRPr sz="2200" b="1" i="0">
                <a:solidFill>
                  <a:srgbClr val="1F3A5F"/>
                </a:solidFill>
                <a:latin typeface="Arial"/>
              </a:defRPr>
            </a:pPr>
            <a:r>
              <a:t>Software Transactional Memory: From CPUs to GPUs</a:t>
            </a:r>
          </a:p>
        </p:txBody>
      </p:sp>
      <p:cxnSp>
        <p:nvCxnSpPr>
          <p:cNvPr id="4" name="Connector 3"/>
          <p:cNvCxnSpPr/>
          <p:nvPr/>
        </p:nvCxnSpPr>
        <p:spPr>
          <a:xfrm>
            <a:off x="548640" y="1143000"/>
            <a:ext cx="11091672" cy="0"/>
          </a:xfrm>
          <a:prstGeom prst="line">
            <a:avLst/>
          </a:prstGeom>
          <a:ln w="19050">
            <a:solidFill>
              <a:srgbClr val="1F3A5F"/>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548640" y="6446520"/>
            <a:ext cx="11091672" cy="0"/>
          </a:xfrm>
          <a:prstGeom prst="line">
            <a:avLst/>
          </a:prstGeom>
          <a:ln w="9525">
            <a:solidFill>
              <a:srgbClr val="BFBFBF"/>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48640" y="6473952"/>
            <a:ext cx="7315200" cy="228600"/>
          </a:xfrm>
          <a:prstGeom prst="rect">
            <a:avLst/>
          </a:prstGeom>
          <a:noFill/>
        </p:spPr>
        <p:txBody>
          <a:bodyPr wrap="square">
            <a:spAutoFit/>
          </a:bodyPr>
          <a:lstStyle/>
          <a:p>
            <a:pPr algn="l">
              <a:defRPr sz="900" b="0" i="0">
                <a:solidFill>
                  <a:srgbClr val="5A5A5A"/>
                </a:solidFill>
                <a:latin typeface="Arial"/>
              </a:defRPr>
            </a:pPr>
            <a:r>
              <a:t>General-Purpose STM for Concurrent Dynamic Graph Updates on GPUs</a:t>
            </a:r>
          </a:p>
        </p:txBody>
      </p:sp>
      <p:sp>
        <p:nvSpPr>
          <p:cNvPr id="7" name="TextBox 6"/>
          <p:cNvSpPr txBox="1"/>
          <p:nvPr/>
        </p:nvSpPr>
        <p:spPr>
          <a:xfrm>
            <a:off x="10972800" y="6473952"/>
            <a:ext cx="640080" cy="228600"/>
          </a:xfrm>
          <a:prstGeom prst="rect">
            <a:avLst/>
          </a:prstGeom>
          <a:noFill/>
        </p:spPr>
        <p:txBody>
          <a:bodyPr wrap="square">
            <a:spAutoFit/>
          </a:bodyPr>
          <a:lstStyle/>
          <a:p>
            <a:pPr algn="r">
              <a:defRPr sz="900" b="0" i="0">
                <a:solidFill>
                  <a:srgbClr val="5A5A5A"/>
                </a:solidFill>
                <a:latin typeface="Arial"/>
              </a:defRPr>
            </a:pPr>
            <a:r>
              <a:t>5</a:t>
            </a:r>
          </a:p>
        </p:txBody>
      </p:sp>
      <p:graphicFrame>
        <p:nvGraphicFramePr>
          <p:cNvPr id="8" name="Table 7"/>
          <p:cNvGraphicFramePr>
            <a:graphicFrameLocks noGrp="1"/>
          </p:cNvGraphicFramePr>
          <p:nvPr/>
        </p:nvGraphicFramePr>
        <p:xfrm>
          <a:off x="365760" y="1325880"/>
          <a:ext cx="11457432" cy="3749040"/>
        </p:xfrm>
        <a:graphic>
          <a:graphicData uri="http://schemas.openxmlformats.org/drawingml/2006/table">
            <a:tbl>
              <a:tblPr firstRow="1" bandRow="1">
                <a:tableStyleId>{5C22544A-7EE6-4342-B048-85BDC9FD1C3A}</a:tableStyleId>
              </a:tblPr>
              <a:tblGrid>
                <a:gridCol w="1737360"/>
                <a:gridCol w="3429000"/>
                <a:gridCol w="3383280"/>
                <a:gridCol w="2907792"/>
              </a:tblGrid>
              <a:tr h="411480">
                <a:tc>
                  <a:txBody>
                    <a:bodyPr wrap="square"/>
                    <a:lstStyle/>
                    <a:p>
                      <a:pPr algn="ctr">
                        <a:lnSpc>
                          <a:spcPts val="1500"/>
                        </a:lnSpc>
                        <a:spcBef>
                          <a:spcPts val="100"/>
                        </a:spcBef>
                        <a:spcAft>
                          <a:spcPts val="100"/>
                        </a:spcAft>
                        <a:defRPr sz="1200" b="1">
                          <a:solidFill>
                            <a:srgbClr val="FFFFFF"/>
                          </a:solidFill>
                          <a:latin typeface="Arial"/>
                        </a:defRPr>
                      </a:pPr>
                      <a:r>
                        <a:t>Work</a:t>
                      </a:r>
                    </a:p>
                  </a:txBody>
                  <a:tcPr anchor="ctr">
                    <a:solidFill>
                      <a:srgbClr val="1F3A5F"/>
                    </a:solidFill>
                    <a:tcBorders>
                      <a:left>
                        <a:ln w="12700">
                          <a:solidFill>
                            <a:srgbClr val="000000"/>
                          </a:solidFill>
                        </a:ln>
                      </a:left>
                      <a:right>
                        <a:ln w="12700">
                          <a:solidFill>
                            <a:srgbClr val="000000"/>
                          </a:solidFill>
                        </a:ln>
                      </a:right>
                      <a:top>
                        <a:ln w="12700">
                          <a:solidFill>
                            <a:srgbClr val="000000"/>
                          </a:solidFill>
                        </a:ln>
                      </a:top>
                      <a:bottom>
                        <a:ln w="12700">
                          <a:solidFill>
                            <a:srgbClr val="000000"/>
                          </a:solidFill>
                        </a:ln>
                      </a:bottom>
                    </a:tcBorders>
                  </a:tcPr>
                </a:tc>
                <a:tc>
                  <a:txBody>
                    <a:bodyPr wrap="square"/>
                    <a:lstStyle/>
                    <a:p>
                      <a:pPr algn="ctr">
                        <a:lnSpc>
                          <a:spcPts val="1500"/>
                        </a:lnSpc>
                        <a:spcBef>
                          <a:spcPts val="100"/>
                        </a:spcBef>
                        <a:spcAft>
                          <a:spcPts val="100"/>
                        </a:spcAft>
                        <a:defRPr sz="1200" b="1">
                          <a:solidFill>
                            <a:srgbClr val="FFFFFF"/>
                          </a:solidFill>
                          <a:latin typeface="Arial"/>
                        </a:defRPr>
                      </a:pPr>
                      <a:r>
                        <a:t>Core contribution</a:t>
                      </a:r>
                    </a:p>
                  </a:txBody>
                  <a:tcPr anchor="ctr">
                    <a:solidFill>
                      <a:srgbClr val="1F3A5F"/>
                    </a:solidFill>
                    <a:tcBorders>
                      <a:left>
                        <a:ln w="12700">
                          <a:solidFill>
                            <a:srgbClr val="000000"/>
                          </a:solidFill>
                        </a:ln>
                      </a:left>
                      <a:right>
                        <a:ln w="12700">
                          <a:solidFill>
                            <a:srgbClr val="000000"/>
                          </a:solidFill>
                        </a:ln>
                      </a:right>
                      <a:top>
                        <a:ln w="12700">
                          <a:solidFill>
                            <a:srgbClr val="000000"/>
                          </a:solidFill>
                        </a:ln>
                      </a:top>
                      <a:bottom>
                        <a:ln w="12700">
                          <a:solidFill>
                            <a:srgbClr val="000000"/>
                          </a:solidFill>
                        </a:ln>
                      </a:bottom>
                    </a:tcBorders>
                  </a:tcPr>
                </a:tc>
                <a:tc>
                  <a:txBody>
                    <a:bodyPr wrap="square"/>
                    <a:lstStyle/>
                    <a:p>
                      <a:pPr algn="ctr">
                        <a:lnSpc>
                          <a:spcPts val="1500"/>
                        </a:lnSpc>
                        <a:spcBef>
                          <a:spcPts val="100"/>
                        </a:spcBef>
                        <a:spcAft>
                          <a:spcPts val="100"/>
                        </a:spcAft>
                        <a:defRPr sz="1200" b="1">
                          <a:solidFill>
                            <a:srgbClr val="FFFFFF"/>
                          </a:solidFill>
                          <a:latin typeface="Arial"/>
                        </a:defRPr>
                      </a:pPr>
                      <a:r>
                        <a:t>Key idea</a:t>
                      </a:r>
                    </a:p>
                  </a:txBody>
                  <a:tcPr anchor="ctr">
                    <a:solidFill>
                      <a:srgbClr val="1F3A5F"/>
                    </a:solidFill>
                    <a:tcBorders>
                      <a:left>
                        <a:ln w="12700">
                          <a:solidFill>
                            <a:srgbClr val="000000"/>
                          </a:solidFill>
                        </a:ln>
                      </a:left>
                      <a:right>
                        <a:ln w="12700">
                          <a:solidFill>
                            <a:srgbClr val="000000"/>
                          </a:solidFill>
                        </a:ln>
                      </a:right>
                      <a:top>
                        <a:ln w="12700">
                          <a:solidFill>
                            <a:srgbClr val="000000"/>
                          </a:solidFill>
                        </a:ln>
                      </a:top>
                      <a:bottom>
                        <a:ln w="12700">
                          <a:solidFill>
                            <a:srgbClr val="000000"/>
                          </a:solidFill>
                        </a:ln>
                      </a:bottom>
                    </a:tcBorders>
                  </a:tcPr>
                </a:tc>
                <a:tc>
                  <a:txBody>
                    <a:bodyPr wrap="square"/>
                    <a:lstStyle/>
                    <a:p>
                      <a:pPr algn="ctr">
                        <a:lnSpc>
                          <a:spcPts val="1500"/>
                        </a:lnSpc>
                        <a:spcBef>
                          <a:spcPts val="100"/>
                        </a:spcBef>
                        <a:spcAft>
                          <a:spcPts val="100"/>
                        </a:spcAft>
                        <a:defRPr sz="1200" b="1">
                          <a:solidFill>
                            <a:srgbClr val="FFFFFF"/>
                          </a:solidFill>
                          <a:latin typeface="Arial"/>
                        </a:defRPr>
                      </a:pPr>
                      <a:r>
                        <a:t>What it gives us</a:t>
                      </a:r>
                    </a:p>
                  </a:txBody>
                  <a:tcPr anchor="ctr">
                    <a:solidFill>
                      <a:srgbClr val="1F3A5F"/>
                    </a:solidFill>
                    <a:tcBorders>
                      <a:left>
                        <a:ln w="12700">
                          <a:solidFill>
                            <a:srgbClr val="000000"/>
                          </a:solidFill>
                        </a:ln>
                      </a:left>
                      <a:right>
                        <a:ln w="12700">
                          <a:solidFill>
                            <a:srgbClr val="000000"/>
                          </a:solidFill>
                        </a:ln>
                      </a:right>
                      <a:top>
                        <a:ln w="12700">
                          <a:solidFill>
                            <a:srgbClr val="000000"/>
                          </a:solidFill>
                        </a:ln>
                      </a:top>
                      <a:bottom>
                        <a:ln w="12700">
                          <a:solidFill>
                            <a:srgbClr val="000000"/>
                          </a:solidFill>
                        </a:ln>
                      </a:bottom>
                    </a:tcBorders>
                  </a:tcPr>
                </a:tc>
              </a:tr>
              <a:tr h="667512">
                <a:tc>
                  <a:txBody>
                    <a:bodyPr wrap="square"/>
                    <a:lstStyle/>
                    <a:p>
                      <a:pPr algn="ctr">
                        <a:lnSpc>
                          <a:spcPts val="1400"/>
                        </a:lnSpc>
                        <a:spcBef>
                          <a:spcPts val="100"/>
                        </a:spcBef>
                        <a:spcAft>
                          <a:spcPts val="100"/>
                        </a:spcAft>
                        <a:defRPr sz="1100" b="1">
                          <a:solidFill>
                            <a:srgbClr val="000000"/>
                          </a:solidFill>
                          <a:latin typeface="Arial"/>
                        </a:defRPr>
                      </a:pPr>
                      <a:r>
                        <a:t>STM (1997)</a:t>
                      </a:r>
                    </a:p>
                  </a:txBody>
                  <a:tcPr anchor="ctr">
                    <a:solidFill>
                      <a:srgbClr val="FFFFFF"/>
                    </a:solidFill>
                    <a:tcBorders>
                      <a:left>
                        <a:ln w="12700">
                          <a:solidFill>
                            <a:srgbClr val="000000"/>
                          </a:solidFill>
                        </a:ln>
                      </a:left>
                      <a:right>
                        <a:ln w="12700">
                          <a:solidFill>
                            <a:srgbClr val="000000"/>
                          </a:solidFill>
                        </a:ln>
                      </a:right>
                      <a:top>
                        <a:ln w="12700">
                          <a:solidFill>
                            <a:srgbClr val="000000"/>
                          </a:solidFill>
                        </a:ln>
                      </a:top>
                      <a:bottom>
                        <a:ln w="12700">
                          <a:solidFill>
                            <a:srgbClr val="000000"/>
                          </a:solidFill>
                        </a:ln>
                      </a:bottom>
                    </a:tcBorders>
                  </a:tcPr>
                </a:tc>
                <a:tc>
                  <a:txBody>
                    <a:bodyPr wrap="square"/>
                    <a:lstStyle/>
                    <a:p>
                      <a:pPr algn="l">
                        <a:lnSpc>
                          <a:spcPts val="1400"/>
                        </a:lnSpc>
                        <a:spcBef>
                          <a:spcPts val="100"/>
                        </a:spcBef>
                        <a:spcAft>
                          <a:spcPts val="100"/>
                        </a:spcAft>
                        <a:defRPr sz="1100" b="0">
                          <a:solidFill>
                            <a:srgbClr val="000000"/>
                          </a:solidFill>
                          <a:latin typeface="Arial"/>
                        </a:defRPr>
                      </a:pPr>
                      <a:r>
                        <a:t>Introduces STM as a higher-level concurrency abstraction</a:t>
                      </a:r>
                    </a:p>
                  </a:txBody>
                  <a:tcPr anchor="ctr">
                    <a:solidFill>
                      <a:srgbClr val="FFFFFF"/>
                    </a:solidFill>
                    <a:tcBorders>
                      <a:left>
                        <a:ln w="12700">
                          <a:solidFill>
                            <a:srgbClr val="000000"/>
                          </a:solidFill>
                        </a:ln>
                      </a:left>
                      <a:right>
                        <a:ln w="12700">
                          <a:solidFill>
                            <a:srgbClr val="000000"/>
                          </a:solidFill>
                        </a:ln>
                      </a:right>
                      <a:top>
                        <a:ln w="12700">
                          <a:solidFill>
                            <a:srgbClr val="000000"/>
                          </a:solidFill>
                        </a:ln>
                      </a:top>
                      <a:bottom>
                        <a:ln w="12700">
                          <a:solidFill>
                            <a:srgbClr val="000000"/>
                          </a:solidFill>
                        </a:ln>
                      </a:bottom>
                    </a:tcBorders>
                  </a:tcPr>
                </a:tc>
                <a:tc>
                  <a:txBody>
                    <a:bodyPr wrap="square"/>
                    <a:lstStyle/>
                    <a:p>
                      <a:pPr algn="l">
                        <a:lnSpc>
                          <a:spcPts val="1400"/>
                        </a:lnSpc>
                        <a:spcBef>
                          <a:spcPts val="100"/>
                        </a:spcBef>
                        <a:spcAft>
                          <a:spcPts val="100"/>
                        </a:spcAft>
                        <a:defRPr sz="1100" b="0">
                          <a:solidFill>
                            <a:srgbClr val="000000"/>
                          </a:solidFill>
                          <a:latin typeface="Arial"/>
                        </a:defRPr>
                      </a:pPr>
                      <a:r>
                        <a:t>Transactions provide atomicity/consistency without explicit lock management</a:t>
                      </a:r>
                    </a:p>
                  </a:txBody>
                  <a:tcPr anchor="ctr">
                    <a:solidFill>
                      <a:srgbClr val="FFFFFF"/>
                    </a:solidFill>
                    <a:tcBorders>
                      <a:left>
                        <a:ln w="12700">
                          <a:solidFill>
                            <a:srgbClr val="000000"/>
                          </a:solidFill>
                        </a:ln>
                      </a:left>
                      <a:right>
                        <a:ln w="12700">
                          <a:solidFill>
                            <a:srgbClr val="000000"/>
                          </a:solidFill>
                        </a:ln>
                      </a:right>
                      <a:top>
                        <a:ln w="12700">
                          <a:solidFill>
                            <a:srgbClr val="000000"/>
                          </a:solidFill>
                        </a:ln>
                      </a:top>
                      <a:bottom>
                        <a:ln w="12700">
                          <a:solidFill>
                            <a:srgbClr val="000000"/>
                          </a:solidFill>
                        </a:ln>
                      </a:bottom>
                    </a:tcBorders>
                  </a:tcPr>
                </a:tc>
                <a:tc>
                  <a:txBody>
                    <a:bodyPr wrap="square"/>
                    <a:lstStyle/>
                    <a:p>
                      <a:pPr algn="l">
                        <a:lnSpc>
                          <a:spcPts val="1400"/>
                        </a:lnSpc>
                        <a:spcBef>
                          <a:spcPts val="100"/>
                        </a:spcBef>
                        <a:spcAft>
                          <a:spcPts val="100"/>
                        </a:spcAft>
                        <a:defRPr sz="1100" b="0">
                          <a:solidFill>
                            <a:srgbClr val="000000"/>
                          </a:solidFill>
                          <a:latin typeface="Arial"/>
                        </a:defRPr>
                      </a:pPr>
                      <a:r>
                        <a:t>Separates application logic from synchronization</a:t>
                      </a:r>
                    </a:p>
                  </a:txBody>
                  <a:tcPr anchor="ctr">
                    <a:solidFill>
                      <a:srgbClr val="FFFFFF"/>
                    </a:solidFill>
                    <a:tcBorders>
                      <a:left>
                        <a:ln w="12700">
                          <a:solidFill>
                            <a:srgbClr val="000000"/>
                          </a:solidFill>
                        </a:ln>
                      </a:left>
                      <a:right>
                        <a:ln w="12700">
                          <a:solidFill>
                            <a:srgbClr val="000000"/>
                          </a:solidFill>
                        </a:ln>
                      </a:right>
                      <a:top>
                        <a:ln w="12700">
                          <a:solidFill>
                            <a:srgbClr val="000000"/>
                          </a:solidFill>
                        </a:ln>
                      </a:top>
                      <a:bottom>
                        <a:ln w="12700">
                          <a:solidFill>
                            <a:srgbClr val="000000"/>
                          </a:solidFill>
                        </a:ln>
                      </a:bottom>
                    </a:tcBorders>
                  </a:tcPr>
                </a:tc>
              </a:tr>
              <a:tr h="667512">
                <a:tc>
                  <a:txBody>
                    <a:bodyPr wrap="square"/>
                    <a:lstStyle/>
                    <a:p>
                      <a:pPr algn="ctr">
                        <a:lnSpc>
                          <a:spcPts val="1400"/>
                        </a:lnSpc>
                        <a:spcBef>
                          <a:spcPts val="100"/>
                        </a:spcBef>
                        <a:spcAft>
                          <a:spcPts val="100"/>
                        </a:spcAft>
                        <a:defRPr sz="1100" b="1">
                          <a:solidFill>
                            <a:srgbClr val="000000"/>
                          </a:solidFill>
                          <a:latin typeface="Arial"/>
                        </a:defRPr>
                      </a:pPr>
                      <a:r>
                        <a:t>DSTM (2003)</a:t>
                      </a:r>
                    </a:p>
                  </a:txBody>
                  <a:tcPr anchor="ctr">
                    <a:solidFill>
                      <a:srgbClr val="EFF2F7"/>
                    </a:solidFill>
                    <a:tcBorders>
                      <a:left>
                        <a:ln w="12700">
                          <a:solidFill>
                            <a:srgbClr val="000000"/>
                          </a:solidFill>
                        </a:ln>
                      </a:left>
                      <a:right>
                        <a:ln w="12700">
                          <a:solidFill>
                            <a:srgbClr val="000000"/>
                          </a:solidFill>
                        </a:ln>
                      </a:right>
                      <a:top>
                        <a:ln w="12700">
                          <a:solidFill>
                            <a:srgbClr val="000000"/>
                          </a:solidFill>
                        </a:ln>
                      </a:top>
                      <a:bottom>
                        <a:ln w="12700">
                          <a:solidFill>
                            <a:srgbClr val="000000"/>
                          </a:solidFill>
                        </a:ln>
                      </a:bottom>
                    </a:tcBorders>
                  </a:tcPr>
                </a:tc>
                <a:tc>
                  <a:txBody>
                    <a:bodyPr wrap="square"/>
                    <a:lstStyle/>
                    <a:p>
                      <a:pPr algn="l">
                        <a:lnSpc>
                          <a:spcPts val="1400"/>
                        </a:lnSpc>
                        <a:spcBef>
                          <a:spcPts val="100"/>
                        </a:spcBef>
                        <a:spcAft>
                          <a:spcPts val="100"/>
                        </a:spcAft>
                        <a:defRPr sz="1100" b="0">
                          <a:solidFill>
                            <a:srgbClr val="000000"/>
                          </a:solidFill>
                          <a:latin typeface="Arial"/>
                        </a:defRPr>
                      </a:pPr>
                      <a:r>
                        <a:t>Extends STM to dynamically sized data structures</a:t>
                      </a:r>
                    </a:p>
                  </a:txBody>
                  <a:tcPr anchor="ctr">
                    <a:solidFill>
                      <a:srgbClr val="EFF2F7"/>
                    </a:solidFill>
                    <a:tcBorders>
                      <a:left>
                        <a:ln w="12700">
                          <a:solidFill>
                            <a:srgbClr val="000000"/>
                          </a:solidFill>
                        </a:ln>
                      </a:left>
                      <a:right>
                        <a:ln w="12700">
                          <a:solidFill>
                            <a:srgbClr val="000000"/>
                          </a:solidFill>
                        </a:ln>
                      </a:right>
                      <a:top>
                        <a:ln w="12700">
                          <a:solidFill>
                            <a:srgbClr val="000000"/>
                          </a:solidFill>
                        </a:ln>
                      </a:top>
                      <a:bottom>
                        <a:ln w="12700">
                          <a:solidFill>
                            <a:srgbClr val="000000"/>
                          </a:solidFill>
                        </a:ln>
                      </a:bottom>
                    </a:tcBorders>
                  </a:tcPr>
                </a:tc>
                <a:tc>
                  <a:txBody>
                    <a:bodyPr wrap="square"/>
                    <a:lstStyle/>
                    <a:p>
                      <a:pPr algn="l">
                        <a:lnSpc>
                          <a:spcPts val="1400"/>
                        </a:lnSpc>
                        <a:spcBef>
                          <a:spcPts val="100"/>
                        </a:spcBef>
                        <a:spcAft>
                          <a:spcPts val="100"/>
                        </a:spcAft>
                        <a:defRPr sz="1100" b="0">
                          <a:solidFill>
                            <a:srgbClr val="000000"/>
                          </a:solidFill>
                          <a:latin typeface="Arial"/>
                        </a:defRPr>
                      </a:pPr>
                      <a:r>
                        <a:t>Dynamic read/write tracking; demonstrated with red-black trees</a:t>
                      </a:r>
                    </a:p>
                  </a:txBody>
                  <a:tcPr anchor="ctr">
                    <a:solidFill>
                      <a:srgbClr val="EFF2F7"/>
                    </a:solidFill>
                    <a:tcBorders>
                      <a:left>
                        <a:ln w="12700">
                          <a:solidFill>
                            <a:srgbClr val="000000"/>
                          </a:solidFill>
                        </a:ln>
                      </a:left>
                      <a:right>
                        <a:ln w="12700">
                          <a:solidFill>
                            <a:srgbClr val="000000"/>
                          </a:solidFill>
                        </a:ln>
                      </a:right>
                      <a:top>
                        <a:ln w="12700">
                          <a:solidFill>
                            <a:srgbClr val="000000"/>
                          </a:solidFill>
                        </a:ln>
                      </a:top>
                      <a:bottom>
                        <a:ln w="12700">
                          <a:solidFill>
                            <a:srgbClr val="000000"/>
                          </a:solidFill>
                        </a:ln>
                      </a:bottom>
                    </a:tcBorders>
                  </a:tcPr>
                </a:tc>
                <a:tc>
                  <a:txBody>
                    <a:bodyPr wrap="square"/>
                    <a:lstStyle/>
                    <a:p>
                      <a:pPr algn="l">
                        <a:lnSpc>
                          <a:spcPts val="1400"/>
                        </a:lnSpc>
                        <a:spcBef>
                          <a:spcPts val="100"/>
                        </a:spcBef>
                        <a:spcAft>
                          <a:spcPts val="100"/>
                        </a:spcAft>
                        <a:defRPr sz="1100" b="0">
                          <a:solidFill>
                            <a:srgbClr val="000000"/>
                          </a:solidFill>
                          <a:latin typeface="Arial"/>
                        </a:defRPr>
                      </a:pPr>
                      <a:r>
                        <a:t>Relevant to dynamically changing structures</a:t>
                      </a:r>
                    </a:p>
                  </a:txBody>
                  <a:tcPr anchor="ctr">
                    <a:solidFill>
                      <a:srgbClr val="EFF2F7"/>
                    </a:solidFill>
                    <a:tcBorders>
                      <a:left>
                        <a:ln w="12700">
                          <a:solidFill>
                            <a:srgbClr val="000000"/>
                          </a:solidFill>
                        </a:ln>
                      </a:left>
                      <a:right>
                        <a:ln w="12700">
                          <a:solidFill>
                            <a:srgbClr val="000000"/>
                          </a:solidFill>
                        </a:ln>
                      </a:right>
                      <a:top>
                        <a:ln w="12700">
                          <a:solidFill>
                            <a:srgbClr val="000000"/>
                          </a:solidFill>
                        </a:ln>
                      </a:top>
                      <a:bottom>
                        <a:ln w="12700">
                          <a:solidFill>
                            <a:srgbClr val="000000"/>
                          </a:solidFill>
                        </a:ln>
                      </a:bottom>
                    </a:tcBorders>
                  </a:tcPr>
                </a:tc>
              </a:tr>
              <a:tr h="667512">
                <a:tc>
                  <a:txBody>
                    <a:bodyPr wrap="square"/>
                    <a:lstStyle/>
                    <a:p>
                      <a:pPr algn="ctr">
                        <a:lnSpc>
                          <a:spcPts val="1400"/>
                        </a:lnSpc>
                        <a:spcBef>
                          <a:spcPts val="100"/>
                        </a:spcBef>
                        <a:spcAft>
                          <a:spcPts val="100"/>
                        </a:spcAft>
                        <a:defRPr sz="1100" b="1">
                          <a:solidFill>
                            <a:srgbClr val="000000"/>
                          </a:solidFill>
                          <a:latin typeface="Arial"/>
                        </a:defRPr>
                      </a:pPr>
                      <a:r>
                        <a:t>GPU-STM (2013)</a:t>
                      </a:r>
                    </a:p>
                  </a:txBody>
                  <a:tcPr anchor="ctr">
                    <a:solidFill>
                      <a:srgbClr val="FFFFFF"/>
                    </a:solidFill>
                    <a:tcBorders>
                      <a:left>
                        <a:ln w="12700">
                          <a:solidFill>
                            <a:srgbClr val="000000"/>
                          </a:solidFill>
                        </a:ln>
                      </a:left>
                      <a:right>
                        <a:ln w="12700">
                          <a:solidFill>
                            <a:srgbClr val="000000"/>
                          </a:solidFill>
                        </a:ln>
                      </a:right>
                      <a:top>
                        <a:ln w="12700">
                          <a:solidFill>
                            <a:srgbClr val="000000"/>
                          </a:solidFill>
                        </a:ln>
                      </a:top>
                      <a:bottom>
                        <a:ln w="12700">
                          <a:solidFill>
                            <a:srgbClr val="000000"/>
                          </a:solidFill>
                        </a:ln>
                      </a:bottom>
                    </a:tcBorders>
                  </a:tcPr>
                </a:tc>
                <a:tc>
                  <a:txBody>
                    <a:bodyPr wrap="square"/>
                    <a:lstStyle/>
                    <a:p>
                      <a:pPr algn="l">
                        <a:lnSpc>
                          <a:spcPts val="1400"/>
                        </a:lnSpc>
                        <a:spcBef>
                          <a:spcPts val="100"/>
                        </a:spcBef>
                        <a:spcAft>
                          <a:spcPts val="100"/>
                        </a:spcAft>
                        <a:defRPr sz="1100" b="0">
                          <a:solidFill>
                            <a:srgbClr val="000000"/>
                          </a:solidFill>
                          <a:latin typeface="Arial"/>
                        </a:defRPr>
                      </a:pPr>
                      <a:r>
                        <a:t>Adapts STM to GPU architectures</a:t>
                      </a:r>
                    </a:p>
                  </a:txBody>
                  <a:tcPr anchor="ctr">
                    <a:solidFill>
                      <a:srgbClr val="FFFFFF"/>
                    </a:solidFill>
                    <a:tcBorders>
                      <a:left>
                        <a:ln w="12700">
                          <a:solidFill>
                            <a:srgbClr val="000000"/>
                          </a:solidFill>
                        </a:ln>
                      </a:left>
                      <a:right>
                        <a:ln w="12700">
                          <a:solidFill>
                            <a:srgbClr val="000000"/>
                          </a:solidFill>
                        </a:ln>
                      </a:right>
                      <a:top>
                        <a:ln w="12700">
                          <a:solidFill>
                            <a:srgbClr val="000000"/>
                          </a:solidFill>
                        </a:ln>
                      </a:top>
                      <a:bottom>
                        <a:ln w="12700">
                          <a:solidFill>
                            <a:srgbClr val="000000"/>
                          </a:solidFill>
                        </a:ln>
                      </a:bottom>
                    </a:tcBorders>
                  </a:tcPr>
                </a:tc>
                <a:tc>
                  <a:txBody>
                    <a:bodyPr wrap="square"/>
                    <a:lstStyle/>
                    <a:p>
                      <a:pPr algn="l">
                        <a:lnSpc>
                          <a:spcPts val="1400"/>
                        </a:lnSpc>
                        <a:spcBef>
                          <a:spcPts val="100"/>
                        </a:spcBef>
                        <a:spcAft>
                          <a:spcPts val="100"/>
                        </a:spcAft>
                        <a:defRPr sz="1100" b="0">
                          <a:solidFill>
                            <a:srgbClr val="000000"/>
                          </a:solidFill>
                          <a:latin typeface="Arial"/>
                        </a:defRPr>
                      </a:pPr>
                      <a:r>
                        <a:t>Hierarchical validation + encounter-time lock sorting</a:t>
                      </a:r>
                    </a:p>
                  </a:txBody>
                  <a:tcPr anchor="ctr">
                    <a:solidFill>
                      <a:srgbClr val="FFFFFF"/>
                    </a:solidFill>
                    <a:tcBorders>
                      <a:left>
                        <a:ln w="12700">
                          <a:solidFill>
                            <a:srgbClr val="000000"/>
                          </a:solidFill>
                        </a:ln>
                      </a:left>
                      <a:right>
                        <a:ln w="12700">
                          <a:solidFill>
                            <a:srgbClr val="000000"/>
                          </a:solidFill>
                        </a:ln>
                      </a:right>
                      <a:top>
                        <a:ln w="12700">
                          <a:solidFill>
                            <a:srgbClr val="000000"/>
                          </a:solidFill>
                        </a:ln>
                      </a:top>
                      <a:bottom>
                        <a:ln w="12700">
                          <a:solidFill>
                            <a:srgbClr val="000000"/>
                          </a:solidFill>
                        </a:ln>
                      </a:bottom>
                    </a:tcBorders>
                  </a:tcPr>
                </a:tc>
                <a:tc>
                  <a:txBody>
                    <a:bodyPr wrap="square"/>
                    <a:lstStyle/>
                    <a:p>
                      <a:pPr algn="l">
                        <a:lnSpc>
                          <a:spcPts val="1400"/>
                        </a:lnSpc>
                        <a:spcBef>
                          <a:spcPts val="100"/>
                        </a:spcBef>
                        <a:spcAft>
                          <a:spcPts val="100"/>
                        </a:spcAft>
                        <a:defRPr sz="1100" b="0">
                          <a:solidFill>
                            <a:srgbClr val="000000"/>
                          </a:solidFill>
                          <a:latin typeface="Arial"/>
                        </a:defRPr>
                      </a:pPr>
                      <a:r>
                        <a:t>Shows STM is feasible on GPUs</a:t>
                      </a:r>
                    </a:p>
                  </a:txBody>
                  <a:tcPr anchor="ctr">
                    <a:solidFill>
                      <a:srgbClr val="FFFFFF"/>
                    </a:solidFill>
                    <a:tcBorders>
                      <a:left>
                        <a:ln w="12700">
                          <a:solidFill>
                            <a:srgbClr val="000000"/>
                          </a:solidFill>
                        </a:ln>
                      </a:left>
                      <a:right>
                        <a:ln w="12700">
                          <a:solidFill>
                            <a:srgbClr val="000000"/>
                          </a:solidFill>
                        </a:ln>
                      </a:right>
                      <a:top>
                        <a:ln w="12700">
                          <a:solidFill>
                            <a:srgbClr val="000000"/>
                          </a:solidFill>
                        </a:ln>
                      </a:top>
                      <a:bottom>
                        <a:ln w="12700">
                          <a:solidFill>
                            <a:srgbClr val="000000"/>
                          </a:solidFill>
                        </a:ln>
                      </a:bottom>
                    </a:tcBorders>
                  </a:tcPr>
                </a:tc>
              </a:tr>
              <a:tr h="667512">
                <a:tc>
                  <a:txBody>
                    <a:bodyPr wrap="square"/>
                    <a:lstStyle/>
                    <a:p>
                      <a:pPr algn="ctr">
                        <a:lnSpc>
                          <a:spcPts val="1400"/>
                        </a:lnSpc>
                        <a:spcBef>
                          <a:spcPts val="100"/>
                        </a:spcBef>
                        <a:spcAft>
                          <a:spcPts val="100"/>
                        </a:spcAft>
                        <a:defRPr sz="1100" b="1">
                          <a:solidFill>
                            <a:srgbClr val="000000"/>
                          </a:solidFill>
                          <a:latin typeface="Arial"/>
                        </a:defRPr>
                      </a:pPr>
                      <a:r>
                        <a:t>CSMV (2022)</a:t>
                      </a:r>
                    </a:p>
                  </a:txBody>
                  <a:tcPr anchor="ctr">
                    <a:solidFill>
                      <a:srgbClr val="EFF2F7"/>
                    </a:solidFill>
                    <a:tcBorders>
                      <a:left>
                        <a:ln w="12700">
                          <a:solidFill>
                            <a:srgbClr val="000000"/>
                          </a:solidFill>
                        </a:ln>
                      </a:left>
                      <a:right>
                        <a:ln w="12700">
                          <a:solidFill>
                            <a:srgbClr val="000000"/>
                          </a:solidFill>
                        </a:ln>
                      </a:right>
                      <a:top>
                        <a:ln w="12700">
                          <a:solidFill>
                            <a:srgbClr val="000000"/>
                          </a:solidFill>
                        </a:ln>
                      </a:top>
                      <a:bottom>
                        <a:ln w="12700">
                          <a:solidFill>
                            <a:srgbClr val="000000"/>
                          </a:solidFill>
                        </a:ln>
                      </a:bottom>
                    </a:tcBorders>
                  </a:tcPr>
                </a:tc>
                <a:tc>
                  <a:txBody>
                    <a:bodyPr wrap="square"/>
                    <a:lstStyle/>
                    <a:p>
                      <a:pPr algn="l">
                        <a:lnSpc>
                          <a:spcPts val="1400"/>
                        </a:lnSpc>
                        <a:spcBef>
                          <a:spcPts val="100"/>
                        </a:spcBef>
                        <a:spcAft>
                          <a:spcPts val="100"/>
                        </a:spcAft>
                        <a:defRPr sz="1100" b="0">
                          <a:solidFill>
                            <a:srgbClr val="000000"/>
                          </a:solidFill>
                          <a:latin typeface="Arial"/>
                        </a:defRPr>
                      </a:pPr>
                      <a:r>
                        <a:t>Multi-version GPU STM</a:t>
                      </a:r>
                    </a:p>
                  </a:txBody>
                  <a:tcPr anchor="ctr">
                    <a:solidFill>
                      <a:srgbClr val="EFF2F7"/>
                    </a:solidFill>
                    <a:tcBorders>
                      <a:left>
                        <a:ln w="12700">
                          <a:solidFill>
                            <a:srgbClr val="000000"/>
                          </a:solidFill>
                        </a:ln>
                      </a:left>
                      <a:right>
                        <a:ln w="12700">
                          <a:solidFill>
                            <a:srgbClr val="000000"/>
                          </a:solidFill>
                        </a:ln>
                      </a:right>
                      <a:top>
                        <a:ln w="12700">
                          <a:solidFill>
                            <a:srgbClr val="000000"/>
                          </a:solidFill>
                        </a:ln>
                      </a:top>
                      <a:bottom>
                        <a:ln w="12700">
                          <a:solidFill>
                            <a:srgbClr val="000000"/>
                          </a:solidFill>
                        </a:ln>
                      </a:bottom>
                    </a:tcBorders>
                  </a:tcPr>
                </a:tc>
                <a:tc>
                  <a:txBody>
                    <a:bodyPr wrap="square"/>
                    <a:lstStyle/>
                    <a:p>
                      <a:pPr algn="l">
                        <a:lnSpc>
                          <a:spcPts val="1400"/>
                        </a:lnSpc>
                        <a:spcBef>
                          <a:spcPts val="100"/>
                        </a:spcBef>
                        <a:spcAft>
                          <a:spcPts val="100"/>
                        </a:spcAft>
                        <a:defRPr sz="1100" b="0">
                          <a:solidFill>
                            <a:srgbClr val="000000"/>
                          </a:solidFill>
                          <a:latin typeface="Arial"/>
                        </a:defRPr>
                      </a:pPr>
                      <a:r>
                        <a:t>Client-server design separates execution from commit processing</a:t>
                      </a:r>
                    </a:p>
                  </a:txBody>
                  <a:tcPr anchor="ctr">
                    <a:solidFill>
                      <a:srgbClr val="EFF2F7"/>
                    </a:solidFill>
                    <a:tcBorders>
                      <a:left>
                        <a:ln w="12700">
                          <a:solidFill>
                            <a:srgbClr val="000000"/>
                          </a:solidFill>
                        </a:ln>
                      </a:left>
                      <a:right>
                        <a:ln w="12700">
                          <a:solidFill>
                            <a:srgbClr val="000000"/>
                          </a:solidFill>
                        </a:ln>
                      </a:right>
                      <a:top>
                        <a:ln w="12700">
                          <a:solidFill>
                            <a:srgbClr val="000000"/>
                          </a:solidFill>
                        </a:ln>
                      </a:top>
                      <a:bottom>
                        <a:ln w="12700">
                          <a:solidFill>
                            <a:srgbClr val="000000"/>
                          </a:solidFill>
                        </a:ln>
                      </a:bottom>
                    </a:tcBorders>
                  </a:tcPr>
                </a:tc>
                <a:tc>
                  <a:txBody>
                    <a:bodyPr wrap="square"/>
                    <a:lstStyle/>
                    <a:p>
                      <a:pPr algn="l">
                        <a:lnSpc>
                          <a:spcPts val="1400"/>
                        </a:lnSpc>
                        <a:spcBef>
                          <a:spcPts val="100"/>
                        </a:spcBef>
                        <a:spcAft>
                          <a:spcPts val="100"/>
                        </a:spcAft>
                        <a:defRPr sz="1100" b="0">
                          <a:solidFill>
                            <a:srgbClr val="000000"/>
                          </a:solidFill>
                          <a:latin typeface="Arial"/>
                        </a:defRPr>
                      </a:pPr>
                      <a:r>
                        <a:t>Shows GPU-STM can be further optimized</a:t>
                      </a:r>
                    </a:p>
                  </a:txBody>
                  <a:tcPr anchor="ctr">
                    <a:solidFill>
                      <a:srgbClr val="EFF2F7"/>
                    </a:solidFill>
                    <a:tcBorders>
                      <a:left>
                        <a:ln w="12700">
                          <a:solidFill>
                            <a:srgbClr val="000000"/>
                          </a:solidFill>
                        </a:ln>
                      </a:left>
                      <a:right>
                        <a:ln w="12700">
                          <a:solidFill>
                            <a:srgbClr val="000000"/>
                          </a:solidFill>
                        </a:ln>
                      </a:right>
                      <a:top>
                        <a:ln w="12700">
                          <a:solidFill>
                            <a:srgbClr val="000000"/>
                          </a:solidFill>
                        </a:ln>
                      </a:top>
                      <a:bottom>
                        <a:ln w="12700">
                          <a:solidFill>
                            <a:srgbClr val="000000"/>
                          </a:solidFill>
                        </a:ln>
                      </a:bottom>
                    </a:tcBorders>
                  </a:tcPr>
                </a:tc>
              </a:tr>
              <a:tr h="667512">
                <a:tc>
                  <a:txBody>
                    <a:bodyPr wrap="square"/>
                    <a:lstStyle/>
                    <a:p>
                      <a:pPr algn="ctr">
                        <a:lnSpc>
                          <a:spcPts val="1400"/>
                        </a:lnSpc>
                        <a:spcBef>
                          <a:spcPts val="100"/>
                        </a:spcBef>
                        <a:spcAft>
                          <a:spcPts val="100"/>
                        </a:spcAft>
                        <a:defRPr sz="1100" b="1">
                          <a:solidFill>
                            <a:srgbClr val="000000"/>
                          </a:solidFill>
                          <a:latin typeface="Arial"/>
                        </a:defRPr>
                      </a:pPr>
                      <a:r>
                        <a:t>OF-GPU-STM (2025)</a:t>
                      </a:r>
                    </a:p>
                  </a:txBody>
                  <a:tcPr anchor="ctr">
                    <a:solidFill>
                      <a:srgbClr val="FFFFFF"/>
                    </a:solidFill>
                    <a:tcBorders>
                      <a:left>
                        <a:ln w="12700">
                          <a:solidFill>
                            <a:srgbClr val="000000"/>
                          </a:solidFill>
                        </a:ln>
                      </a:left>
                      <a:right>
                        <a:ln w="12700">
                          <a:solidFill>
                            <a:srgbClr val="000000"/>
                          </a:solidFill>
                        </a:ln>
                      </a:right>
                      <a:top>
                        <a:ln w="12700">
                          <a:solidFill>
                            <a:srgbClr val="000000"/>
                          </a:solidFill>
                        </a:ln>
                      </a:top>
                      <a:bottom>
                        <a:ln w="12700">
                          <a:solidFill>
                            <a:srgbClr val="000000"/>
                          </a:solidFill>
                        </a:ln>
                      </a:bottom>
                    </a:tcBorders>
                  </a:tcPr>
                </a:tc>
                <a:tc>
                  <a:txBody>
                    <a:bodyPr wrap="square"/>
                    <a:lstStyle/>
                    <a:p>
                      <a:pPr algn="l">
                        <a:lnSpc>
                          <a:spcPts val="1400"/>
                        </a:lnSpc>
                        <a:spcBef>
                          <a:spcPts val="100"/>
                        </a:spcBef>
                        <a:spcAft>
                          <a:spcPts val="100"/>
                        </a:spcAft>
                        <a:defRPr sz="1100" b="0">
                          <a:solidFill>
                            <a:srgbClr val="000000"/>
                          </a:solidFill>
                          <a:latin typeface="Arial"/>
                        </a:defRPr>
                      </a:pPr>
                      <a:r>
                        <a:t>Explores obstruction-free GPU STM</a:t>
                      </a:r>
                    </a:p>
                  </a:txBody>
                  <a:tcPr anchor="ctr">
                    <a:solidFill>
                      <a:srgbClr val="FFFFFF"/>
                    </a:solidFill>
                    <a:tcBorders>
                      <a:left>
                        <a:ln w="12700">
                          <a:solidFill>
                            <a:srgbClr val="000000"/>
                          </a:solidFill>
                        </a:ln>
                      </a:left>
                      <a:right>
                        <a:ln w="12700">
                          <a:solidFill>
                            <a:srgbClr val="000000"/>
                          </a:solidFill>
                        </a:ln>
                      </a:right>
                      <a:top>
                        <a:ln w="12700">
                          <a:solidFill>
                            <a:srgbClr val="000000"/>
                          </a:solidFill>
                        </a:ln>
                      </a:top>
                      <a:bottom>
                        <a:ln w="12700">
                          <a:solidFill>
                            <a:srgbClr val="000000"/>
                          </a:solidFill>
                        </a:ln>
                      </a:bottom>
                    </a:tcBorders>
                  </a:tcPr>
                </a:tc>
                <a:tc>
                  <a:txBody>
                    <a:bodyPr wrap="square"/>
                    <a:lstStyle/>
                    <a:p>
                      <a:pPr algn="l">
                        <a:lnSpc>
                          <a:spcPts val="1400"/>
                        </a:lnSpc>
                        <a:spcBef>
                          <a:spcPts val="100"/>
                        </a:spcBef>
                        <a:spcAft>
                          <a:spcPts val="100"/>
                        </a:spcAft>
                        <a:defRPr sz="1100" b="0">
                          <a:solidFill>
                            <a:srgbClr val="000000"/>
                          </a:solidFill>
                          <a:latin typeface="Arial"/>
                        </a:defRPr>
                      </a:pPr>
                      <a:r>
                        <a:t>Non-blocking progress approach</a:t>
                      </a:r>
                    </a:p>
                  </a:txBody>
                  <a:tcPr anchor="ctr">
                    <a:solidFill>
                      <a:srgbClr val="FFFFFF"/>
                    </a:solidFill>
                    <a:tcBorders>
                      <a:left>
                        <a:ln w="12700">
                          <a:solidFill>
                            <a:srgbClr val="000000"/>
                          </a:solidFill>
                        </a:ln>
                      </a:left>
                      <a:right>
                        <a:ln w="12700">
                          <a:solidFill>
                            <a:srgbClr val="000000"/>
                          </a:solidFill>
                        </a:ln>
                      </a:right>
                      <a:top>
                        <a:ln w="12700">
                          <a:solidFill>
                            <a:srgbClr val="000000"/>
                          </a:solidFill>
                        </a:ln>
                      </a:top>
                      <a:bottom>
                        <a:ln w="12700">
                          <a:solidFill>
                            <a:srgbClr val="000000"/>
                          </a:solidFill>
                        </a:ln>
                      </a:bottom>
                    </a:tcBorders>
                  </a:tcPr>
                </a:tc>
                <a:tc>
                  <a:txBody>
                    <a:bodyPr wrap="square"/>
                    <a:lstStyle/>
                    <a:p>
                      <a:pPr algn="l">
                        <a:lnSpc>
                          <a:spcPts val="1400"/>
                        </a:lnSpc>
                        <a:spcBef>
                          <a:spcPts val="100"/>
                        </a:spcBef>
                        <a:spcAft>
                          <a:spcPts val="100"/>
                        </a:spcAft>
                        <a:defRPr sz="1100" b="0">
                          <a:solidFill>
                            <a:srgbClr val="000000"/>
                          </a:solidFill>
                          <a:latin typeface="Arial"/>
                        </a:defRPr>
                      </a:pPr>
                      <a:r>
                        <a:t>Addresses GPU synchronization/progress challenges</a:t>
                      </a:r>
                    </a:p>
                  </a:txBody>
                  <a:tcPr anchor="ctr">
                    <a:solidFill>
                      <a:srgbClr val="FFFFFF"/>
                    </a:solidFill>
                    <a:tcBorders>
                      <a:left>
                        <a:ln w="12700">
                          <a:solidFill>
                            <a:srgbClr val="000000"/>
                          </a:solidFill>
                        </a:ln>
                      </a:left>
                      <a:right>
                        <a:ln w="12700">
                          <a:solidFill>
                            <a:srgbClr val="000000"/>
                          </a:solidFill>
                        </a:ln>
                      </a:right>
                      <a:top>
                        <a:ln w="12700">
                          <a:solidFill>
                            <a:srgbClr val="000000"/>
                          </a:solidFill>
                        </a:ln>
                      </a:top>
                      <a:bottom>
                        <a:ln w="12700">
                          <a:solidFill>
                            <a:srgbClr val="000000"/>
                          </a:solidFill>
                        </a:ln>
                      </a:bottom>
                    </a:tcBorders>
                  </a:tcPr>
                </a:tc>
              </a:tr>
            </a:tbl>
          </a:graphicData>
        </a:graphic>
      </p:graphicFrame>
      <p:cxnSp>
        <p:nvCxnSpPr>
          <p:cNvPr id="9" name="Connector 8"/>
          <p:cNvCxnSpPr/>
          <p:nvPr/>
        </p:nvCxnSpPr>
        <p:spPr>
          <a:xfrm>
            <a:off x="548640" y="5212080"/>
            <a:ext cx="11091672" cy="0"/>
          </a:xfrm>
          <a:prstGeom prst="line">
            <a:avLst/>
          </a:prstGeom>
          <a:ln w="9525">
            <a:solidFill>
              <a:srgbClr val="BFBFBF"/>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48640" y="5303520"/>
            <a:ext cx="11091672" cy="411480"/>
          </a:xfrm>
          <a:prstGeom prst="rect">
            <a:avLst/>
          </a:prstGeom>
          <a:noFill/>
        </p:spPr>
        <p:txBody>
          <a:bodyPr wrap="square">
            <a:spAutoFit/>
          </a:bodyPr>
          <a:lstStyle/>
          <a:p>
            <a:pPr algn="ctr">
              <a:defRPr sz="1200" b="1" i="0">
                <a:solidFill>
                  <a:srgbClr val="1F3A5F"/>
                </a:solidFill>
                <a:latin typeface="Arial"/>
              </a:defRPr>
            </a:pPr>
            <a:r>
              <a:t>STM evolved from a general abstraction → dynamic structures → GPU-specific synchronization.</a:t>
            </a:r>
          </a:p>
        </p:txBody>
      </p:sp>
      <p:sp>
        <p:nvSpPr>
          <p:cNvPr id="11" name="TextBox 10"/>
          <p:cNvSpPr txBox="1"/>
          <p:nvPr/>
        </p:nvSpPr>
        <p:spPr>
          <a:xfrm>
            <a:off x="548640" y="5715000"/>
            <a:ext cx="11091672" cy="548640"/>
          </a:xfrm>
          <a:prstGeom prst="rect">
            <a:avLst/>
          </a:prstGeom>
          <a:noFill/>
        </p:spPr>
        <p:txBody>
          <a:bodyPr wrap="square">
            <a:spAutoFit/>
          </a:bodyPr>
          <a:lstStyle/>
          <a:p>
            <a:pPr algn="ctr">
              <a:defRPr sz="1100" b="0" i="1">
                <a:solidFill>
                  <a:srgbClr val="333333"/>
                </a:solidFill>
                <a:latin typeface="Arial"/>
              </a:defRPr>
            </a:pPr>
            <a:r>
              <a:t>Gap: GPU-STM has been evaluated on general workloads, not concurrent dynamic graph updates.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28600"/>
            <a:ext cx="11064240" cy="274320"/>
          </a:xfrm>
          <a:prstGeom prst="rect">
            <a:avLst/>
          </a:prstGeom>
          <a:noFill/>
        </p:spPr>
        <p:txBody>
          <a:bodyPr wrap="square">
            <a:spAutoFit/>
          </a:bodyPr>
          <a:lstStyle/>
          <a:p>
            <a:pPr algn="l">
              <a:defRPr sz="1100" b="0" i="0">
                <a:solidFill>
                  <a:srgbClr val="5A5A5A"/>
                </a:solidFill>
                <a:latin typeface="Arial"/>
              </a:defRPr>
            </a:pPr>
            <a:r>
              <a:t>6  —  LITERATURE</a:t>
            </a:r>
          </a:p>
        </p:txBody>
      </p:sp>
      <p:sp>
        <p:nvSpPr>
          <p:cNvPr id="3" name="TextBox 2"/>
          <p:cNvSpPr txBox="1"/>
          <p:nvPr/>
        </p:nvSpPr>
        <p:spPr>
          <a:xfrm>
            <a:off x="548640" y="457200"/>
            <a:ext cx="11064240" cy="594360"/>
          </a:xfrm>
          <a:prstGeom prst="rect">
            <a:avLst/>
          </a:prstGeom>
          <a:noFill/>
        </p:spPr>
        <p:txBody>
          <a:bodyPr wrap="square">
            <a:spAutoFit/>
          </a:bodyPr>
          <a:lstStyle/>
          <a:p>
            <a:pPr algn="l">
              <a:defRPr sz="2400" b="1" i="0">
                <a:solidFill>
                  <a:srgbClr val="1F3A5F"/>
                </a:solidFill>
                <a:latin typeface="Arial"/>
              </a:defRPr>
            </a:pPr>
            <a:r>
              <a:t>Dynamic Graph Processing on GPUs</a:t>
            </a:r>
          </a:p>
        </p:txBody>
      </p:sp>
      <p:cxnSp>
        <p:nvCxnSpPr>
          <p:cNvPr id="4" name="Connector 3"/>
          <p:cNvCxnSpPr/>
          <p:nvPr/>
        </p:nvCxnSpPr>
        <p:spPr>
          <a:xfrm>
            <a:off x="548640" y="1143000"/>
            <a:ext cx="11091672" cy="0"/>
          </a:xfrm>
          <a:prstGeom prst="line">
            <a:avLst/>
          </a:prstGeom>
          <a:ln w="19050">
            <a:solidFill>
              <a:srgbClr val="1F3A5F"/>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548640" y="6446520"/>
            <a:ext cx="11091672" cy="0"/>
          </a:xfrm>
          <a:prstGeom prst="line">
            <a:avLst/>
          </a:prstGeom>
          <a:ln w="9525">
            <a:solidFill>
              <a:srgbClr val="BFBFBF"/>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48640" y="6473952"/>
            <a:ext cx="7315200" cy="228600"/>
          </a:xfrm>
          <a:prstGeom prst="rect">
            <a:avLst/>
          </a:prstGeom>
          <a:noFill/>
        </p:spPr>
        <p:txBody>
          <a:bodyPr wrap="square">
            <a:spAutoFit/>
          </a:bodyPr>
          <a:lstStyle/>
          <a:p>
            <a:pPr algn="l">
              <a:defRPr sz="900" b="0" i="0">
                <a:solidFill>
                  <a:srgbClr val="5A5A5A"/>
                </a:solidFill>
                <a:latin typeface="Arial"/>
              </a:defRPr>
            </a:pPr>
            <a:r>
              <a:t>General-Purpose STM for Concurrent Dynamic Graph Updates on GPUs</a:t>
            </a:r>
          </a:p>
        </p:txBody>
      </p:sp>
      <p:sp>
        <p:nvSpPr>
          <p:cNvPr id="7" name="TextBox 6"/>
          <p:cNvSpPr txBox="1"/>
          <p:nvPr/>
        </p:nvSpPr>
        <p:spPr>
          <a:xfrm>
            <a:off x="10972800" y="6473952"/>
            <a:ext cx="640080" cy="228600"/>
          </a:xfrm>
          <a:prstGeom prst="rect">
            <a:avLst/>
          </a:prstGeom>
          <a:noFill/>
        </p:spPr>
        <p:txBody>
          <a:bodyPr wrap="square">
            <a:spAutoFit/>
          </a:bodyPr>
          <a:lstStyle/>
          <a:p>
            <a:pPr algn="r">
              <a:defRPr sz="900" b="0" i="0">
                <a:solidFill>
                  <a:srgbClr val="5A5A5A"/>
                </a:solidFill>
                <a:latin typeface="Arial"/>
              </a:defRPr>
            </a:pPr>
            <a:r>
              <a:t>6</a:t>
            </a:r>
          </a:p>
        </p:txBody>
      </p:sp>
      <p:graphicFrame>
        <p:nvGraphicFramePr>
          <p:cNvPr id="8" name="Table 7"/>
          <p:cNvGraphicFramePr>
            <a:graphicFrameLocks noGrp="1"/>
          </p:cNvGraphicFramePr>
          <p:nvPr/>
        </p:nvGraphicFramePr>
        <p:xfrm>
          <a:off x="365760" y="1325880"/>
          <a:ext cx="11457432" cy="3374136"/>
        </p:xfrm>
        <a:graphic>
          <a:graphicData uri="http://schemas.openxmlformats.org/drawingml/2006/table">
            <a:tbl>
              <a:tblPr firstRow="1" bandRow="1">
                <a:tableStyleId>{5C22544A-7EE6-4342-B048-85BDC9FD1C3A}</a:tableStyleId>
              </a:tblPr>
              <a:tblGrid>
                <a:gridCol w="1737360"/>
                <a:gridCol w="3429000"/>
                <a:gridCol w="3383280"/>
                <a:gridCol w="2907792"/>
              </a:tblGrid>
              <a:tr h="411480">
                <a:tc>
                  <a:txBody>
                    <a:bodyPr wrap="square"/>
                    <a:lstStyle/>
                    <a:p>
                      <a:pPr algn="ctr">
                        <a:lnSpc>
                          <a:spcPts val="1500"/>
                        </a:lnSpc>
                        <a:spcBef>
                          <a:spcPts val="100"/>
                        </a:spcBef>
                        <a:spcAft>
                          <a:spcPts val="100"/>
                        </a:spcAft>
                        <a:defRPr sz="1200" b="1">
                          <a:solidFill>
                            <a:srgbClr val="FFFFFF"/>
                          </a:solidFill>
                          <a:latin typeface="Arial"/>
                        </a:defRPr>
                      </a:pPr>
                      <a:r>
                        <a:t>Work</a:t>
                      </a:r>
                    </a:p>
                  </a:txBody>
                  <a:tcPr anchor="ctr">
                    <a:solidFill>
                      <a:srgbClr val="1F3A5F"/>
                    </a:solidFill>
                    <a:tcBorders>
                      <a:left>
                        <a:ln w="12700">
                          <a:solidFill>
                            <a:srgbClr val="000000"/>
                          </a:solidFill>
                        </a:ln>
                      </a:left>
                      <a:right>
                        <a:ln w="12700">
                          <a:solidFill>
                            <a:srgbClr val="000000"/>
                          </a:solidFill>
                        </a:ln>
                      </a:right>
                      <a:top>
                        <a:ln w="12700">
                          <a:solidFill>
                            <a:srgbClr val="000000"/>
                          </a:solidFill>
                        </a:ln>
                      </a:top>
                      <a:bottom>
                        <a:ln w="12700">
                          <a:solidFill>
                            <a:srgbClr val="000000"/>
                          </a:solidFill>
                        </a:ln>
                      </a:bottom>
                    </a:tcBorders>
                  </a:tcPr>
                </a:tc>
                <a:tc>
                  <a:txBody>
                    <a:bodyPr wrap="square"/>
                    <a:lstStyle/>
                    <a:p>
                      <a:pPr algn="ctr">
                        <a:lnSpc>
                          <a:spcPts val="1500"/>
                        </a:lnSpc>
                        <a:spcBef>
                          <a:spcPts val="100"/>
                        </a:spcBef>
                        <a:spcAft>
                          <a:spcPts val="100"/>
                        </a:spcAft>
                        <a:defRPr sz="1200" b="1">
                          <a:solidFill>
                            <a:srgbClr val="FFFFFF"/>
                          </a:solidFill>
                          <a:latin typeface="Arial"/>
                        </a:defRPr>
                      </a:pPr>
                      <a:r>
                        <a:t>Core contribution</a:t>
                      </a:r>
                    </a:p>
                  </a:txBody>
                  <a:tcPr anchor="ctr">
                    <a:solidFill>
                      <a:srgbClr val="1F3A5F"/>
                    </a:solidFill>
                    <a:tcBorders>
                      <a:left>
                        <a:ln w="12700">
                          <a:solidFill>
                            <a:srgbClr val="000000"/>
                          </a:solidFill>
                        </a:ln>
                      </a:left>
                      <a:right>
                        <a:ln w="12700">
                          <a:solidFill>
                            <a:srgbClr val="000000"/>
                          </a:solidFill>
                        </a:ln>
                      </a:right>
                      <a:top>
                        <a:ln w="12700">
                          <a:solidFill>
                            <a:srgbClr val="000000"/>
                          </a:solidFill>
                        </a:ln>
                      </a:top>
                      <a:bottom>
                        <a:ln w="12700">
                          <a:solidFill>
                            <a:srgbClr val="000000"/>
                          </a:solidFill>
                        </a:ln>
                      </a:bottom>
                    </a:tcBorders>
                  </a:tcPr>
                </a:tc>
                <a:tc>
                  <a:txBody>
                    <a:bodyPr wrap="square"/>
                    <a:lstStyle/>
                    <a:p>
                      <a:pPr algn="ctr">
                        <a:lnSpc>
                          <a:spcPts val="1500"/>
                        </a:lnSpc>
                        <a:spcBef>
                          <a:spcPts val="100"/>
                        </a:spcBef>
                        <a:spcAft>
                          <a:spcPts val="100"/>
                        </a:spcAft>
                        <a:defRPr sz="1200" b="1">
                          <a:solidFill>
                            <a:srgbClr val="FFFFFF"/>
                          </a:solidFill>
                          <a:latin typeface="Arial"/>
                        </a:defRPr>
                      </a:pPr>
                      <a:r>
                        <a:t>Key idea</a:t>
                      </a:r>
                    </a:p>
                  </a:txBody>
                  <a:tcPr anchor="ctr">
                    <a:solidFill>
                      <a:srgbClr val="1F3A5F"/>
                    </a:solidFill>
                    <a:tcBorders>
                      <a:left>
                        <a:ln w="12700">
                          <a:solidFill>
                            <a:srgbClr val="000000"/>
                          </a:solidFill>
                        </a:ln>
                      </a:left>
                      <a:right>
                        <a:ln w="12700">
                          <a:solidFill>
                            <a:srgbClr val="000000"/>
                          </a:solidFill>
                        </a:ln>
                      </a:right>
                      <a:top>
                        <a:ln w="12700">
                          <a:solidFill>
                            <a:srgbClr val="000000"/>
                          </a:solidFill>
                        </a:ln>
                      </a:top>
                      <a:bottom>
                        <a:ln w="12700">
                          <a:solidFill>
                            <a:srgbClr val="000000"/>
                          </a:solidFill>
                        </a:ln>
                      </a:bottom>
                    </a:tcBorders>
                  </a:tcPr>
                </a:tc>
                <a:tc>
                  <a:txBody>
                    <a:bodyPr wrap="square"/>
                    <a:lstStyle/>
                    <a:p>
                      <a:pPr algn="ctr">
                        <a:lnSpc>
                          <a:spcPts val="1500"/>
                        </a:lnSpc>
                        <a:spcBef>
                          <a:spcPts val="100"/>
                        </a:spcBef>
                        <a:spcAft>
                          <a:spcPts val="100"/>
                        </a:spcAft>
                        <a:defRPr sz="1200" b="1">
                          <a:solidFill>
                            <a:srgbClr val="FFFFFF"/>
                          </a:solidFill>
                          <a:latin typeface="Arial"/>
                        </a:defRPr>
                      </a:pPr>
                      <a:r>
                        <a:t>What it gives us</a:t>
                      </a:r>
                    </a:p>
                  </a:txBody>
                  <a:tcPr anchor="ctr">
                    <a:solidFill>
                      <a:srgbClr val="1F3A5F"/>
                    </a:solidFill>
                    <a:tcBorders>
                      <a:left>
                        <a:ln w="12700">
                          <a:solidFill>
                            <a:srgbClr val="000000"/>
                          </a:solidFill>
                        </a:ln>
                      </a:left>
                      <a:right>
                        <a:ln w="12700">
                          <a:solidFill>
                            <a:srgbClr val="000000"/>
                          </a:solidFill>
                        </a:ln>
                      </a:right>
                      <a:top>
                        <a:ln w="12700">
                          <a:solidFill>
                            <a:srgbClr val="000000"/>
                          </a:solidFill>
                        </a:ln>
                      </a:top>
                      <a:bottom>
                        <a:ln w="12700">
                          <a:solidFill>
                            <a:srgbClr val="000000"/>
                          </a:solidFill>
                        </a:ln>
                      </a:bottom>
                    </a:tcBorders>
                  </a:tcPr>
                </a:tc>
              </a:tr>
              <a:tr h="740664">
                <a:tc>
                  <a:txBody>
                    <a:bodyPr wrap="square"/>
                    <a:lstStyle/>
                    <a:p>
                      <a:pPr algn="ctr">
                        <a:lnSpc>
                          <a:spcPts val="1400"/>
                        </a:lnSpc>
                        <a:spcBef>
                          <a:spcPts val="100"/>
                        </a:spcBef>
                        <a:spcAft>
                          <a:spcPts val="100"/>
                        </a:spcAft>
                        <a:defRPr sz="1100" b="1">
                          <a:solidFill>
                            <a:srgbClr val="000000"/>
                          </a:solidFill>
                          <a:latin typeface="Arial"/>
                        </a:defRPr>
                      </a:pPr>
                      <a:r>
                        <a:t>GPMA (2017)</a:t>
                      </a:r>
                    </a:p>
                  </a:txBody>
                  <a:tcPr anchor="ctr">
                    <a:solidFill>
                      <a:srgbClr val="FFFFFF"/>
                    </a:solidFill>
                    <a:tcBorders>
                      <a:left>
                        <a:ln w="12700">
                          <a:solidFill>
                            <a:srgbClr val="000000"/>
                          </a:solidFill>
                        </a:ln>
                      </a:left>
                      <a:right>
                        <a:ln w="12700">
                          <a:solidFill>
                            <a:srgbClr val="000000"/>
                          </a:solidFill>
                        </a:ln>
                      </a:right>
                      <a:top>
                        <a:ln w="12700">
                          <a:solidFill>
                            <a:srgbClr val="000000"/>
                          </a:solidFill>
                        </a:ln>
                      </a:top>
                      <a:bottom>
                        <a:ln w="12700">
                          <a:solidFill>
                            <a:srgbClr val="000000"/>
                          </a:solidFill>
                        </a:ln>
                      </a:bottom>
                    </a:tcBorders>
                  </a:tcPr>
                </a:tc>
                <a:tc>
                  <a:txBody>
                    <a:bodyPr wrap="square"/>
                    <a:lstStyle/>
                    <a:p>
                      <a:pPr algn="l">
                        <a:lnSpc>
                          <a:spcPts val="1400"/>
                        </a:lnSpc>
                        <a:spcBef>
                          <a:spcPts val="100"/>
                        </a:spcBef>
                        <a:spcAft>
                          <a:spcPts val="100"/>
                        </a:spcAft>
                        <a:defRPr sz="1100" b="0">
                          <a:solidFill>
                            <a:srgbClr val="000000"/>
                          </a:solidFill>
                          <a:latin typeface="Arial"/>
                        </a:defRPr>
                      </a:pPr>
                      <a:r>
                        <a:t>GPU framework for large batches of dynamic graph updates</a:t>
                      </a:r>
                    </a:p>
                  </a:txBody>
                  <a:tcPr anchor="ctr">
                    <a:solidFill>
                      <a:srgbClr val="FFFFFF"/>
                    </a:solidFill>
                    <a:tcBorders>
                      <a:left>
                        <a:ln w="12700">
                          <a:solidFill>
                            <a:srgbClr val="000000"/>
                          </a:solidFill>
                        </a:ln>
                      </a:left>
                      <a:right>
                        <a:ln w="12700">
                          <a:solidFill>
                            <a:srgbClr val="000000"/>
                          </a:solidFill>
                        </a:ln>
                      </a:right>
                      <a:top>
                        <a:ln w="12700">
                          <a:solidFill>
                            <a:srgbClr val="000000"/>
                          </a:solidFill>
                        </a:ln>
                      </a:top>
                      <a:bottom>
                        <a:ln w="12700">
                          <a:solidFill>
                            <a:srgbClr val="000000"/>
                          </a:solidFill>
                        </a:ln>
                      </a:bottom>
                    </a:tcBorders>
                  </a:tcPr>
                </a:tc>
                <a:tc>
                  <a:txBody>
                    <a:bodyPr wrap="square"/>
                    <a:lstStyle/>
                    <a:p>
                      <a:pPr algn="l">
                        <a:lnSpc>
                          <a:spcPts val="1400"/>
                        </a:lnSpc>
                        <a:spcBef>
                          <a:spcPts val="100"/>
                        </a:spcBef>
                        <a:spcAft>
                          <a:spcPts val="100"/>
                        </a:spcAft>
                        <a:defRPr sz="1100" b="0">
                          <a:solidFill>
                            <a:srgbClr val="000000"/>
                          </a:solidFill>
                          <a:latin typeface="Arial"/>
                        </a:defRPr>
                      </a:pPr>
                      <a:r>
                        <a:t>Packed-memory-array-based organization adapted for GPU parallelism</a:t>
                      </a:r>
                    </a:p>
                  </a:txBody>
                  <a:tcPr anchor="ctr">
                    <a:solidFill>
                      <a:srgbClr val="FFFFFF"/>
                    </a:solidFill>
                    <a:tcBorders>
                      <a:left>
                        <a:ln w="12700">
                          <a:solidFill>
                            <a:srgbClr val="000000"/>
                          </a:solidFill>
                        </a:ln>
                      </a:left>
                      <a:right>
                        <a:ln w="12700">
                          <a:solidFill>
                            <a:srgbClr val="000000"/>
                          </a:solidFill>
                        </a:ln>
                      </a:right>
                      <a:top>
                        <a:ln w="12700">
                          <a:solidFill>
                            <a:srgbClr val="000000"/>
                          </a:solidFill>
                        </a:ln>
                      </a:top>
                      <a:bottom>
                        <a:ln w="12700">
                          <a:solidFill>
                            <a:srgbClr val="000000"/>
                          </a:solidFill>
                        </a:ln>
                      </a:bottom>
                    </a:tcBorders>
                  </a:tcPr>
                </a:tc>
                <a:tc>
                  <a:txBody>
                    <a:bodyPr wrap="square"/>
                    <a:lstStyle/>
                    <a:p>
                      <a:pPr algn="l">
                        <a:lnSpc>
                          <a:spcPts val="1400"/>
                        </a:lnSpc>
                        <a:spcBef>
                          <a:spcPts val="100"/>
                        </a:spcBef>
                        <a:spcAft>
                          <a:spcPts val="100"/>
                        </a:spcAft>
                        <a:defRPr sz="1100" b="0">
                          <a:solidFill>
                            <a:srgbClr val="000000"/>
                          </a:solidFill>
                          <a:latin typeface="Arial"/>
                        </a:defRPr>
                      </a:pPr>
                      <a:r>
                        <a:t>Strong specialized baseline for updates</a:t>
                      </a:r>
                    </a:p>
                  </a:txBody>
                  <a:tcPr anchor="ctr">
                    <a:solidFill>
                      <a:srgbClr val="FFFFFF"/>
                    </a:solidFill>
                    <a:tcBorders>
                      <a:left>
                        <a:ln w="12700">
                          <a:solidFill>
                            <a:srgbClr val="000000"/>
                          </a:solidFill>
                        </a:ln>
                      </a:left>
                      <a:right>
                        <a:ln w="12700">
                          <a:solidFill>
                            <a:srgbClr val="000000"/>
                          </a:solidFill>
                        </a:ln>
                      </a:right>
                      <a:top>
                        <a:ln w="12700">
                          <a:solidFill>
                            <a:srgbClr val="000000"/>
                          </a:solidFill>
                        </a:ln>
                      </a:top>
                      <a:bottom>
                        <a:ln w="12700">
                          <a:solidFill>
                            <a:srgbClr val="000000"/>
                          </a:solidFill>
                        </a:ln>
                      </a:bottom>
                    </a:tcBorders>
                  </a:tcPr>
                </a:tc>
              </a:tr>
              <a:tr h="740664">
                <a:tc>
                  <a:txBody>
                    <a:bodyPr wrap="square"/>
                    <a:lstStyle/>
                    <a:p>
                      <a:pPr algn="ctr">
                        <a:lnSpc>
                          <a:spcPts val="1400"/>
                        </a:lnSpc>
                        <a:spcBef>
                          <a:spcPts val="100"/>
                        </a:spcBef>
                        <a:spcAft>
                          <a:spcPts val="100"/>
                        </a:spcAft>
                        <a:defRPr sz="1100" b="1">
                          <a:solidFill>
                            <a:srgbClr val="000000"/>
                          </a:solidFill>
                          <a:latin typeface="Arial"/>
                        </a:defRPr>
                      </a:pPr>
                      <a:r>
                        <a:t>Hornet (2018)</a:t>
                      </a:r>
                    </a:p>
                  </a:txBody>
                  <a:tcPr anchor="ctr">
                    <a:solidFill>
                      <a:srgbClr val="EFF2F7"/>
                    </a:solidFill>
                    <a:tcBorders>
                      <a:left>
                        <a:ln w="12700">
                          <a:solidFill>
                            <a:srgbClr val="000000"/>
                          </a:solidFill>
                        </a:ln>
                      </a:left>
                      <a:right>
                        <a:ln w="12700">
                          <a:solidFill>
                            <a:srgbClr val="000000"/>
                          </a:solidFill>
                        </a:ln>
                      </a:right>
                      <a:top>
                        <a:ln w="12700">
                          <a:solidFill>
                            <a:srgbClr val="000000"/>
                          </a:solidFill>
                        </a:ln>
                      </a:top>
                      <a:bottom>
                        <a:ln w="12700">
                          <a:solidFill>
                            <a:srgbClr val="000000"/>
                          </a:solidFill>
                        </a:ln>
                      </a:bottom>
                    </a:tcBorders>
                  </a:tcPr>
                </a:tc>
                <a:tc>
                  <a:txBody>
                    <a:bodyPr wrap="square"/>
                    <a:lstStyle/>
                    <a:p>
                      <a:pPr algn="l">
                        <a:lnSpc>
                          <a:spcPts val="1400"/>
                        </a:lnSpc>
                        <a:spcBef>
                          <a:spcPts val="100"/>
                        </a:spcBef>
                        <a:spcAft>
                          <a:spcPts val="100"/>
                        </a:spcAft>
                        <a:defRPr sz="1100" b="0">
                          <a:solidFill>
                            <a:srgbClr val="000000"/>
                          </a:solidFill>
                          <a:latin typeface="Arial"/>
                        </a:defRPr>
                      </a:pPr>
                      <a:r>
                        <a:t>Dynamic sparse graph data structure for GPUs</a:t>
                      </a:r>
                    </a:p>
                  </a:txBody>
                  <a:tcPr anchor="ctr">
                    <a:solidFill>
                      <a:srgbClr val="EFF2F7"/>
                    </a:solidFill>
                    <a:tcBorders>
                      <a:left>
                        <a:ln w="12700">
                          <a:solidFill>
                            <a:srgbClr val="000000"/>
                          </a:solidFill>
                        </a:ln>
                      </a:left>
                      <a:right>
                        <a:ln w="12700">
                          <a:solidFill>
                            <a:srgbClr val="000000"/>
                          </a:solidFill>
                        </a:ln>
                      </a:right>
                      <a:top>
                        <a:ln w="12700">
                          <a:solidFill>
                            <a:srgbClr val="000000"/>
                          </a:solidFill>
                        </a:ln>
                      </a:top>
                      <a:bottom>
                        <a:ln w="12700">
                          <a:solidFill>
                            <a:srgbClr val="000000"/>
                          </a:solidFill>
                        </a:ln>
                      </a:bottom>
                    </a:tcBorders>
                  </a:tcPr>
                </a:tc>
                <a:tc>
                  <a:txBody>
                    <a:bodyPr wrap="square"/>
                    <a:lstStyle/>
                    <a:p>
                      <a:pPr algn="l">
                        <a:lnSpc>
                          <a:spcPts val="1400"/>
                        </a:lnSpc>
                        <a:spcBef>
                          <a:spcPts val="100"/>
                        </a:spcBef>
                        <a:spcAft>
                          <a:spcPts val="100"/>
                        </a:spcAft>
                        <a:defRPr sz="1100" b="0">
                          <a:solidFill>
                            <a:srgbClr val="000000"/>
                          </a:solidFill>
                          <a:latin typeface="Arial"/>
                        </a:defRPr>
                      </a:pPr>
                      <a:r>
                        <a:t>Hierarchical representation + dynamic memory management</a:t>
                      </a:r>
                    </a:p>
                  </a:txBody>
                  <a:tcPr anchor="ctr">
                    <a:solidFill>
                      <a:srgbClr val="EFF2F7"/>
                    </a:solidFill>
                    <a:tcBorders>
                      <a:left>
                        <a:ln w="12700">
                          <a:solidFill>
                            <a:srgbClr val="000000"/>
                          </a:solidFill>
                        </a:ln>
                      </a:left>
                      <a:right>
                        <a:ln w="12700">
                          <a:solidFill>
                            <a:srgbClr val="000000"/>
                          </a:solidFill>
                        </a:ln>
                      </a:right>
                      <a:top>
                        <a:ln w="12700">
                          <a:solidFill>
                            <a:srgbClr val="000000"/>
                          </a:solidFill>
                        </a:ln>
                      </a:top>
                      <a:bottom>
                        <a:ln w="12700">
                          <a:solidFill>
                            <a:srgbClr val="000000"/>
                          </a:solidFill>
                        </a:ln>
                      </a:bottom>
                    </a:tcBorders>
                  </a:tcPr>
                </a:tc>
                <a:tc>
                  <a:txBody>
                    <a:bodyPr wrap="square"/>
                    <a:lstStyle/>
                    <a:p>
                      <a:pPr algn="l">
                        <a:lnSpc>
                          <a:spcPts val="1400"/>
                        </a:lnSpc>
                        <a:spcBef>
                          <a:spcPts val="100"/>
                        </a:spcBef>
                        <a:spcAft>
                          <a:spcPts val="100"/>
                        </a:spcAft>
                        <a:defRPr sz="1100" b="0">
                          <a:solidFill>
                            <a:srgbClr val="000000"/>
                          </a:solidFill>
                          <a:latin typeface="Arial"/>
                        </a:defRPr>
                      </a:pPr>
                      <a:r>
                        <a:t>Shows need for specialized graph structures</a:t>
                      </a:r>
                    </a:p>
                  </a:txBody>
                  <a:tcPr anchor="ctr">
                    <a:solidFill>
                      <a:srgbClr val="EFF2F7"/>
                    </a:solidFill>
                    <a:tcBorders>
                      <a:left>
                        <a:ln w="12700">
                          <a:solidFill>
                            <a:srgbClr val="000000"/>
                          </a:solidFill>
                        </a:ln>
                      </a:left>
                      <a:right>
                        <a:ln w="12700">
                          <a:solidFill>
                            <a:srgbClr val="000000"/>
                          </a:solidFill>
                        </a:ln>
                      </a:right>
                      <a:top>
                        <a:ln w="12700">
                          <a:solidFill>
                            <a:srgbClr val="000000"/>
                          </a:solidFill>
                        </a:ln>
                      </a:top>
                      <a:bottom>
                        <a:ln w="12700">
                          <a:solidFill>
                            <a:srgbClr val="000000"/>
                          </a:solidFill>
                        </a:ln>
                      </a:bottom>
                    </a:tcBorders>
                  </a:tcPr>
                </a:tc>
              </a:tr>
              <a:tr h="740664">
                <a:tc>
                  <a:txBody>
                    <a:bodyPr wrap="square"/>
                    <a:lstStyle/>
                    <a:p>
                      <a:pPr algn="ctr">
                        <a:lnSpc>
                          <a:spcPts val="1400"/>
                        </a:lnSpc>
                        <a:spcBef>
                          <a:spcPts val="100"/>
                        </a:spcBef>
                        <a:spcAft>
                          <a:spcPts val="100"/>
                        </a:spcAft>
                        <a:defRPr sz="1100" b="1">
                          <a:solidFill>
                            <a:srgbClr val="000000"/>
                          </a:solidFill>
                          <a:latin typeface="Arial"/>
                        </a:defRPr>
                      </a:pPr>
                      <a:r>
                        <a:t>GPMA+ / Lock-Free Updates</a:t>
                      </a:r>
                    </a:p>
                  </a:txBody>
                  <a:tcPr anchor="ctr">
                    <a:solidFill>
                      <a:srgbClr val="FFFFFF"/>
                    </a:solidFill>
                    <a:tcBorders>
                      <a:left>
                        <a:ln w="12700">
                          <a:solidFill>
                            <a:srgbClr val="000000"/>
                          </a:solidFill>
                        </a:ln>
                      </a:left>
                      <a:right>
                        <a:ln w="12700">
                          <a:solidFill>
                            <a:srgbClr val="000000"/>
                          </a:solidFill>
                        </a:ln>
                      </a:right>
                      <a:top>
                        <a:ln w="12700">
                          <a:solidFill>
                            <a:srgbClr val="000000"/>
                          </a:solidFill>
                        </a:ln>
                      </a:top>
                      <a:bottom>
                        <a:ln w="12700">
                          <a:solidFill>
                            <a:srgbClr val="000000"/>
                          </a:solidFill>
                        </a:ln>
                      </a:bottom>
                    </a:tcBorders>
                  </a:tcPr>
                </a:tc>
                <a:tc>
                  <a:txBody>
                    <a:bodyPr wrap="square"/>
                    <a:lstStyle/>
                    <a:p>
                      <a:pPr algn="l">
                        <a:lnSpc>
                          <a:spcPts val="1400"/>
                        </a:lnSpc>
                        <a:spcBef>
                          <a:spcPts val="100"/>
                        </a:spcBef>
                        <a:spcAft>
                          <a:spcPts val="100"/>
                        </a:spcAft>
                        <a:defRPr sz="1100" b="0">
                          <a:solidFill>
                            <a:srgbClr val="000000"/>
                          </a:solidFill>
                          <a:latin typeface="Arial"/>
                        </a:defRPr>
                      </a:pPr>
                      <a:r>
                        <a:t>Improves handling of highly conflicting updates</a:t>
                      </a:r>
                    </a:p>
                  </a:txBody>
                  <a:tcPr anchor="ctr">
                    <a:solidFill>
                      <a:srgbClr val="FFFFFF"/>
                    </a:solidFill>
                    <a:tcBorders>
                      <a:left>
                        <a:ln w="12700">
                          <a:solidFill>
                            <a:srgbClr val="000000"/>
                          </a:solidFill>
                        </a:ln>
                      </a:left>
                      <a:right>
                        <a:ln w="12700">
                          <a:solidFill>
                            <a:srgbClr val="000000"/>
                          </a:solidFill>
                        </a:ln>
                      </a:right>
                      <a:top>
                        <a:ln w="12700">
                          <a:solidFill>
                            <a:srgbClr val="000000"/>
                          </a:solidFill>
                        </a:ln>
                      </a:top>
                      <a:bottom>
                        <a:ln w="12700">
                          <a:solidFill>
                            <a:srgbClr val="000000"/>
                          </a:solidFill>
                        </a:ln>
                      </a:bottom>
                    </a:tcBorders>
                  </a:tcPr>
                </a:tc>
                <a:tc>
                  <a:txBody>
                    <a:bodyPr wrap="square"/>
                    <a:lstStyle/>
                    <a:p>
                      <a:pPr algn="l">
                        <a:lnSpc>
                          <a:spcPts val="1400"/>
                        </a:lnSpc>
                        <a:spcBef>
                          <a:spcPts val="100"/>
                        </a:spcBef>
                        <a:spcAft>
                          <a:spcPts val="100"/>
                        </a:spcAft>
                        <a:defRPr sz="1100" b="0">
                          <a:solidFill>
                            <a:srgbClr val="000000"/>
                          </a:solidFill>
                          <a:latin typeface="Arial"/>
                        </a:defRPr>
                      </a:pPr>
                      <a:r>
                        <a:t>Lock-free update strategy</a:t>
                      </a:r>
                    </a:p>
                  </a:txBody>
                  <a:tcPr anchor="ctr">
                    <a:solidFill>
                      <a:srgbClr val="FFFFFF"/>
                    </a:solidFill>
                    <a:tcBorders>
                      <a:left>
                        <a:ln w="12700">
                          <a:solidFill>
                            <a:srgbClr val="000000"/>
                          </a:solidFill>
                        </a:ln>
                      </a:left>
                      <a:right>
                        <a:ln w="12700">
                          <a:solidFill>
                            <a:srgbClr val="000000"/>
                          </a:solidFill>
                        </a:ln>
                      </a:right>
                      <a:top>
                        <a:ln w="12700">
                          <a:solidFill>
                            <a:srgbClr val="000000"/>
                          </a:solidFill>
                        </a:ln>
                      </a:top>
                      <a:bottom>
                        <a:ln w="12700">
                          <a:solidFill>
                            <a:srgbClr val="000000"/>
                          </a:solidFill>
                        </a:ln>
                      </a:bottom>
                    </a:tcBorders>
                  </a:tcPr>
                </a:tc>
                <a:tc>
                  <a:txBody>
                    <a:bodyPr wrap="square"/>
                    <a:lstStyle/>
                    <a:p>
                      <a:pPr algn="l">
                        <a:lnSpc>
                          <a:spcPts val="1400"/>
                        </a:lnSpc>
                        <a:spcBef>
                          <a:spcPts val="100"/>
                        </a:spcBef>
                        <a:spcAft>
                          <a:spcPts val="100"/>
                        </a:spcAft>
                        <a:defRPr sz="1100" b="0">
                          <a:solidFill>
                            <a:srgbClr val="000000"/>
                          </a:solidFill>
                          <a:latin typeface="Arial"/>
                        </a:defRPr>
                      </a:pPr>
                      <a:r>
                        <a:t>Highlights contention as a key factor</a:t>
                      </a:r>
                    </a:p>
                  </a:txBody>
                  <a:tcPr anchor="ctr">
                    <a:solidFill>
                      <a:srgbClr val="FFFFFF"/>
                    </a:solidFill>
                    <a:tcBorders>
                      <a:left>
                        <a:ln w="12700">
                          <a:solidFill>
                            <a:srgbClr val="000000"/>
                          </a:solidFill>
                        </a:ln>
                      </a:left>
                      <a:right>
                        <a:ln w="12700">
                          <a:solidFill>
                            <a:srgbClr val="000000"/>
                          </a:solidFill>
                        </a:ln>
                      </a:right>
                      <a:top>
                        <a:ln w="12700">
                          <a:solidFill>
                            <a:srgbClr val="000000"/>
                          </a:solidFill>
                        </a:ln>
                      </a:top>
                      <a:bottom>
                        <a:ln w="12700">
                          <a:solidFill>
                            <a:srgbClr val="000000"/>
                          </a:solidFill>
                        </a:ln>
                      </a:bottom>
                    </a:tcBorders>
                  </a:tcPr>
                </a:tc>
              </a:tr>
              <a:tr h="740664">
                <a:tc>
                  <a:txBody>
                    <a:bodyPr wrap="square"/>
                    <a:lstStyle/>
                    <a:p>
                      <a:pPr algn="ctr">
                        <a:lnSpc>
                          <a:spcPts val="1400"/>
                        </a:lnSpc>
                        <a:spcBef>
                          <a:spcPts val="100"/>
                        </a:spcBef>
                        <a:spcAft>
                          <a:spcPts val="100"/>
                        </a:spcAft>
                        <a:defRPr sz="1100" b="1">
                          <a:solidFill>
                            <a:srgbClr val="000000"/>
                          </a:solidFill>
                          <a:latin typeface="Arial"/>
                        </a:defRPr>
                      </a:pPr>
                      <a:r>
                        <a:t>GPU Dynamic Graph Survey (2023)</a:t>
                      </a:r>
                    </a:p>
                  </a:txBody>
                  <a:tcPr anchor="ctr">
                    <a:solidFill>
                      <a:srgbClr val="EFF2F7"/>
                    </a:solidFill>
                    <a:tcBorders>
                      <a:left>
                        <a:ln w="12700">
                          <a:solidFill>
                            <a:srgbClr val="000000"/>
                          </a:solidFill>
                        </a:ln>
                      </a:left>
                      <a:right>
                        <a:ln w="12700">
                          <a:solidFill>
                            <a:srgbClr val="000000"/>
                          </a:solidFill>
                        </a:ln>
                      </a:right>
                      <a:top>
                        <a:ln w="12700">
                          <a:solidFill>
                            <a:srgbClr val="000000"/>
                          </a:solidFill>
                        </a:ln>
                      </a:top>
                      <a:bottom>
                        <a:ln w="12700">
                          <a:solidFill>
                            <a:srgbClr val="000000"/>
                          </a:solidFill>
                        </a:ln>
                      </a:bottom>
                    </a:tcBorders>
                  </a:tcPr>
                </a:tc>
                <a:tc>
                  <a:txBody>
                    <a:bodyPr wrap="square"/>
                    <a:lstStyle/>
                    <a:p>
                      <a:pPr algn="l">
                        <a:lnSpc>
                          <a:spcPts val="1400"/>
                        </a:lnSpc>
                        <a:spcBef>
                          <a:spcPts val="100"/>
                        </a:spcBef>
                        <a:spcAft>
                          <a:spcPts val="100"/>
                        </a:spcAft>
                        <a:defRPr sz="1100" b="0">
                          <a:solidFill>
                            <a:srgbClr val="000000"/>
                          </a:solidFill>
                          <a:latin typeface="Arial"/>
                        </a:defRPr>
                      </a:pPr>
                      <a:r>
                        <a:t>Taxonomy of GPU dynamic-graph approaches</a:t>
                      </a:r>
                    </a:p>
                  </a:txBody>
                  <a:tcPr anchor="ctr">
                    <a:solidFill>
                      <a:srgbClr val="EFF2F7"/>
                    </a:solidFill>
                    <a:tcBorders>
                      <a:left>
                        <a:ln w="12700">
                          <a:solidFill>
                            <a:srgbClr val="000000"/>
                          </a:solidFill>
                        </a:ln>
                      </a:left>
                      <a:right>
                        <a:ln w="12700">
                          <a:solidFill>
                            <a:srgbClr val="000000"/>
                          </a:solidFill>
                        </a:ln>
                      </a:right>
                      <a:top>
                        <a:ln w="12700">
                          <a:solidFill>
                            <a:srgbClr val="000000"/>
                          </a:solidFill>
                        </a:ln>
                      </a:top>
                      <a:bottom>
                        <a:ln w="12700">
                          <a:solidFill>
                            <a:srgbClr val="000000"/>
                          </a:solidFill>
                        </a:ln>
                      </a:bottom>
                    </a:tcBorders>
                  </a:tcPr>
                </a:tc>
                <a:tc>
                  <a:txBody>
                    <a:bodyPr wrap="square"/>
                    <a:lstStyle/>
                    <a:p>
                      <a:pPr algn="l">
                        <a:lnSpc>
                          <a:spcPts val="1400"/>
                        </a:lnSpc>
                        <a:spcBef>
                          <a:spcPts val="100"/>
                        </a:spcBef>
                        <a:spcAft>
                          <a:spcPts val="100"/>
                        </a:spcAft>
                        <a:defRPr sz="1100" b="0">
                          <a:solidFill>
                            <a:srgbClr val="000000"/>
                          </a:solidFill>
                          <a:latin typeface="Arial"/>
                        </a:defRPr>
                      </a:pPr>
                      <a:r>
                        <a:t>Organizes representations, updates and analytics</a:t>
                      </a:r>
                    </a:p>
                  </a:txBody>
                  <a:tcPr anchor="ctr">
                    <a:solidFill>
                      <a:srgbClr val="EFF2F7"/>
                    </a:solidFill>
                    <a:tcBorders>
                      <a:left>
                        <a:ln w="12700">
                          <a:solidFill>
                            <a:srgbClr val="000000"/>
                          </a:solidFill>
                        </a:ln>
                      </a:left>
                      <a:right>
                        <a:ln w="12700">
                          <a:solidFill>
                            <a:srgbClr val="000000"/>
                          </a:solidFill>
                        </a:ln>
                      </a:right>
                      <a:top>
                        <a:ln w="12700">
                          <a:solidFill>
                            <a:srgbClr val="000000"/>
                          </a:solidFill>
                        </a:ln>
                      </a:top>
                      <a:bottom>
                        <a:ln w="12700">
                          <a:solidFill>
                            <a:srgbClr val="000000"/>
                          </a:solidFill>
                        </a:ln>
                      </a:bottom>
                    </a:tcBorders>
                  </a:tcPr>
                </a:tc>
                <a:tc>
                  <a:txBody>
                    <a:bodyPr wrap="square"/>
                    <a:lstStyle/>
                    <a:p>
                      <a:pPr algn="l">
                        <a:lnSpc>
                          <a:spcPts val="1400"/>
                        </a:lnSpc>
                        <a:spcBef>
                          <a:spcPts val="100"/>
                        </a:spcBef>
                        <a:spcAft>
                          <a:spcPts val="100"/>
                        </a:spcAft>
                        <a:defRPr sz="1100" b="0">
                          <a:solidFill>
                            <a:srgbClr val="000000"/>
                          </a:solidFill>
                          <a:latin typeface="Arial"/>
                        </a:defRPr>
                      </a:pPr>
                      <a:r>
                        <a:t>Places the problem in the broader field</a:t>
                      </a:r>
                    </a:p>
                  </a:txBody>
                  <a:tcPr anchor="ctr">
                    <a:solidFill>
                      <a:srgbClr val="EFF2F7"/>
                    </a:solidFill>
                    <a:tcBorders>
                      <a:left>
                        <a:ln w="12700">
                          <a:solidFill>
                            <a:srgbClr val="000000"/>
                          </a:solidFill>
                        </a:ln>
                      </a:left>
                      <a:right>
                        <a:ln w="12700">
                          <a:solidFill>
                            <a:srgbClr val="000000"/>
                          </a:solidFill>
                        </a:ln>
                      </a:right>
                      <a:top>
                        <a:ln w="12700">
                          <a:solidFill>
                            <a:srgbClr val="000000"/>
                          </a:solidFill>
                        </a:ln>
                      </a:top>
                      <a:bottom>
                        <a:ln w="12700">
                          <a:solidFill>
                            <a:srgbClr val="000000"/>
                          </a:solidFill>
                        </a:ln>
                      </a:bottom>
                    </a:tcBorders>
                  </a:tcPr>
                </a:tc>
              </a:tr>
            </a:tbl>
          </a:graphicData>
        </a:graphic>
      </p:graphicFrame>
      <p:cxnSp>
        <p:nvCxnSpPr>
          <p:cNvPr id="9" name="Connector 8"/>
          <p:cNvCxnSpPr/>
          <p:nvPr/>
        </p:nvCxnSpPr>
        <p:spPr>
          <a:xfrm>
            <a:off x="548640" y="4892040"/>
            <a:ext cx="11091672" cy="0"/>
          </a:xfrm>
          <a:prstGeom prst="line">
            <a:avLst/>
          </a:prstGeom>
          <a:ln w="9525">
            <a:solidFill>
              <a:srgbClr val="BFBFBF"/>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48640" y="5029200"/>
            <a:ext cx="11091672" cy="320040"/>
          </a:xfrm>
          <a:prstGeom prst="rect">
            <a:avLst/>
          </a:prstGeom>
          <a:noFill/>
        </p:spPr>
        <p:txBody>
          <a:bodyPr wrap="square">
            <a:spAutoFit/>
          </a:bodyPr>
          <a:lstStyle/>
          <a:p>
            <a:pPr algn="ctr">
              <a:defRPr sz="1100" b="0" i="0">
                <a:solidFill>
                  <a:srgbClr val="5A5A5A"/>
                </a:solidFill>
                <a:latin typeface="Arial"/>
              </a:defRPr>
            </a:pPr>
            <a:r>
              <a:t>Takeaway</a:t>
            </a:r>
          </a:p>
        </p:txBody>
      </p:sp>
      <p:sp>
        <p:nvSpPr>
          <p:cNvPr id="11" name="TextBox 10"/>
          <p:cNvSpPr txBox="1"/>
          <p:nvPr/>
        </p:nvSpPr>
        <p:spPr>
          <a:xfrm>
            <a:off x="731520" y="5303520"/>
            <a:ext cx="10725912" cy="640080"/>
          </a:xfrm>
          <a:prstGeom prst="rect">
            <a:avLst/>
          </a:prstGeom>
          <a:noFill/>
        </p:spPr>
        <p:txBody>
          <a:bodyPr wrap="square">
            <a:spAutoFit/>
          </a:bodyPr>
          <a:lstStyle/>
          <a:p>
            <a:pPr algn="ctr">
              <a:defRPr sz="1400" b="1" i="0">
                <a:solidFill>
                  <a:srgbClr val="1F3A5F"/>
                </a:solidFill>
                <a:latin typeface="Arial"/>
              </a:defRPr>
            </a:pPr>
            <a:r>
              <a:t>Dynamic GPU graph systems achieve high performance through specialized structures and synchronization.</a:t>
            </a:r>
          </a:p>
        </p:txBody>
      </p:sp>
      <p:sp>
        <p:nvSpPr>
          <p:cNvPr id="12" name="TextBox 11"/>
          <p:cNvSpPr txBox="1"/>
          <p:nvPr/>
        </p:nvSpPr>
        <p:spPr>
          <a:xfrm>
            <a:off x="548640" y="5943600"/>
            <a:ext cx="11091672" cy="365760"/>
          </a:xfrm>
          <a:prstGeom prst="rect">
            <a:avLst/>
          </a:prstGeom>
          <a:noFill/>
        </p:spPr>
        <p:txBody>
          <a:bodyPr wrap="square">
            <a:spAutoFit/>
          </a:bodyPr>
          <a:lstStyle/>
          <a:p>
            <a:pPr algn="ctr">
              <a:defRPr sz="1200" b="0" i="1">
                <a:solidFill>
                  <a:srgbClr val="333333"/>
                </a:solidFill>
                <a:latin typeface="Arial"/>
              </a:defRPr>
            </a:pPr>
            <a:r>
              <a:t>Our question: can GPU-STM provide a general abstraction without giving up competitive performance?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38</TotalTime>
  <Words>656</Words>
  <Application>Microsoft Office PowerPoint</Application>
  <PresentationFormat>Widescreen</PresentationFormat>
  <Paragraphs>115</Paragraphs>
  <Slides>5</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Suyash Kumar</cp:lastModifiedBy>
  <cp:revision>3</cp:revision>
  <dcterms:created xsi:type="dcterms:W3CDTF">2013-01-27T09:14:16Z</dcterms:created>
  <dcterms:modified xsi:type="dcterms:W3CDTF">2026-09-13T17:17:38Z</dcterms:modified>
  <cp:category/>
</cp:coreProperties>
</file>