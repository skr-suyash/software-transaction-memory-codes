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45/224964.224987" TargetMode="External"/><Relationship Id="rId2" Type="http://schemas.openxmlformats.org/officeDocument/2006/relationships/hyperlink" Target="https://doi.org/10.1145/872035.872048" TargetMode="External"/><Relationship Id="rId3" Type="http://schemas.openxmlformats.org/officeDocument/2006/relationships/hyperlink" Target="https://doi.org/10.1145/2544137.2544139" TargetMode="External"/><Relationship Id="rId4" Type="http://schemas.openxmlformats.org/officeDocument/2006/relationships/hyperlink" Target="https://ieeexplore.ieee.org/document/9820634" TargetMode="External"/><Relationship Id="rId5" Type="http://schemas.openxmlformats.org/officeDocument/2006/relationships/hyperlink" Target="https://www.vldb.org/pvldb/vol11/p107-sha.pdf" TargetMode="External"/><Relationship Id="rId6" Type="http://schemas.openxmlformats.org/officeDocument/2006/relationships/hyperlink" Target="https://researchwith.njit.edu/en/publications/hornet-an-efficient-data-structure-for-dynamic-sparse-graphs-and-/" TargetMode="External"/><Relationship Id="rId7" Type="http://schemas.openxmlformats.org/officeDocument/2006/relationships/hyperlink" Target="https://doi.org/10.1145/3725305" TargetMode="External"/><Relationship Id="rId8" Type="http://schemas.openxmlformats.org/officeDocument/2006/relationships/hyperlink" Target="https://doi.org/10.1007/s11704-023-2656-1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71907"/>
            <a:ext cx="8298180" cy="20574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—  REFERENCES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42900"/>
            <a:ext cx="8298180" cy="445313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857707"/>
            <a:ext cx="8319211" cy="0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4023360" cy="256032"/>
          </a:xfrm>
          <a:prstGeom prst="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Transactional Memory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362456"/>
            <a:ext cx="384048" cy="20116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1362456"/>
            <a:ext cx="2852928" cy="56692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 Shavit, D. Touitou. </a:t>
            </a:r>
            <a:pPr indent="0" marL="0">
              <a:buNone/>
            </a:pPr>
            <a:r>
              <a:rPr lang="en-US" sz="800" i="1" u="sng" dirty="0">
                <a:solidFill>
                  <a:srgbClr val="1F4E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Open pap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Software Transactional Memory.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14th ACM Symp. on Principles of Distributed Computing, pp. 204–213, 1995.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30168" y="1399032"/>
            <a:ext cx="7315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 '95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4023360" cy="6217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020824"/>
            <a:ext cx="384048" cy="20116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40664" y="2020824"/>
            <a:ext cx="2852928" cy="56692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DSTM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Herlihy, V. Luchangco, M. Moir, W. N. Scherer III. </a:t>
            </a:r>
            <a:pPr indent="0" marL="0">
              <a:buNone/>
            </a:pPr>
            <a:r>
              <a:rPr lang="en-US" sz="800" i="1" u="sng" dirty="0">
                <a:solidFill>
                  <a:srgbClr val="1F4E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Open pap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Software Transactional Memory for Dynamic-Sized Data Structures.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22nd ACM PODC, pp. 92–101, 2003.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30168" y="2057400"/>
            <a:ext cx="7315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PODC '03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679192"/>
            <a:ext cx="384048" cy="20116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" y="2679192"/>
            <a:ext cx="2852928" cy="56692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GPU-STM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Y. Xu, R. Wang, N. Goswami, T. Li, L. Gao, D. Qian. </a:t>
            </a:r>
            <a:pPr indent="0" marL="0">
              <a:buNone/>
            </a:pPr>
            <a:r>
              <a:rPr lang="en-US" sz="800" i="1" u="sng" dirty="0">
                <a:solidFill>
                  <a:srgbClr val="1F4E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Open pap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Software Transactional Memory for GPU Architectures.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IEEE/ACM CGO, 2014.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30168" y="2715768"/>
            <a:ext cx="7315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 '14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3310128"/>
            <a:ext cx="4023360" cy="6217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3337560"/>
            <a:ext cx="384048" cy="20116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" y="3337560"/>
            <a:ext cx="2852928" cy="56692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CSMV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Nunes, D. Castro, P. Romano. </a:t>
            </a:r>
            <a:pPr indent="0" marL="0">
              <a:buNone/>
            </a:pPr>
            <a:r>
              <a:rPr lang="en-US" sz="800" i="1" u="sng" dirty="0">
                <a:solidFill>
                  <a:srgbClr val="1F4E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Open pap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CSMV: A Highly Scalable Multi-Versioned Software Transactional Memory for GPUs.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IEEE IPDPS, 2022.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30168" y="3374136"/>
            <a:ext cx="7315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IPDPS '22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07331" y="1005840"/>
            <a:ext cx="4023360" cy="256032"/>
          </a:xfrm>
          <a:prstGeom prst="rect">
            <a:avLst/>
          </a:prstGeom>
          <a:solidFill>
            <a:srgbClr val="1F3A5F"/>
          </a:solidFill>
          <a:ln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Graph Processing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707331" y="1362456"/>
            <a:ext cx="384048" cy="20116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036515" y="1362456"/>
            <a:ext cx="2852928" cy="56692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GPMA / GPMA+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Sha, Y. Li, B. He, K.-L. Tan. </a:t>
            </a:r>
            <a:pPr indent="0" marL="0">
              <a:buNone/>
            </a:pPr>
            <a:r>
              <a:rPr lang="en-US" sz="800" i="1" u="sng" dirty="0">
                <a:solidFill>
                  <a:srgbClr val="1F4E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Open pap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Accelerating Dynamic Graph Analytics on GPUs.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PVLDB 11(1): 107–120, 2017.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926019" y="1399032"/>
            <a:ext cx="7315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PVLDB '17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07331" y="1993392"/>
            <a:ext cx="4023360" cy="6217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7331" y="2020824"/>
            <a:ext cx="384048" cy="20116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036515" y="2020824"/>
            <a:ext cx="2852928" cy="56692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Hornet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 Busato, O. Green, N. Bombieri, D. A. Bader. </a:t>
            </a:r>
            <a:pPr indent="0" marL="0">
              <a:buNone/>
            </a:pPr>
            <a:r>
              <a:rPr lang="en-US" sz="800" i="1" u="sng" dirty="0">
                <a:solidFill>
                  <a:srgbClr val="1F4E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Open pap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Hornet: An Efficient Data Structure for Dynamic Sparse Graphs and Matrices on GPUs.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HPEC, 2018.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26019" y="2057400"/>
            <a:ext cx="7315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HPEC '18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4707331" y="2679192"/>
            <a:ext cx="384048" cy="20116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036515" y="2679192"/>
            <a:ext cx="2852928" cy="56692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GTX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 Zhou, L. Xing, Y. Rayhan, W. G. Aref. </a:t>
            </a:r>
            <a:pPr indent="0" marL="0">
              <a:buNone/>
            </a:pPr>
            <a:r>
              <a:rPr lang="en-US" sz="800" i="1" u="sng" dirty="0">
                <a:solidFill>
                  <a:srgbClr val="1F4E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Open pap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GTX: A Write-Optimized Latch-free Graph Data System with Transactional Support.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Proc. ACM Manag. Data 3(3), 2025 (arXiv:2405.01418, 2024).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26019" y="2715768"/>
            <a:ext cx="7315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PACMMOD '25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07331" y="3310128"/>
            <a:ext cx="4023360" cy="62179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07331" y="3337560"/>
            <a:ext cx="384048" cy="20116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036515" y="3337560"/>
            <a:ext cx="2852928" cy="566928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 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H. Gao, X. Liao, Z. Shao, K. Li, J. Chen, H. Jin. </a:t>
            </a:r>
            <a:pPr indent="0" marL="0">
              <a:buNone/>
            </a:pPr>
            <a:r>
              <a:rPr lang="en-US" sz="800" i="1" u="sng" dirty="0">
                <a:solidFill>
                  <a:srgbClr val="1F4E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Open pap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Survey on Dynamic Graph Processing on GPUs: Concepts, Terminologies and Systems.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Frontiers of Computer Science, 2024.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926019" y="3374136"/>
            <a:ext cx="73152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FCS '24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1086" y="1335024"/>
            <a:ext cx="0" cy="2596896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4114800"/>
            <a:ext cx="8319211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1480" y="4206240"/>
            <a:ext cx="8319211" cy="274320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[1]–[4] correspond to the STM literature (slide 5); [5]–[8] to dynamic graph processing on GPUs (slide 6).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4834433"/>
            <a:ext cx="8319211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11480" y="4855464"/>
            <a:ext cx="5486400" cy="171907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Factorized GPU Transactions for Concurrent Dynamic Graphs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0" y="4855464"/>
            <a:ext cx="480060" cy="171907"/>
          </a:xfrm>
          <a:prstGeom prst="rect">
            <a:avLst/>
          </a:prstGeom>
          <a:noFill/>
          <a:ln/>
        </p:spPr>
        <p:txBody>
          <a:bodyPr wrap="square" lIns="34290" tIns="68580" rIns="68580" bIns="3429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2026-09-28T08:48:45Z</dcterms:created>
  <dcterms:modified xsi:type="dcterms:W3CDTF">2026-09-28T08:48:45Z</dcterms:modified>
</cp:coreProperties>
</file>