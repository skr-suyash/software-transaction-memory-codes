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2BF6F4-9913-4CAA-A3A7-F83A76B423C0}">
  <a:tblStyle styleId="{362BF6F4-9913-4CAA-A3A7-F83A76B423C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09d8601990_2_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g409d8601990_2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409d8601990_2_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409d8601990_2_1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409d8601990_2_1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409d8601990_2_1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409d8601990_2_1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g409d8601990_2_1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409d8601990_2_1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409d8601990_2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409d8601990_2_1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409d8601990_2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409d8601990_2_2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409d8601990_2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409d8601990_2_2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409d8601990_2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409d8601990_2_2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3000" b="1" i="0">
                <a:solidFill>
                  <a:srgbClr val="1F3A5F"/>
                </a:solidFill>
                <a:latin typeface="Arial"/>
              </a:rPr>
              <a:t>Factorized GPU Transactions for Concurrent Dynamic Graph Updates</a:t>
            </a:r>
            <a:endParaRPr sz="3880"/>
          </a:p>
          <a:p>
            <a:pPr algn="ctr">
              <a:spcBef>
                <a:spcPts val="600"/>
              </a:spcBef>
            </a:pPr>
            <a:r>
              <a:rPr sz="1300" b="0" i="1">
                <a:solidFill>
                  <a:srgbClr val="5A5A5A"/>
                </a:solidFill>
                <a:latin typeface="Arial"/>
              </a:rPr>
              <a:t>Chunks  •  Exact Edge Directory  •  One-Descriptor Atomic Commit</a:t>
            </a:r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311700" y="2834125"/>
            <a:ext cx="8520600" cy="17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Group - Suyash Kumar, Aryan Pandey, Vivek G Nair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Department - IT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Indian Institute of Information Technology, Allahabad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/>
        </p:nvSpPr>
        <p:spPr>
          <a:xfrm>
            <a:off x="411480" y="171450"/>
            <a:ext cx="82981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1  —  INTRODUCTION</a:t>
            </a:r>
            <a:endParaRPr sz="1100"/>
          </a:p>
        </p:txBody>
      </p:sp>
      <p:sp>
        <p:nvSpPr>
          <p:cNvPr id="137" name="Google Shape;137;p26"/>
          <p:cNvSpPr txBox="1"/>
          <p:nvPr/>
        </p:nvSpPr>
        <p:spPr>
          <a:xfrm>
            <a:off x="411480" y="342900"/>
            <a:ext cx="82981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What is a Dynamic Graph?</a:t>
            </a:r>
            <a:endParaRPr sz="1100"/>
          </a:p>
        </p:txBody>
      </p:sp>
      <p:cxnSp>
        <p:nvCxnSpPr>
          <p:cNvPr id="138" name="Google Shape;138;p26"/>
          <p:cNvCxnSpPr/>
          <p:nvPr/>
        </p:nvCxnSpPr>
        <p:spPr>
          <a:xfrm>
            <a:off x="411480" y="857250"/>
            <a:ext cx="8318754" cy="0"/>
          </a:xfrm>
          <a:prstGeom prst="straightConnector1">
            <a:avLst/>
          </a:prstGeom>
          <a:noFill/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9" name="Google Shape;139;p26"/>
          <p:cNvCxnSpPr/>
          <p:nvPr/>
        </p:nvCxnSpPr>
        <p:spPr>
          <a:xfrm>
            <a:off x="411480" y="483489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0" name="Google Shape;140;p26"/>
          <p:cNvSpPr txBox="1"/>
          <p:nvPr/>
        </p:nvSpPr>
        <p:spPr>
          <a:xfrm>
            <a:off x="411480" y="4855464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Factorized GPU Transactions for Concurrent Dynamic Graphs</a:t>
            </a:r>
            <a:endParaRPr sz="1100"/>
          </a:p>
        </p:txBody>
      </p:sp>
      <p:sp>
        <p:nvSpPr>
          <p:cNvPr id="141" name="Google Shape;141;p26"/>
          <p:cNvSpPr txBox="1"/>
          <p:nvPr/>
        </p:nvSpPr>
        <p:spPr>
          <a:xfrm>
            <a:off x="8229600" y="4855464"/>
            <a:ext cx="4800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142" name="Google Shape;142;p26"/>
          <p:cNvSpPr txBox="1"/>
          <p:nvPr/>
        </p:nvSpPr>
        <p:spPr>
          <a:xfrm>
            <a:off x="411480" y="994410"/>
            <a:ext cx="8318754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dynamic graph G(t) = (V(t), E(t)) is a graph whose vertex and edge sets change over time through insertions and deletions.</a:t>
            </a:r>
            <a:endParaRPr sz="1100"/>
          </a:p>
        </p:txBody>
      </p:sp>
      <p:sp>
        <p:nvSpPr>
          <p:cNvPr id="143" name="Google Shape;143;p26"/>
          <p:cNvSpPr txBox="1"/>
          <p:nvPr/>
        </p:nvSpPr>
        <p:spPr>
          <a:xfrm>
            <a:off x="411480" y="1440180"/>
            <a:ext cx="24688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Static graph — fixed structure</a:t>
            </a:r>
            <a:endParaRPr sz="1100"/>
          </a:p>
        </p:txBody>
      </p:sp>
      <p:cxnSp>
        <p:nvCxnSpPr>
          <p:cNvPr id="144" name="Google Shape;144;p26"/>
          <p:cNvCxnSpPr/>
          <p:nvPr/>
        </p:nvCxnSpPr>
        <p:spPr>
          <a:xfrm flipH="1" rot="10800000">
            <a:off x="1028700" y="1954529"/>
            <a:ext cx="651509" cy="13716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5" name="Google Shape;145;p26"/>
          <p:cNvCxnSpPr/>
          <p:nvPr/>
        </p:nvCxnSpPr>
        <p:spPr>
          <a:xfrm>
            <a:off x="1680209" y="1954529"/>
            <a:ext cx="411481" cy="48006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6" name="Google Shape;146;p26"/>
          <p:cNvCxnSpPr/>
          <p:nvPr/>
        </p:nvCxnSpPr>
        <p:spPr>
          <a:xfrm>
            <a:off x="1028700" y="2091690"/>
            <a:ext cx="1062990" cy="342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7" name="Google Shape;147;p26"/>
          <p:cNvCxnSpPr/>
          <p:nvPr/>
        </p:nvCxnSpPr>
        <p:spPr>
          <a:xfrm>
            <a:off x="1028700" y="2091690"/>
            <a:ext cx="240030" cy="75438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8" name="Google Shape;148;p26"/>
          <p:cNvSpPr/>
          <p:nvPr/>
        </p:nvSpPr>
        <p:spPr>
          <a:xfrm>
            <a:off x="822960" y="1885950"/>
            <a:ext cx="411480" cy="4114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100"/>
          </a:p>
        </p:txBody>
      </p:sp>
      <p:sp>
        <p:nvSpPr>
          <p:cNvPr id="149" name="Google Shape;149;p26"/>
          <p:cNvSpPr/>
          <p:nvPr/>
        </p:nvSpPr>
        <p:spPr>
          <a:xfrm>
            <a:off x="1474470" y="1748790"/>
            <a:ext cx="411480" cy="4114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100"/>
          </a:p>
        </p:txBody>
      </p:sp>
      <p:sp>
        <p:nvSpPr>
          <p:cNvPr id="150" name="Google Shape;150;p26"/>
          <p:cNvSpPr/>
          <p:nvPr/>
        </p:nvSpPr>
        <p:spPr>
          <a:xfrm>
            <a:off x="1885950" y="2228850"/>
            <a:ext cx="411480" cy="4114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100"/>
          </a:p>
        </p:txBody>
      </p:sp>
      <p:sp>
        <p:nvSpPr>
          <p:cNvPr id="151" name="Google Shape;151;p26"/>
          <p:cNvSpPr/>
          <p:nvPr/>
        </p:nvSpPr>
        <p:spPr>
          <a:xfrm>
            <a:off x="1062990" y="2640330"/>
            <a:ext cx="411480" cy="4114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100"/>
          </a:p>
        </p:txBody>
      </p:sp>
      <p:sp>
        <p:nvSpPr>
          <p:cNvPr id="152" name="Google Shape;152;p26"/>
          <p:cNvSpPr txBox="1"/>
          <p:nvPr/>
        </p:nvSpPr>
        <p:spPr>
          <a:xfrm>
            <a:off x="411480" y="3154680"/>
            <a:ext cx="24688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Built once, then analysed.</a:t>
            </a:r>
            <a:endParaRPr sz="1100"/>
          </a:p>
        </p:txBody>
      </p:sp>
      <p:cxnSp>
        <p:nvCxnSpPr>
          <p:cNvPr id="153" name="Google Shape;153;p26"/>
          <p:cNvCxnSpPr/>
          <p:nvPr/>
        </p:nvCxnSpPr>
        <p:spPr>
          <a:xfrm>
            <a:off x="3086100" y="1440180"/>
            <a:ext cx="0" cy="198882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4" name="Google Shape;154;p26"/>
          <p:cNvSpPr txBox="1"/>
          <p:nvPr/>
        </p:nvSpPr>
        <p:spPr>
          <a:xfrm>
            <a:off x="3360420" y="1440180"/>
            <a:ext cx="28803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graph — evolving structure</a:t>
            </a:r>
            <a:endParaRPr sz="1100"/>
          </a:p>
        </p:txBody>
      </p:sp>
      <p:sp>
        <p:nvSpPr>
          <p:cNvPr id="155" name="Google Shape;155;p26"/>
          <p:cNvSpPr txBox="1"/>
          <p:nvPr/>
        </p:nvSpPr>
        <p:spPr>
          <a:xfrm>
            <a:off x="3360420" y="1748790"/>
            <a:ext cx="11658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sz="1100"/>
          </a:p>
        </p:txBody>
      </p:sp>
      <p:cxnSp>
        <p:nvCxnSpPr>
          <p:cNvPr id="156" name="Google Shape;156;p26"/>
          <p:cNvCxnSpPr/>
          <p:nvPr/>
        </p:nvCxnSpPr>
        <p:spPr>
          <a:xfrm flipH="1" rot="10800000">
            <a:off x="3710178" y="2098547"/>
            <a:ext cx="445770" cy="102871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7" name="Google Shape;157;p26"/>
          <p:cNvCxnSpPr/>
          <p:nvPr/>
        </p:nvCxnSpPr>
        <p:spPr>
          <a:xfrm>
            <a:off x="4155948" y="2098547"/>
            <a:ext cx="240030" cy="377191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8" name="Google Shape;158;p26"/>
          <p:cNvCxnSpPr/>
          <p:nvPr/>
        </p:nvCxnSpPr>
        <p:spPr>
          <a:xfrm>
            <a:off x="3710178" y="2201418"/>
            <a:ext cx="685800" cy="27432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9" name="Google Shape;159;p26"/>
          <p:cNvCxnSpPr/>
          <p:nvPr/>
        </p:nvCxnSpPr>
        <p:spPr>
          <a:xfrm>
            <a:off x="3710178" y="2201418"/>
            <a:ext cx="102870" cy="582929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0" name="Google Shape;160;p26"/>
          <p:cNvSpPr/>
          <p:nvPr/>
        </p:nvSpPr>
        <p:spPr>
          <a:xfrm>
            <a:off x="3531870" y="2023110"/>
            <a:ext cx="356616" cy="35661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100"/>
          </a:p>
        </p:txBody>
      </p:sp>
      <p:sp>
        <p:nvSpPr>
          <p:cNvPr id="161" name="Google Shape;161;p26"/>
          <p:cNvSpPr/>
          <p:nvPr/>
        </p:nvSpPr>
        <p:spPr>
          <a:xfrm>
            <a:off x="3977640" y="1920240"/>
            <a:ext cx="356616" cy="35661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100"/>
          </a:p>
        </p:txBody>
      </p:sp>
      <p:sp>
        <p:nvSpPr>
          <p:cNvPr id="162" name="Google Shape;162;p26"/>
          <p:cNvSpPr/>
          <p:nvPr/>
        </p:nvSpPr>
        <p:spPr>
          <a:xfrm>
            <a:off x="4217670" y="2297430"/>
            <a:ext cx="356616" cy="35661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100"/>
          </a:p>
        </p:txBody>
      </p:sp>
      <p:sp>
        <p:nvSpPr>
          <p:cNvPr id="163" name="Google Shape;163;p26"/>
          <p:cNvSpPr/>
          <p:nvPr/>
        </p:nvSpPr>
        <p:spPr>
          <a:xfrm>
            <a:off x="3634740" y="2606040"/>
            <a:ext cx="356616" cy="35661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100"/>
          </a:p>
        </p:txBody>
      </p:sp>
      <p:sp>
        <p:nvSpPr>
          <p:cNvPr id="164" name="Google Shape;164;p26"/>
          <p:cNvSpPr txBox="1"/>
          <p:nvPr/>
        </p:nvSpPr>
        <p:spPr>
          <a:xfrm>
            <a:off x="4697730" y="2228850"/>
            <a:ext cx="4800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100"/>
          </a:p>
        </p:txBody>
      </p:sp>
      <p:sp>
        <p:nvSpPr>
          <p:cNvPr id="165" name="Google Shape;165;p26"/>
          <p:cNvSpPr txBox="1"/>
          <p:nvPr/>
        </p:nvSpPr>
        <p:spPr>
          <a:xfrm>
            <a:off x="4560570" y="2468880"/>
            <a:ext cx="7543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(A, E)</a:t>
            </a:r>
            <a:endParaRPr sz="1100"/>
          </a:p>
        </p:txBody>
      </p:sp>
      <p:sp>
        <p:nvSpPr>
          <p:cNvPr id="166" name="Google Shape;166;p26"/>
          <p:cNvSpPr txBox="1"/>
          <p:nvPr/>
        </p:nvSpPr>
        <p:spPr>
          <a:xfrm>
            <a:off x="5280660" y="1748790"/>
            <a:ext cx="13030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sz="1100"/>
          </a:p>
        </p:txBody>
      </p:sp>
      <p:cxnSp>
        <p:nvCxnSpPr>
          <p:cNvPr id="167" name="Google Shape;167;p26"/>
          <p:cNvCxnSpPr/>
          <p:nvPr/>
        </p:nvCxnSpPr>
        <p:spPr>
          <a:xfrm flipH="1" rot="10800000">
            <a:off x="5630418" y="2098547"/>
            <a:ext cx="445769" cy="102871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8" name="Google Shape;168;p26"/>
          <p:cNvCxnSpPr/>
          <p:nvPr/>
        </p:nvCxnSpPr>
        <p:spPr>
          <a:xfrm>
            <a:off x="6076187" y="2098547"/>
            <a:ext cx="240031" cy="377191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9" name="Google Shape;169;p26"/>
          <p:cNvCxnSpPr/>
          <p:nvPr/>
        </p:nvCxnSpPr>
        <p:spPr>
          <a:xfrm>
            <a:off x="5630418" y="2201418"/>
            <a:ext cx="685800" cy="27432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0" name="Google Shape;170;p26"/>
          <p:cNvCxnSpPr/>
          <p:nvPr/>
        </p:nvCxnSpPr>
        <p:spPr>
          <a:xfrm>
            <a:off x="5630418" y="2201418"/>
            <a:ext cx="68580" cy="582929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1" name="Google Shape;171;p26"/>
          <p:cNvCxnSpPr/>
          <p:nvPr/>
        </p:nvCxnSpPr>
        <p:spPr>
          <a:xfrm>
            <a:off x="5630418" y="2201418"/>
            <a:ext cx="822960" cy="617220"/>
          </a:xfrm>
          <a:prstGeom prst="straightConnector1">
            <a:avLst/>
          </a:prstGeom>
          <a:noFill/>
          <a:ln cap="flat" cmpd="sng" w="222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2" name="Google Shape;172;p26"/>
          <p:cNvSpPr/>
          <p:nvPr/>
        </p:nvSpPr>
        <p:spPr>
          <a:xfrm>
            <a:off x="5452110" y="2023110"/>
            <a:ext cx="356616" cy="35661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100"/>
          </a:p>
        </p:txBody>
      </p:sp>
      <p:sp>
        <p:nvSpPr>
          <p:cNvPr id="173" name="Google Shape;173;p26"/>
          <p:cNvSpPr/>
          <p:nvPr/>
        </p:nvSpPr>
        <p:spPr>
          <a:xfrm>
            <a:off x="5897880" y="1920240"/>
            <a:ext cx="356616" cy="35661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100"/>
          </a:p>
        </p:txBody>
      </p:sp>
      <p:sp>
        <p:nvSpPr>
          <p:cNvPr id="174" name="Google Shape;174;p26"/>
          <p:cNvSpPr/>
          <p:nvPr/>
        </p:nvSpPr>
        <p:spPr>
          <a:xfrm>
            <a:off x="6137909" y="2297430"/>
            <a:ext cx="356616" cy="35661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100"/>
          </a:p>
        </p:txBody>
      </p:sp>
      <p:sp>
        <p:nvSpPr>
          <p:cNvPr id="175" name="Google Shape;175;p26"/>
          <p:cNvSpPr/>
          <p:nvPr/>
        </p:nvSpPr>
        <p:spPr>
          <a:xfrm>
            <a:off x="5520690" y="2606040"/>
            <a:ext cx="356616" cy="35661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100"/>
          </a:p>
        </p:txBody>
      </p:sp>
      <p:sp>
        <p:nvSpPr>
          <p:cNvPr id="176" name="Google Shape;176;p26"/>
          <p:cNvSpPr/>
          <p:nvPr/>
        </p:nvSpPr>
        <p:spPr>
          <a:xfrm>
            <a:off x="6275070" y="2640330"/>
            <a:ext cx="356616" cy="35661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100"/>
          </a:p>
        </p:txBody>
      </p:sp>
      <p:sp>
        <p:nvSpPr>
          <p:cNvPr id="177" name="Google Shape;177;p26"/>
          <p:cNvSpPr txBox="1"/>
          <p:nvPr/>
        </p:nvSpPr>
        <p:spPr>
          <a:xfrm>
            <a:off x="3360420" y="3154680"/>
            <a:ext cx="32232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Edge (A, E) inserted; deletions analogous.</a:t>
            </a:r>
            <a:endParaRPr sz="1100"/>
          </a:p>
        </p:txBody>
      </p:sp>
      <p:cxnSp>
        <p:nvCxnSpPr>
          <p:cNvPr id="178" name="Google Shape;178;p26"/>
          <p:cNvCxnSpPr/>
          <p:nvPr/>
        </p:nvCxnSpPr>
        <p:spPr>
          <a:xfrm>
            <a:off x="6789420" y="1440180"/>
            <a:ext cx="0" cy="198882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9" name="Google Shape;179;p26"/>
          <p:cNvSpPr txBox="1"/>
          <p:nvPr/>
        </p:nvSpPr>
        <p:spPr>
          <a:xfrm>
            <a:off x="6995160" y="1440180"/>
            <a:ext cx="17145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Typical examples</a:t>
            </a:r>
            <a:endParaRPr sz="1100"/>
          </a:p>
        </p:txBody>
      </p:sp>
      <p:sp>
        <p:nvSpPr>
          <p:cNvPr id="180" name="Google Shape;180;p26"/>
          <p:cNvSpPr txBox="1"/>
          <p:nvPr/>
        </p:nvSpPr>
        <p:spPr>
          <a:xfrm>
            <a:off x="6995160" y="1783080"/>
            <a:ext cx="1714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Social networks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Road networks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Communication networks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Recommendation graphs</a:t>
            </a:r>
            <a:endParaRPr sz="1100"/>
          </a:p>
        </p:txBody>
      </p:sp>
      <p:sp>
        <p:nvSpPr>
          <p:cNvPr id="181" name="Google Shape;181;p26"/>
          <p:cNvSpPr txBox="1"/>
          <p:nvPr/>
        </p:nvSpPr>
        <p:spPr>
          <a:xfrm>
            <a:off x="411480" y="3771900"/>
            <a:ext cx="8318754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idea:  unlike static analysis, the graph is updated continuously as new data arrives, e.g. new friendships formed or roads closed.</a:t>
            </a:r>
            <a:endParaRPr sz="1100"/>
          </a:p>
        </p:txBody>
      </p:sp>
      <p:cxnSp>
        <p:nvCxnSpPr>
          <p:cNvPr id="182" name="Google Shape;182;p26"/>
          <p:cNvCxnSpPr/>
          <p:nvPr/>
        </p:nvCxnSpPr>
        <p:spPr>
          <a:xfrm>
            <a:off x="411480" y="366903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/>
        </p:nvSpPr>
        <p:spPr>
          <a:xfrm>
            <a:off x="411480" y="171450"/>
            <a:ext cx="82981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2  —  PROBLEM</a:t>
            </a:r>
            <a:endParaRPr sz="1100"/>
          </a:p>
        </p:txBody>
      </p:sp>
      <p:sp>
        <p:nvSpPr>
          <p:cNvPr id="189" name="Google Shape;189;p27"/>
          <p:cNvSpPr txBox="1"/>
          <p:nvPr/>
        </p:nvSpPr>
        <p:spPr>
          <a:xfrm>
            <a:off x="411480" y="342900"/>
            <a:ext cx="8298180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Why concurrent updates are a problem?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27"/>
          <p:cNvCxnSpPr/>
          <p:nvPr/>
        </p:nvCxnSpPr>
        <p:spPr>
          <a:xfrm>
            <a:off x="411480" y="857250"/>
            <a:ext cx="8318754" cy="0"/>
          </a:xfrm>
          <a:prstGeom prst="straightConnector1">
            <a:avLst/>
          </a:prstGeom>
          <a:noFill/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1" name="Google Shape;191;p27"/>
          <p:cNvCxnSpPr/>
          <p:nvPr/>
        </p:nvCxnSpPr>
        <p:spPr>
          <a:xfrm>
            <a:off x="411480" y="483489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2" name="Google Shape;192;p27"/>
          <p:cNvSpPr txBox="1"/>
          <p:nvPr/>
        </p:nvSpPr>
        <p:spPr>
          <a:xfrm>
            <a:off x="411480" y="4855464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Factorized GPU Transactions for Concurrent Dynamic Graphs</a:t>
            </a:r>
            <a:endParaRPr sz="1100"/>
          </a:p>
        </p:txBody>
      </p:sp>
      <p:sp>
        <p:nvSpPr>
          <p:cNvPr id="193" name="Google Shape;193;p27"/>
          <p:cNvSpPr txBox="1"/>
          <p:nvPr/>
        </p:nvSpPr>
        <p:spPr>
          <a:xfrm>
            <a:off x="8229600" y="4855464"/>
            <a:ext cx="4800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194" name="Google Shape;194;p27"/>
          <p:cNvSpPr txBox="1"/>
          <p:nvPr/>
        </p:nvSpPr>
        <p:spPr>
          <a:xfrm>
            <a:off x="411480" y="994410"/>
            <a:ext cx="8318754" cy="2192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333333"/>
                </a:solidFill>
                <a:latin typeface="Arial"/>
              </a:rPr>
              <a:t>Thousands of GPU threads update a shared graph, but real graphs are skewed: hot vertex A can receive ~50% of all updates.</a:t>
            </a:r>
            <a:endParaRPr sz="1100"/>
          </a:p>
        </p:txBody>
      </p:sp>
      <p:sp>
        <p:nvSpPr>
          <p:cNvPr id="195" name="Google Shape;195;p27"/>
          <p:cNvSpPr txBox="1"/>
          <p:nvPr/>
        </p:nvSpPr>
        <p:spPr>
          <a:xfrm>
            <a:off x="1192530" y="1430870"/>
            <a:ext cx="26060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Skewed updates to hot vertex A</a:t>
            </a:r>
            <a:endParaRPr sz="1100"/>
          </a:p>
        </p:txBody>
      </p:sp>
      <p:sp>
        <p:nvSpPr>
          <p:cNvPr id="196" name="Google Shape;196;p27"/>
          <p:cNvSpPr txBox="1"/>
          <p:nvPr/>
        </p:nvSpPr>
        <p:spPr>
          <a:xfrm>
            <a:off x="1192530" y="1739481"/>
            <a:ext cx="22631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000000"/>
                </a:solidFill>
                <a:latin typeface="Arial"/>
              </a:rPr>
              <a:t>•  T1: </a:t>
            </a:r>
            <a:r>
              <a:rPr sz="800" b="0" i="0">
                <a:solidFill>
                  <a:srgbClr val="000000"/>
                </a:solidFill>
                <a:latin typeface="Arial"/>
              </a:rPr>
              <a:t>Insert (A,F)</a:t>
            </a:r>
            <a:endParaRPr sz="1100"/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•  T2: </a:t>
            </a:r>
            <a:r>
              <a:rPr sz="800" b="0" i="0">
                <a:solidFill>
                  <a:srgbClr val="000000"/>
                </a:solidFill>
                <a:latin typeface="Arial"/>
              </a:rPr>
              <a:t>Insert (A,G)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•  T3: </a:t>
            </a:r>
            <a:r>
              <a:rPr sz="800" b="0" i="0">
                <a:solidFill>
                  <a:srgbClr val="000000"/>
                </a:solidFill>
                <a:latin typeface="Arial"/>
              </a:rPr>
              <a:t>Insert (A,H)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•  T4: </a:t>
            </a:r>
            <a:r>
              <a:rPr sz="800" b="0" i="0">
                <a:solidFill>
                  <a:srgbClr val="000000"/>
                </a:solidFill>
                <a:latin typeface="Arial"/>
              </a:rPr>
              <a:t>Insert (A,I)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•  T5: </a:t>
            </a:r>
            <a:r>
              <a:rPr sz="800" b="0" i="0">
                <a:solidFill>
                  <a:srgbClr val="000000"/>
                </a:solidFill>
                <a:latin typeface="Arial"/>
              </a:rPr>
              <a:t>Insert (A,F) duplicate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•  T6: </a:t>
            </a:r>
            <a:r>
              <a:rPr sz="800" b="0" i="0">
                <a:solidFill>
                  <a:srgbClr val="000000"/>
                </a:solidFill>
                <a:latin typeface="Arial"/>
              </a:rPr>
              <a:t>swap { delete(A,B); insert(A,J) }</a:t>
            </a:r>
          </a:p>
        </p:txBody>
      </p:sp>
      <p:sp>
        <p:nvSpPr>
          <p:cNvPr id="197" name="Google Shape;197;p27"/>
          <p:cNvSpPr/>
          <p:nvPr/>
        </p:nvSpPr>
        <p:spPr>
          <a:xfrm>
            <a:off x="3592829" y="2013801"/>
            <a:ext cx="1165860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Vertex A</a:t>
            </a:r>
            <a:br>
              <a:rPr b="1" i="0" lang="en" sz="9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9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adjacency</a:t>
            </a:r>
            <a:endParaRPr sz="1100"/>
          </a:p>
        </p:txBody>
      </p:sp>
      <p:cxnSp>
        <p:nvCxnSpPr>
          <p:cNvPr id="198" name="Google Shape;198;p27"/>
          <p:cNvCxnSpPr/>
          <p:nvPr/>
        </p:nvCxnSpPr>
        <p:spPr>
          <a:xfrm>
            <a:off x="3455670" y="1842351"/>
            <a:ext cx="137159" cy="548640"/>
          </a:xfrm>
          <a:prstGeom prst="straightConnector1">
            <a:avLst/>
          </a:prstGeom>
          <a:noFill/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9" name="Google Shape;199;p27"/>
          <p:cNvCxnSpPr/>
          <p:nvPr/>
        </p:nvCxnSpPr>
        <p:spPr>
          <a:xfrm>
            <a:off x="3455670" y="2116671"/>
            <a:ext cx="137159" cy="274320"/>
          </a:xfrm>
          <a:prstGeom prst="straightConnector1">
            <a:avLst/>
          </a:prstGeom>
          <a:noFill/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0" name="Google Shape;200;p27"/>
          <p:cNvCxnSpPr/>
          <p:nvPr/>
        </p:nvCxnSpPr>
        <p:spPr>
          <a:xfrm>
            <a:off x="3455670" y="2356701"/>
            <a:ext cx="137159" cy="34290"/>
          </a:xfrm>
          <a:prstGeom prst="straightConnector1">
            <a:avLst/>
          </a:prstGeom>
          <a:noFill/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1" name="Google Shape;201;p27"/>
          <p:cNvCxnSpPr/>
          <p:nvPr/>
        </p:nvCxnSpPr>
        <p:spPr>
          <a:xfrm flipH="1" rot="10800000">
            <a:off x="3455670" y="2390991"/>
            <a:ext cx="137159" cy="205740"/>
          </a:xfrm>
          <a:prstGeom prst="straightConnector1">
            <a:avLst/>
          </a:prstGeom>
          <a:noFill/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2" name="Google Shape;202;p27"/>
          <p:cNvCxnSpPr/>
          <p:nvPr/>
        </p:nvCxnSpPr>
        <p:spPr>
          <a:xfrm flipH="1" rot="10800000">
            <a:off x="3455670" y="2390991"/>
            <a:ext cx="137159" cy="445769"/>
          </a:xfrm>
          <a:prstGeom prst="straightConnector1">
            <a:avLst/>
          </a:prstGeom>
          <a:noFill/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3" name="Google Shape;203;p27"/>
          <p:cNvSpPr txBox="1"/>
          <p:nvPr/>
        </p:nvSpPr>
        <p:spPr>
          <a:xfrm>
            <a:off x="3524250" y="2871051"/>
            <a:ext cx="13030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shared adjacency structure</a:t>
            </a:r>
            <a:endParaRPr sz="1100"/>
          </a:p>
        </p:txBody>
      </p:sp>
      <p:cxnSp>
        <p:nvCxnSpPr>
          <p:cNvPr id="204" name="Google Shape;204;p27"/>
          <p:cNvCxnSpPr/>
          <p:nvPr/>
        </p:nvCxnSpPr>
        <p:spPr>
          <a:xfrm>
            <a:off x="4998720" y="1430870"/>
            <a:ext cx="0" cy="2023111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5" name="Google Shape;205;p27"/>
          <p:cNvSpPr txBox="1"/>
          <p:nvPr/>
        </p:nvSpPr>
        <p:spPr>
          <a:xfrm>
            <a:off x="5238750" y="1430870"/>
            <a:ext cx="2057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Naive per-vertex lock = hotspot</a:t>
            </a:r>
            <a:endParaRPr sz="1100"/>
          </a:p>
        </p:txBody>
      </p:sp>
      <p:sp>
        <p:nvSpPr>
          <p:cNvPr id="206" name="Google Shape;206;p27"/>
          <p:cNvSpPr txBox="1"/>
          <p:nvPr/>
        </p:nvSpPr>
        <p:spPr>
          <a:xfrm>
            <a:off x="5238750" y="1739481"/>
            <a:ext cx="2057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000000"/>
                </a:solidFill>
                <a:latin typeface="Arial"/>
              </a:rPr>
              <a:t>•  Hotspot lock(A) </a:t>
            </a:r>
            <a:r>
              <a:rPr sz="800" b="0" i="0">
                <a:solidFill>
                  <a:srgbClr val="000000"/>
                </a:solidFill>
                <a:latin typeface="Arial"/>
              </a:rPr>
              <a:t>— all edges serialize.</a:t>
            </a:r>
            <a:endParaRPr sz="1100"/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•  False conflicts </a:t>
            </a:r>
            <a:r>
              <a:rPr sz="800" b="0" i="0">
                <a:solidFill>
                  <a:srgbClr val="000000"/>
                </a:solidFill>
                <a:latin typeface="Arial"/>
              </a:rPr>
              <a:t>— (A,F) vs (A,G) need not wait.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•  Lost / duplicate </a:t>
            </a:r>
            <a:r>
              <a:rPr sz="800" b="0" i="0">
                <a:solidFill>
                  <a:srgbClr val="000000"/>
                </a:solidFill>
                <a:latin typeface="Arial"/>
              </a:rPr>
              <a:t>— races + double insert.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•  Torn txn </a:t>
            </a:r>
            <a:r>
              <a:rPr sz="800" b="0" i="0">
                <a:solidFill>
                  <a:srgbClr val="000000"/>
                </a:solidFill>
                <a:latin typeface="Arial"/>
              </a:rPr>
              <a:t>— half of T6 visible.</a:t>
            </a:r>
          </a:p>
        </p:txBody>
      </p:sp>
      <p:cxnSp>
        <p:nvCxnSpPr>
          <p:cNvPr id="207" name="Google Shape;207;p27"/>
          <p:cNvCxnSpPr/>
          <p:nvPr/>
        </p:nvCxnSpPr>
        <p:spPr>
          <a:xfrm>
            <a:off x="411480" y="363474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8" name="Google Shape;208;p27"/>
          <p:cNvSpPr txBox="1"/>
          <p:nvPr/>
        </p:nvSpPr>
        <p:spPr>
          <a:xfrm>
            <a:off x="411480" y="3771900"/>
            <a:ext cx="831875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Research question</a:t>
            </a:r>
            <a:endParaRPr sz="1100"/>
          </a:p>
        </p:txBody>
      </p:sp>
      <p:sp>
        <p:nvSpPr>
          <p:cNvPr id="209" name="Google Shape;209;p27"/>
          <p:cNvSpPr txBox="1"/>
          <p:nvPr/>
        </p:nvSpPr>
        <p:spPr>
          <a:xfrm>
            <a:off x="1028700" y="4011930"/>
            <a:ext cx="708431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How can independent edges sharing hot vertex A proceed concurrently, with conflicts ordered by exact edge — not by vertex?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/>
          <p:nvPr/>
        </p:nvSpPr>
        <p:spPr>
          <a:xfrm>
            <a:off x="411480" y="171450"/>
            <a:ext cx="82981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3  —  MOTIVATION</a:t>
            </a:r>
            <a:endParaRPr sz="1100"/>
          </a:p>
        </p:txBody>
      </p:sp>
      <p:sp>
        <p:nvSpPr>
          <p:cNvPr id="216" name="Google Shape;216;p28"/>
          <p:cNvSpPr txBox="1"/>
          <p:nvPr/>
        </p:nvSpPr>
        <p:spPr>
          <a:xfrm>
            <a:off x="411480" y="342900"/>
            <a:ext cx="82981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Why Do We Need a Synchronization Abstraction?</a:t>
            </a:r>
            <a:endParaRPr sz="1100"/>
          </a:p>
        </p:txBody>
      </p:sp>
      <p:cxnSp>
        <p:nvCxnSpPr>
          <p:cNvPr id="217" name="Google Shape;217;p28"/>
          <p:cNvCxnSpPr/>
          <p:nvPr/>
        </p:nvCxnSpPr>
        <p:spPr>
          <a:xfrm>
            <a:off x="411480" y="857250"/>
            <a:ext cx="8318754" cy="0"/>
          </a:xfrm>
          <a:prstGeom prst="straightConnector1">
            <a:avLst/>
          </a:prstGeom>
          <a:noFill/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8" name="Google Shape;218;p28"/>
          <p:cNvCxnSpPr/>
          <p:nvPr/>
        </p:nvCxnSpPr>
        <p:spPr>
          <a:xfrm>
            <a:off x="411480" y="483489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9" name="Google Shape;219;p28"/>
          <p:cNvSpPr txBox="1"/>
          <p:nvPr/>
        </p:nvSpPr>
        <p:spPr>
          <a:xfrm>
            <a:off x="411480" y="4855464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Factorized GPU Transactions for Concurrent Dynamic Graphs</a:t>
            </a:r>
            <a:endParaRPr sz="1100"/>
          </a:p>
        </p:txBody>
      </p:sp>
      <p:sp>
        <p:nvSpPr>
          <p:cNvPr id="220" name="Google Shape;220;p28"/>
          <p:cNvSpPr txBox="1"/>
          <p:nvPr/>
        </p:nvSpPr>
        <p:spPr>
          <a:xfrm>
            <a:off x="8229600" y="4855464"/>
            <a:ext cx="4800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221" name="Google Shape;221;p28"/>
          <p:cNvSpPr txBox="1"/>
          <p:nvPr/>
        </p:nvSpPr>
        <p:spPr>
          <a:xfrm>
            <a:off x="411480" y="994410"/>
            <a:ext cx="8318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Manual GPU synchronization with locks, atomics, and CAS is complex and error-prone. (Write complex </a:t>
            </a:r>
            <a:r>
              <a:rPr i="1" lang="en" sz="1000">
                <a:solidFill>
                  <a:srgbClr val="333333"/>
                </a:solidFill>
              </a:rPr>
              <a:t>synchronization code)</a:t>
            </a:r>
            <a:endParaRPr sz="1100"/>
          </a:p>
        </p:txBody>
      </p:sp>
      <p:sp>
        <p:nvSpPr>
          <p:cNvPr id="222" name="Google Shape;222;p28"/>
          <p:cNvSpPr txBox="1"/>
          <p:nvPr/>
        </p:nvSpPr>
        <p:spPr>
          <a:xfrm>
            <a:off x="3086100" y="1317563"/>
            <a:ext cx="22631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GPUs make it harder (SIMT)</a:t>
            </a:r>
            <a:endParaRPr sz="1100"/>
          </a:p>
        </p:txBody>
      </p:sp>
      <p:sp>
        <p:nvSpPr>
          <p:cNvPr id="223" name="Google Shape;223;p28"/>
          <p:cNvSpPr txBox="1"/>
          <p:nvPr/>
        </p:nvSpPr>
        <p:spPr>
          <a:xfrm>
            <a:off x="3120390" y="1652778"/>
            <a:ext cx="22631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Developers add locks, atomics, CAS, retries, ordering.</a:t>
            </a:r>
            <a:endParaRPr sz="1100"/>
          </a:p>
        </p:txBody>
      </p:sp>
      <p:sp>
        <p:nvSpPr>
          <p:cNvPr id="224" name="Google Shape;224;p28"/>
          <p:cNvSpPr/>
          <p:nvPr/>
        </p:nvSpPr>
        <p:spPr>
          <a:xfrm>
            <a:off x="3223260" y="1995678"/>
            <a:ext cx="198882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Fine-grained locks</a:t>
            </a:r>
            <a:endParaRPr sz="1100"/>
          </a:p>
        </p:txBody>
      </p:sp>
      <p:sp>
        <p:nvSpPr>
          <p:cNvPr id="225" name="Google Shape;225;p28"/>
          <p:cNvSpPr txBox="1"/>
          <p:nvPr/>
        </p:nvSpPr>
        <p:spPr>
          <a:xfrm>
            <a:off x="3977640" y="2215134"/>
            <a:ext cx="4800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226" name="Google Shape;226;p28"/>
          <p:cNvSpPr/>
          <p:nvPr/>
        </p:nvSpPr>
        <p:spPr>
          <a:xfrm>
            <a:off x="3223260" y="2352294"/>
            <a:ext cx="198882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Warp divergence</a:t>
            </a:r>
            <a:endParaRPr sz="1100"/>
          </a:p>
        </p:txBody>
      </p:sp>
      <p:sp>
        <p:nvSpPr>
          <p:cNvPr id="227" name="Google Shape;227;p28"/>
          <p:cNvSpPr txBox="1"/>
          <p:nvPr/>
        </p:nvSpPr>
        <p:spPr>
          <a:xfrm>
            <a:off x="3977640" y="2571750"/>
            <a:ext cx="4800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228" name="Google Shape;228;p28"/>
          <p:cNvSpPr/>
          <p:nvPr/>
        </p:nvSpPr>
        <p:spPr>
          <a:xfrm>
            <a:off x="3223260" y="2708910"/>
            <a:ext cx="198882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Deadlock / livelock risk</a:t>
            </a:r>
            <a:endParaRPr sz="1100"/>
          </a:p>
        </p:txBody>
      </p:sp>
      <p:sp>
        <p:nvSpPr>
          <p:cNvPr id="229" name="Google Shape;229;p28"/>
          <p:cNvSpPr txBox="1"/>
          <p:nvPr/>
        </p:nvSpPr>
        <p:spPr>
          <a:xfrm>
            <a:off x="3977640" y="2928366"/>
            <a:ext cx="4800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230" name="Google Shape;230;p28"/>
          <p:cNvSpPr/>
          <p:nvPr/>
        </p:nvSpPr>
        <p:spPr>
          <a:xfrm>
            <a:off x="3223260" y="3065526"/>
            <a:ext cx="198882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logic</a:t>
            </a:r>
            <a:endParaRPr sz="1100"/>
          </a:p>
        </p:txBody>
      </p:sp>
      <p:sp>
        <p:nvSpPr>
          <p:cNvPr id="231" name="Google Shape;231;p28"/>
          <p:cNvSpPr txBox="1"/>
          <p:nvPr/>
        </p:nvSpPr>
        <p:spPr>
          <a:xfrm>
            <a:off x="3977640" y="3284982"/>
            <a:ext cx="4800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232" name="Google Shape;232;p28"/>
          <p:cNvSpPr/>
          <p:nvPr/>
        </p:nvSpPr>
        <p:spPr>
          <a:xfrm>
            <a:off x="3223260" y="3422142"/>
            <a:ext cx="198882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Concurrency bugs</a:t>
            </a:r>
            <a:endParaRPr sz="1100"/>
          </a:p>
        </p:txBody>
      </p:sp>
      <p:sp>
        <p:nvSpPr>
          <p:cNvPr id="233" name="Google Shape;233;p28"/>
          <p:cNvSpPr txBox="1"/>
          <p:nvPr/>
        </p:nvSpPr>
        <p:spPr>
          <a:xfrm>
            <a:off x="6240780" y="1405889"/>
            <a:ext cx="24688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trade-off</a:t>
            </a:r>
            <a:endParaRPr sz="1100"/>
          </a:p>
        </p:txBody>
      </p:sp>
      <p:sp>
        <p:nvSpPr>
          <p:cNvPr id="234" name="Google Shape;234;p28"/>
          <p:cNvSpPr/>
          <p:nvPr/>
        </p:nvSpPr>
        <p:spPr>
          <a:xfrm>
            <a:off x="6240780" y="1714500"/>
            <a:ext cx="2468880" cy="7886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6343650" y="1769364"/>
            <a:ext cx="22631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Specialized synchronization</a:t>
            </a:r>
            <a:endParaRPr sz="1100"/>
          </a:p>
        </p:txBody>
      </p:sp>
      <p:cxnSp>
        <p:nvCxnSpPr>
          <p:cNvPr id="236" name="Google Shape;236;p28"/>
          <p:cNvCxnSpPr/>
          <p:nvPr/>
        </p:nvCxnSpPr>
        <p:spPr>
          <a:xfrm>
            <a:off x="6343650" y="2002536"/>
            <a:ext cx="2263139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7" name="Google Shape;237;p28"/>
          <p:cNvSpPr txBox="1"/>
          <p:nvPr/>
        </p:nvSpPr>
        <p:spPr>
          <a:xfrm>
            <a:off x="6343650" y="2057400"/>
            <a:ext cx="2263140" cy="37718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High performance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High complexity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Error-prone</a:t>
            </a:r>
            <a:endParaRPr sz="1100"/>
          </a:p>
        </p:txBody>
      </p:sp>
      <p:sp>
        <p:nvSpPr>
          <p:cNvPr id="238" name="Google Shape;238;p28"/>
          <p:cNvSpPr txBox="1"/>
          <p:nvPr/>
        </p:nvSpPr>
        <p:spPr>
          <a:xfrm>
            <a:off x="7200900" y="2503170"/>
            <a:ext cx="5486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↓  Goal</a:t>
            </a:r>
            <a:endParaRPr sz="1100"/>
          </a:p>
        </p:txBody>
      </p:sp>
      <p:sp>
        <p:nvSpPr>
          <p:cNvPr id="239" name="Google Shape;239;p28"/>
          <p:cNvSpPr/>
          <p:nvPr/>
        </p:nvSpPr>
        <p:spPr>
          <a:xfrm>
            <a:off x="6240780" y="2743200"/>
            <a:ext cx="2468880" cy="720090"/>
          </a:xfrm>
          <a:prstGeom prst="roundRect">
            <a:avLst>
              <a:gd fmla="val 16667" name="adj"/>
            </a:avLst>
          </a:prstGeom>
          <a:solidFill>
            <a:srgbClr val="EFF2F7"/>
          </a:solidFill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6343650" y="2777490"/>
            <a:ext cx="22631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GPU-STM abstraction</a:t>
            </a:r>
            <a:endParaRPr sz="1100"/>
          </a:p>
        </p:txBody>
      </p:sp>
      <p:cxnSp>
        <p:nvCxnSpPr>
          <p:cNvPr id="241" name="Google Shape;241;p28"/>
          <p:cNvCxnSpPr/>
          <p:nvPr/>
        </p:nvCxnSpPr>
        <p:spPr>
          <a:xfrm>
            <a:off x="6343650" y="2983229"/>
            <a:ext cx="226314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2" name="Google Shape;242;p28"/>
          <p:cNvSpPr txBox="1"/>
          <p:nvPr/>
        </p:nvSpPr>
        <p:spPr>
          <a:xfrm>
            <a:off x="6343650" y="3017520"/>
            <a:ext cx="22631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Lower complexity; fewer bugs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≈ competitive performance ?</a:t>
            </a:r>
            <a:endParaRPr sz="1100"/>
          </a:p>
        </p:txBody>
      </p:sp>
      <p:sp>
        <p:nvSpPr>
          <p:cNvPr id="243" name="Google Shape;243;p28"/>
          <p:cNvSpPr txBox="1"/>
          <p:nvPr/>
        </p:nvSpPr>
        <p:spPr>
          <a:xfrm>
            <a:off x="58293" y="3856291"/>
            <a:ext cx="831875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Key research goal</a:t>
            </a:r>
            <a:endParaRPr sz="1100"/>
          </a:p>
        </p:txBody>
      </p:sp>
      <p:sp>
        <p:nvSpPr>
          <p:cNvPr id="244" name="Google Shape;244;p28"/>
          <p:cNvSpPr txBox="1"/>
          <p:nvPr/>
        </p:nvSpPr>
        <p:spPr>
          <a:xfrm>
            <a:off x="469773" y="4096321"/>
            <a:ext cx="749579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Reduce synchronization complexity and bugs — without sacrificing significant performance.</a:t>
            </a:r>
            <a:endParaRPr sz="1100"/>
          </a:p>
        </p:txBody>
      </p:sp>
      <p:sp>
        <p:nvSpPr>
          <p:cNvPr id="245" name="Google Shape;245;p28"/>
          <p:cNvSpPr txBox="1"/>
          <p:nvPr/>
        </p:nvSpPr>
        <p:spPr>
          <a:xfrm>
            <a:off x="451802" y="1424369"/>
            <a:ext cx="17830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 vs. GPU</a:t>
            </a:r>
            <a:endParaRPr sz="1100"/>
          </a:p>
        </p:txBody>
      </p:sp>
      <p:sp>
        <p:nvSpPr>
          <p:cNvPr id="246" name="Google Shape;246;p28"/>
          <p:cNvSpPr txBox="1"/>
          <p:nvPr/>
        </p:nvSpPr>
        <p:spPr>
          <a:xfrm>
            <a:off x="451802" y="1645921"/>
            <a:ext cx="178308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CPU: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few threads; limited contention.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GPU: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thousands of threads; massive contention.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 txBox="1"/>
          <p:nvPr/>
        </p:nvSpPr>
        <p:spPr>
          <a:xfrm>
            <a:off x="411480" y="171450"/>
            <a:ext cx="82981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4  —  ABSTRACTION</a:t>
            </a:r>
            <a:endParaRPr sz="1100"/>
          </a:p>
        </p:txBody>
      </p:sp>
      <p:sp>
        <p:nvSpPr>
          <p:cNvPr id="252" name="Google Shape;252;p29"/>
          <p:cNvSpPr txBox="1"/>
          <p:nvPr/>
        </p:nvSpPr>
        <p:spPr>
          <a:xfrm>
            <a:off x="411480" y="342900"/>
            <a:ext cx="82981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Software Transactional Memory (STM): The Abstraction</a:t>
            </a:r>
            <a:endParaRPr sz="1100"/>
          </a:p>
        </p:txBody>
      </p:sp>
      <p:cxnSp>
        <p:nvCxnSpPr>
          <p:cNvPr id="253" name="Google Shape;253;p29"/>
          <p:cNvCxnSpPr/>
          <p:nvPr/>
        </p:nvCxnSpPr>
        <p:spPr>
          <a:xfrm>
            <a:off x="411480" y="857250"/>
            <a:ext cx="8318754" cy="0"/>
          </a:xfrm>
          <a:prstGeom prst="straightConnector1">
            <a:avLst/>
          </a:prstGeom>
          <a:noFill/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54" name="Google Shape;254;p29"/>
          <p:cNvCxnSpPr/>
          <p:nvPr/>
        </p:nvCxnSpPr>
        <p:spPr>
          <a:xfrm>
            <a:off x="411480" y="483489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5" name="Google Shape;255;p29"/>
          <p:cNvSpPr txBox="1"/>
          <p:nvPr/>
        </p:nvSpPr>
        <p:spPr>
          <a:xfrm>
            <a:off x="411480" y="4855464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Factorized GPU Transactions for Concurrent Dynamic Graphs</a:t>
            </a:r>
            <a:endParaRPr sz="1100"/>
          </a:p>
        </p:txBody>
      </p:sp>
      <p:sp>
        <p:nvSpPr>
          <p:cNvPr id="256" name="Google Shape;256;p29"/>
          <p:cNvSpPr txBox="1"/>
          <p:nvPr/>
        </p:nvSpPr>
        <p:spPr>
          <a:xfrm>
            <a:off x="8229600" y="4855464"/>
            <a:ext cx="4800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257" name="Google Shape;257;p29"/>
          <p:cNvSpPr txBox="1"/>
          <p:nvPr/>
        </p:nvSpPr>
        <p:spPr>
          <a:xfrm>
            <a:off x="411480" y="994410"/>
            <a:ext cx="831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Instead of managing synchronization manually, programmers express operations as transactions.</a:t>
            </a:r>
            <a:endParaRPr sz="1100"/>
          </a:p>
        </p:txBody>
      </p:sp>
      <p:sp>
        <p:nvSpPr>
          <p:cNvPr id="258" name="Google Shape;258;p29"/>
          <p:cNvSpPr txBox="1"/>
          <p:nvPr/>
        </p:nvSpPr>
        <p:spPr>
          <a:xfrm>
            <a:off x="411480" y="1405889"/>
            <a:ext cx="24003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Manual synchronization</a:t>
            </a:r>
            <a:endParaRPr sz="1100"/>
          </a:p>
        </p:txBody>
      </p:sp>
      <p:sp>
        <p:nvSpPr>
          <p:cNvPr id="259" name="Google Shape;259;p29"/>
          <p:cNvSpPr/>
          <p:nvPr/>
        </p:nvSpPr>
        <p:spPr>
          <a:xfrm>
            <a:off x="685800" y="1748790"/>
            <a:ext cx="1851660" cy="2880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Lock</a:t>
            </a:r>
            <a:endParaRPr sz="1100"/>
          </a:p>
        </p:txBody>
      </p:sp>
      <p:sp>
        <p:nvSpPr>
          <p:cNvPr id="260" name="Google Shape;260;p29"/>
          <p:cNvSpPr txBox="1"/>
          <p:nvPr/>
        </p:nvSpPr>
        <p:spPr>
          <a:xfrm>
            <a:off x="685800" y="2036826"/>
            <a:ext cx="18516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261" name="Google Shape;261;p29"/>
          <p:cNvSpPr/>
          <p:nvPr/>
        </p:nvSpPr>
        <p:spPr>
          <a:xfrm>
            <a:off x="685800" y="2187702"/>
            <a:ext cx="1851660" cy="2880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Modify graph</a:t>
            </a:r>
            <a:endParaRPr sz="1100"/>
          </a:p>
        </p:txBody>
      </p:sp>
      <p:sp>
        <p:nvSpPr>
          <p:cNvPr id="262" name="Google Shape;262;p29"/>
          <p:cNvSpPr txBox="1"/>
          <p:nvPr/>
        </p:nvSpPr>
        <p:spPr>
          <a:xfrm>
            <a:off x="685800" y="2475738"/>
            <a:ext cx="18516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263" name="Google Shape;263;p29"/>
          <p:cNvSpPr/>
          <p:nvPr/>
        </p:nvSpPr>
        <p:spPr>
          <a:xfrm>
            <a:off x="685800" y="2626614"/>
            <a:ext cx="1851660" cy="2880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Unlock</a:t>
            </a:r>
            <a:endParaRPr sz="1100"/>
          </a:p>
        </p:txBody>
      </p:sp>
      <p:sp>
        <p:nvSpPr>
          <p:cNvPr id="264" name="Google Shape;264;p29"/>
          <p:cNvSpPr txBox="1"/>
          <p:nvPr/>
        </p:nvSpPr>
        <p:spPr>
          <a:xfrm>
            <a:off x="411480" y="3154680"/>
            <a:ext cx="24003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Programmer manages synchronization</a:t>
            </a:r>
            <a:endParaRPr sz="1100"/>
          </a:p>
        </p:txBody>
      </p:sp>
      <p:sp>
        <p:nvSpPr>
          <p:cNvPr id="265" name="Google Shape;265;p29"/>
          <p:cNvSpPr txBox="1"/>
          <p:nvPr/>
        </p:nvSpPr>
        <p:spPr>
          <a:xfrm>
            <a:off x="2846070" y="2263140"/>
            <a:ext cx="3771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100"/>
          </a:p>
        </p:txBody>
      </p:sp>
      <p:sp>
        <p:nvSpPr>
          <p:cNvPr id="266" name="Google Shape;266;p29"/>
          <p:cNvSpPr txBox="1"/>
          <p:nvPr/>
        </p:nvSpPr>
        <p:spPr>
          <a:xfrm>
            <a:off x="3326130" y="1405889"/>
            <a:ext cx="23317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STM abstraction</a:t>
            </a:r>
            <a:endParaRPr sz="1100"/>
          </a:p>
        </p:txBody>
      </p:sp>
      <p:sp>
        <p:nvSpPr>
          <p:cNvPr id="267" name="Google Shape;267;p29"/>
          <p:cNvSpPr/>
          <p:nvPr/>
        </p:nvSpPr>
        <p:spPr>
          <a:xfrm>
            <a:off x="3326130" y="1748790"/>
            <a:ext cx="2331720" cy="1337310"/>
          </a:xfrm>
          <a:prstGeom prst="roundRect">
            <a:avLst>
              <a:gd fmla="val 16667" name="adj"/>
            </a:avLst>
          </a:prstGeom>
          <a:solidFill>
            <a:srgbClr val="EFF2F7"/>
          </a:solidFill>
          <a:ln cap="flat" cmpd="sng" w="2222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9"/>
          <p:cNvSpPr txBox="1"/>
          <p:nvPr/>
        </p:nvSpPr>
        <p:spPr>
          <a:xfrm>
            <a:off x="3463290" y="1851659"/>
            <a:ext cx="2057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transaction {</a:t>
            </a:r>
            <a:endParaRPr sz="1100"/>
          </a:p>
        </p:txBody>
      </p:sp>
      <p:sp>
        <p:nvSpPr>
          <p:cNvPr id="269" name="Google Shape;269;p29"/>
          <p:cNvSpPr txBox="1"/>
          <p:nvPr/>
        </p:nvSpPr>
        <p:spPr>
          <a:xfrm>
            <a:off x="3463290" y="2194559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/ Modify graph</a:t>
            </a:r>
            <a:endParaRPr sz="1100"/>
          </a:p>
        </p:txBody>
      </p:sp>
      <p:sp>
        <p:nvSpPr>
          <p:cNvPr id="270" name="Google Shape;270;p29"/>
          <p:cNvSpPr txBox="1"/>
          <p:nvPr/>
        </p:nvSpPr>
        <p:spPr>
          <a:xfrm>
            <a:off x="3463290" y="2674620"/>
            <a:ext cx="2057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271" name="Google Shape;271;p29"/>
          <p:cNvSpPr txBox="1"/>
          <p:nvPr/>
        </p:nvSpPr>
        <p:spPr>
          <a:xfrm>
            <a:off x="3326130" y="3154680"/>
            <a:ext cx="23317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8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Programmer specifies operation only</a:t>
            </a:r>
            <a:endParaRPr sz="1100"/>
          </a:p>
        </p:txBody>
      </p:sp>
      <p:sp>
        <p:nvSpPr>
          <p:cNvPr id="272" name="Google Shape;272;p29"/>
          <p:cNvSpPr txBox="1"/>
          <p:nvPr/>
        </p:nvSpPr>
        <p:spPr>
          <a:xfrm>
            <a:off x="5726430" y="2263140"/>
            <a:ext cx="3771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100"/>
          </a:p>
        </p:txBody>
      </p:sp>
      <p:sp>
        <p:nvSpPr>
          <p:cNvPr id="273" name="Google Shape;273;p29"/>
          <p:cNvSpPr txBox="1"/>
          <p:nvPr/>
        </p:nvSpPr>
        <p:spPr>
          <a:xfrm>
            <a:off x="6206490" y="1405889"/>
            <a:ext cx="250317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STM handles</a:t>
            </a:r>
            <a:endParaRPr sz="1100"/>
          </a:p>
        </p:txBody>
      </p:sp>
      <p:sp>
        <p:nvSpPr>
          <p:cNvPr id="274" name="Google Shape;274;p29"/>
          <p:cNvSpPr/>
          <p:nvPr/>
        </p:nvSpPr>
        <p:spPr>
          <a:xfrm>
            <a:off x="6446520" y="1748790"/>
            <a:ext cx="2023110" cy="2606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/ write tracking</a:t>
            </a:r>
            <a:endParaRPr sz="1100"/>
          </a:p>
        </p:txBody>
      </p:sp>
      <p:sp>
        <p:nvSpPr>
          <p:cNvPr id="275" name="Google Shape;275;p29"/>
          <p:cNvSpPr txBox="1"/>
          <p:nvPr/>
        </p:nvSpPr>
        <p:spPr>
          <a:xfrm>
            <a:off x="6446520" y="2009393"/>
            <a:ext cx="20231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276" name="Google Shape;276;p29"/>
          <p:cNvSpPr/>
          <p:nvPr/>
        </p:nvSpPr>
        <p:spPr>
          <a:xfrm>
            <a:off x="6446520" y="2146554"/>
            <a:ext cx="2023110" cy="2606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Conflict detection</a:t>
            </a:r>
            <a:endParaRPr sz="1100"/>
          </a:p>
        </p:txBody>
      </p:sp>
      <p:sp>
        <p:nvSpPr>
          <p:cNvPr id="277" name="Google Shape;277;p29"/>
          <p:cNvSpPr txBox="1"/>
          <p:nvPr/>
        </p:nvSpPr>
        <p:spPr>
          <a:xfrm>
            <a:off x="6446520" y="2407158"/>
            <a:ext cx="20231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278" name="Google Shape;278;p29"/>
          <p:cNvSpPr/>
          <p:nvPr/>
        </p:nvSpPr>
        <p:spPr>
          <a:xfrm>
            <a:off x="6446520" y="2544318"/>
            <a:ext cx="2023110" cy="2606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sz="1100"/>
          </a:p>
        </p:txBody>
      </p:sp>
      <p:sp>
        <p:nvSpPr>
          <p:cNvPr id="279" name="Google Shape;279;p29"/>
          <p:cNvSpPr txBox="1"/>
          <p:nvPr/>
        </p:nvSpPr>
        <p:spPr>
          <a:xfrm>
            <a:off x="6446520" y="2804922"/>
            <a:ext cx="20231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280" name="Google Shape;280;p29"/>
          <p:cNvSpPr/>
          <p:nvPr/>
        </p:nvSpPr>
        <p:spPr>
          <a:xfrm>
            <a:off x="6446520" y="2942082"/>
            <a:ext cx="2023110" cy="260604"/>
          </a:xfrm>
          <a:prstGeom prst="roundRect">
            <a:avLst>
              <a:gd fmla="val 16667" name="adj"/>
            </a:avLst>
          </a:prstGeom>
          <a:solidFill>
            <a:srgbClr val="EFF2F7"/>
          </a:solidFill>
          <a:ln cap="flat" cmpd="sng" w="1587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Commit / abort</a:t>
            </a:r>
            <a:endParaRPr sz="1100"/>
          </a:p>
        </p:txBody>
      </p:sp>
      <p:sp>
        <p:nvSpPr>
          <p:cNvPr id="281" name="Google Shape;281;p29"/>
          <p:cNvSpPr txBox="1"/>
          <p:nvPr/>
        </p:nvSpPr>
        <p:spPr>
          <a:xfrm>
            <a:off x="6206490" y="3394710"/>
            <a:ext cx="25031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STM manages synchronization</a:t>
            </a:r>
            <a:endParaRPr sz="1100"/>
          </a:p>
        </p:txBody>
      </p:sp>
      <p:cxnSp>
        <p:nvCxnSpPr>
          <p:cNvPr id="282" name="Google Shape;282;p29"/>
          <p:cNvCxnSpPr/>
          <p:nvPr/>
        </p:nvCxnSpPr>
        <p:spPr>
          <a:xfrm>
            <a:off x="411480" y="380619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3" name="Google Shape;283;p29"/>
          <p:cNvSpPr txBox="1"/>
          <p:nvPr/>
        </p:nvSpPr>
        <p:spPr>
          <a:xfrm>
            <a:off x="411480" y="3909060"/>
            <a:ext cx="831875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Takeaway</a:t>
            </a:r>
            <a:endParaRPr sz="1100"/>
          </a:p>
        </p:txBody>
      </p:sp>
      <p:sp>
        <p:nvSpPr>
          <p:cNvPr id="284" name="Google Shape;284;p29"/>
          <p:cNvSpPr txBox="1"/>
          <p:nvPr/>
        </p:nvSpPr>
        <p:spPr>
          <a:xfrm>
            <a:off x="1028700" y="4149090"/>
            <a:ext cx="708431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STM separates application logic from synchronization management.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"/>
          <p:cNvSpPr txBox="1"/>
          <p:nvPr/>
        </p:nvSpPr>
        <p:spPr>
          <a:xfrm>
            <a:off x="411480" y="171450"/>
            <a:ext cx="82981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5  —  LITERATURE</a:t>
            </a:r>
            <a:endParaRPr sz="1100"/>
          </a:p>
        </p:txBody>
      </p:sp>
      <p:sp>
        <p:nvSpPr>
          <p:cNvPr id="290" name="Google Shape;290;p30"/>
          <p:cNvSpPr txBox="1"/>
          <p:nvPr/>
        </p:nvSpPr>
        <p:spPr>
          <a:xfrm>
            <a:off x="411480" y="342900"/>
            <a:ext cx="82981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Software Transactional Memory: From CPUs to GPUs</a:t>
            </a:r>
            <a:endParaRPr sz="1100"/>
          </a:p>
        </p:txBody>
      </p:sp>
      <p:cxnSp>
        <p:nvCxnSpPr>
          <p:cNvPr id="291" name="Google Shape;291;p30"/>
          <p:cNvCxnSpPr/>
          <p:nvPr/>
        </p:nvCxnSpPr>
        <p:spPr>
          <a:xfrm>
            <a:off x="411480" y="857250"/>
            <a:ext cx="8318754" cy="0"/>
          </a:xfrm>
          <a:prstGeom prst="straightConnector1">
            <a:avLst/>
          </a:prstGeom>
          <a:noFill/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92" name="Google Shape;292;p30"/>
          <p:cNvCxnSpPr/>
          <p:nvPr/>
        </p:nvCxnSpPr>
        <p:spPr>
          <a:xfrm>
            <a:off x="411480" y="483489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3" name="Google Shape;293;p30"/>
          <p:cNvSpPr txBox="1"/>
          <p:nvPr/>
        </p:nvSpPr>
        <p:spPr>
          <a:xfrm>
            <a:off x="411480" y="4855464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Factorized GPU Transactions for Concurrent Dynamic Graphs</a:t>
            </a:r>
            <a:endParaRPr sz="1100"/>
          </a:p>
        </p:txBody>
      </p:sp>
      <p:sp>
        <p:nvSpPr>
          <p:cNvPr id="294" name="Google Shape;294;p30"/>
          <p:cNvSpPr txBox="1"/>
          <p:nvPr/>
        </p:nvSpPr>
        <p:spPr>
          <a:xfrm>
            <a:off x="8229600" y="4855464"/>
            <a:ext cx="4800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  <p:graphicFrame>
        <p:nvGraphicFramePr>
          <p:cNvPr id="295" name="Google Shape;295;p30"/>
          <p:cNvGraphicFramePr/>
          <p:nvPr/>
        </p:nvGraphicFramePr>
        <p:xfrm>
          <a:off x="274320" y="9944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{362BF6F4-9913-4CAA-A3A7-F83A76B423C0}</a:tableStyleId>
              </a:tblPr>
              <a:tblGrid>
                <a:gridCol w="1303000"/>
                <a:gridCol w="2571750"/>
                <a:gridCol w="2537450"/>
                <a:gridCol w="2180850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Core contribution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idea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it gives us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1F3A5F"/>
                    </a:solidFill>
                  </a:tcPr>
                </a:tc>
              </a:tr>
              <a:tr h="50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STM (199</a:t>
                      </a:r>
                      <a:r>
                        <a:rPr b="1" lang="en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r>
                        <a:rPr b="1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Introduces STM as a higher-level concurrency abstraction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Transactions provide atomicity/consistency without explicit lock management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Separates application logic from synchronization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</a:tr>
              <a:tr h="50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DSTM (2003)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Extends STM to dynamically sized data structures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Dynamic read/write tracking; demonstrated with red-black trees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Relevant to dynamically changing structures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</a:tr>
              <a:tr h="50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GPU-STM (2013)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Adapts STM to GPU architectures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Hierarchical validation + encounter-time lock sorting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Shows STM is feasible on GPUs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</a:tr>
              <a:tr h="50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CSMV (2022)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Multi-version GPU STM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Client-server design separates execution from commit processing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Shows GPU-STM can be further optimized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</a:tr>
              <a:tr h="50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OF-GPU-STM (2025)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Explores obstruction-free GPU STM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Non-blocking progress approach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Addresses GPU synchronization/progress challenges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96" name="Google Shape;296;p30"/>
          <p:cNvCxnSpPr/>
          <p:nvPr/>
        </p:nvCxnSpPr>
        <p:spPr>
          <a:xfrm>
            <a:off x="411480" y="390906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7" name="Google Shape;297;p30"/>
          <p:cNvSpPr txBox="1"/>
          <p:nvPr/>
        </p:nvSpPr>
        <p:spPr>
          <a:xfrm>
            <a:off x="411480" y="3977640"/>
            <a:ext cx="8318754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STM evolved from a general abstraction → dynamic structures → GPU-specific synchronization.</a:t>
            </a:r>
            <a:endParaRPr sz="1100"/>
          </a:p>
        </p:txBody>
      </p:sp>
      <p:sp>
        <p:nvSpPr>
          <p:cNvPr id="298" name="Google Shape;298;p30"/>
          <p:cNvSpPr txBox="1"/>
          <p:nvPr/>
        </p:nvSpPr>
        <p:spPr>
          <a:xfrm>
            <a:off x="411480" y="4286250"/>
            <a:ext cx="831875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Gap: GPU-STM has been evaluated on general workloads, not concurrent dynamic graph updates.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 txBox="1"/>
          <p:nvPr/>
        </p:nvSpPr>
        <p:spPr>
          <a:xfrm>
            <a:off x="411480" y="171450"/>
            <a:ext cx="82981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6  —  LITERATURE</a:t>
            </a:r>
            <a:endParaRPr sz="1100"/>
          </a:p>
        </p:txBody>
      </p:sp>
      <p:sp>
        <p:nvSpPr>
          <p:cNvPr id="304" name="Google Shape;304;p31"/>
          <p:cNvSpPr txBox="1"/>
          <p:nvPr/>
        </p:nvSpPr>
        <p:spPr>
          <a:xfrm>
            <a:off x="411480" y="342900"/>
            <a:ext cx="82981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Dynamic Graph Processing on GPUs</a:t>
            </a:r>
            <a:endParaRPr sz="1100"/>
          </a:p>
        </p:txBody>
      </p:sp>
      <p:cxnSp>
        <p:nvCxnSpPr>
          <p:cNvPr id="305" name="Google Shape;305;p31"/>
          <p:cNvCxnSpPr/>
          <p:nvPr/>
        </p:nvCxnSpPr>
        <p:spPr>
          <a:xfrm>
            <a:off x="411480" y="857250"/>
            <a:ext cx="8318754" cy="0"/>
          </a:xfrm>
          <a:prstGeom prst="straightConnector1">
            <a:avLst/>
          </a:prstGeom>
          <a:noFill/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06" name="Google Shape;306;p31"/>
          <p:cNvCxnSpPr/>
          <p:nvPr/>
        </p:nvCxnSpPr>
        <p:spPr>
          <a:xfrm>
            <a:off x="411480" y="483489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7" name="Google Shape;307;p31"/>
          <p:cNvSpPr txBox="1"/>
          <p:nvPr/>
        </p:nvSpPr>
        <p:spPr>
          <a:xfrm>
            <a:off x="411480" y="4855464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Factorized GPU Transactions for Concurrent Dynamic Graphs</a:t>
            </a:r>
            <a:endParaRPr sz="1100"/>
          </a:p>
        </p:txBody>
      </p:sp>
      <p:sp>
        <p:nvSpPr>
          <p:cNvPr id="308" name="Google Shape;308;p31"/>
          <p:cNvSpPr txBox="1"/>
          <p:nvPr/>
        </p:nvSpPr>
        <p:spPr>
          <a:xfrm>
            <a:off x="8229600" y="4855464"/>
            <a:ext cx="4800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/>
          </a:p>
        </p:txBody>
      </p:sp>
      <p:cxnSp>
        <p:nvCxnSpPr>
          <p:cNvPr id="310" name="Google Shape;310;p31"/>
          <p:cNvCxnSpPr/>
          <p:nvPr/>
        </p:nvCxnSpPr>
        <p:spPr>
          <a:xfrm>
            <a:off x="411480" y="366903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1" name="Google Shape;311;p31"/>
          <p:cNvSpPr txBox="1"/>
          <p:nvPr/>
        </p:nvSpPr>
        <p:spPr>
          <a:xfrm>
            <a:off x="411480" y="3771900"/>
            <a:ext cx="831875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Takeaway</a:t>
            </a:r>
            <a:endParaRPr sz="1100"/>
          </a:p>
        </p:txBody>
      </p:sp>
      <p:sp>
        <p:nvSpPr>
          <p:cNvPr id="312" name="Google Shape;312;p31"/>
          <p:cNvSpPr txBox="1"/>
          <p:nvPr/>
        </p:nvSpPr>
        <p:spPr>
          <a:xfrm>
            <a:off x="548640" y="3977640"/>
            <a:ext cx="8044434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Dynamic GPU graph systems achieve high performance through specialized structures and synchronization.</a:t>
            </a:r>
            <a:endParaRPr sz="1100"/>
          </a:p>
        </p:txBody>
      </p:sp>
      <p:sp>
        <p:nvSpPr>
          <p:cNvPr id="313" name="Google Shape;313;p31"/>
          <p:cNvSpPr txBox="1"/>
          <p:nvPr/>
        </p:nvSpPr>
        <p:spPr>
          <a:xfrm>
            <a:off x="411480" y="4457700"/>
            <a:ext cx="831875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Our question: can GPU-STM provide a general abstraction without giving up competitive performance?</a:t>
            </a:r>
            <a:endParaRPr sz="1100"/>
          </a:p>
        </p:txBody>
      </p:sp>
      <p:graphicFrame>
        <p:nvGraphicFramePr>
          <p:cNvPr id="314" name="Table 313"/>
          <p:cNvGraphicFramePr>
            <a:graphicFrameLocks noGrp="1"/>
          </p:cNvGraphicFramePr>
          <p:nvPr/>
        </p:nvGraphicFramePr>
        <p:xfrm>
          <a:off x="274320" y="994410"/>
          <a:ext cx="8592616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2571292"/>
                <a:gridCol w="2537460"/>
                <a:gridCol w="2180844"/>
              </a:tblGrid>
              <a:tr h="292608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Work</a:t>
                      </a:r>
                    </a:p>
                  </a:txBody>
                  <a:tcPr anchor="ctr"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Core contribution</a:t>
                      </a:r>
                    </a:p>
                  </a:txBody>
                  <a:tcPr anchor="ctr"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Key idea</a:t>
                      </a:r>
                    </a:p>
                  </a:txBody>
                  <a:tcPr anchor="ctr"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What it gives us</a:t>
                      </a:r>
                    </a:p>
                  </a:txBody>
                  <a:tcPr anchor="ctr" marL="45720" marR="45720" marT="18288" marB="18288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"/>
                        </a:rPr>
                        <a:t>GPMA (2017)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Arial"/>
                        </a:rPr>
                        <a:t>GPU batches of dynamic updates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Arial"/>
                        </a:rPr>
                        <a:t>Packed-memory array for GPU parallelism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Arial"/>
                        </a:rPr>
                        <a:t>Strong specialized baseline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"/>
                        </a:rPr>
                        <a:t>Hornet (2018)</a:t>
                      </a:r>
                    </a:p>
                  </a:txBody>
                  <a:tcPr anchor="ctr" marL="45720" marR="45720" marT="18288" marB="18288">
                    <a:solidFill>
                      <a:srgbClr val="EFF2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Arial"/>
                        </a:rPr>
                        <a:t>Dynamic sparse graph for GPUs</a:t>
                      </a:r>
                    </a:p>
                  </a:txBody>
                  <a:tcPr anchor="ctr" marL="45720" marR="45720" marT="18288" marB="18288">
                    <a:solidFill>
                      <a:srgbClr val="EFF2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Arial"/>
                        </a:rPr>
                        <a:t>Hierarchical rep. + dyn. memory mgmt.</a:t>
                      </a:r>
                    </a:p>
                  </a:txBody>
                  <a:tcPr anchor="ctr" marL="45720" marR="45720" marT="18288" marB="18288">
                    <a:solidFill>
                      <a:srgbClr val="EFF2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Arial"/>
                        </a:rPr>
                        <a:t>Need for specialized structures</a:t>
                      </a:r>
                    </a:p>
                  </a:txBody>
                  <a:tcPr anchor="ctr" marL="45720" marR="45720" marT="18288" marB="18288">
                    <a:solidFill>
                      <a:srgbClr val="EFF2F7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"/>
                        </a:rPr>
                        <a:t>GPMA+ / Lock-Free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Arial"/>
                        </a:rPr>
                        <a:t>Handles highly conflicting updates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Arial"/>
                        </a:rPr>
                        <a:t>Lock-free update strategy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Arial"/>
                        </a:rPr>
                        <a:t>Contention is first-order factor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"/>
                        </a:rPr>
                        <a:t>GTX (2024)</a:t>
                      </a:r>
                    </a:p>
                  </a:txBody>
                  <a:tcPr anchor="ctr" marL="45720" marR="45720" marT="18288" marB="18288">
                    <a:solidFill>
                      <a:srgbClr val="EFF2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Arial"/>
                        </a:rPr>
                        <a:t>Write-optimized + transactional graph (CPU)</a:t>
                      </a:r>
                    </a:p>
                  </a:txBody>
                  <a:tcPr anchor="ctr" marL="45720" marR="45720" marT="18288" marB="18288">
                    <a:solidFill>
                      <a:srgbClr val="EFF2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Arial"/>
                        </a:rPr>
                        <a:t>Adaptive delta-chain locking; no vertex locks; group commit</a:t>
                      </a:r>
                    </a:p>
                  </a:txBody>
                  <a:tcPr anchor="ctr" marL="45720" marR="45720" marT="18288" marB="18288">
                    <a:solidFill>
                      <a:srgbClr val="EFF2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Arial"/>
                        </a:rPr>
                        <a:t>Closest related; motivates exact-edge on GPU</a:t>
                      </a:r>
                    </a:p>
                  </a:txBody>
                  <a:tcPr anchor="ctr" marL="45720" marR="45720" marT="18288" marB="18288">
                    <a:solidFill>
                      <a:srgbClr val="EFF2F7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"/>
                        </a:rPr>
                        <a:t>Survey (2023)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Arial"/>
                        </a:rPr>
                        <a:t>Taxonomy of GPU dynamic graphs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Arial"/>
                        </a:rPr>
                        <a:t>Reps., updates, analytics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Arial"/>
                        </a:rPr>
                        <a:t>Places problem in field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"/>
          <p:cNvSpPr txBox="1"/>
          <p:nvPr/>
        </p:nvSpPr>
        <p:spPr>
          <a:xfrm>
            <a:off x="411480" y="171450"/>
            <a:ext cx="82981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7  —  GAP</a:t>
            </a:r>
            <a:endParaRPr sz="1100"/>
          </a:p>
        </p:txBody>
      </p:sp>
      <p:sp>
        <p:nvSpPr>
          <p:cNvPr id="319" name="Google Shape;319;p32"/>
          <p:cNvSpPr txBox="1"/>
          <p:nvPr/>
        </p:nvSpPr>
        <p:spPr>
          <a:xfrm>
            <a:off x="411480" y="342900"/>
            <a:ext cx="82981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Literature Gap</a:t>
            </a:r>
            <a:endParaRPr sz="1100"/>
          </a:p>
        </p:txBody>
      </p:sp>
      <p:cxnSp>
        <p:nvCxnSpPr>
          <p:cNvPr id="320" name="Google Shape;320;p32"/>
          <p:cNvCxnSpPr/>
          <p:nvPr/>
        </p:nvCxnSpPr>
        <p:spPr>
          <a:xfrm>
            <a:off x="411480" y="857250"/>
            <a:ext cx="8318754" cy="0"/>
          </a:xfrm>
          <a:prstGeom prst="straightConnector1">
            <a:avLst/>
          </a:prstGeom>
          <a:noFill/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21" name="Google Shape;321;p32"/>
          <p:cNvCxnSpPr/>
          <p:nvPr/>
        </p:nvCxnSpPr>
        <p:spPr>
          <a:xfrm>
            <a:off x="411480" y="483489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2" name="Google Shape;322;p32"/>
          <p:cNvSpPr txBox="1"/>
          <p:nvPr/>
        </p:nvSpPr>
        <p:spPr>
          <a:xfrm>
            <a:off x="411480" y="4855464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Factorized GPU Transactions for Concurrent Dynamic Graphs</a:t>
            </a:r>
            <a:endParaRPr sz="1100"/>
          </a:p>
        </p:txBody>
      </p:sp>
      <p:sp>
        <p:nvSpPr>
          <p:cNvPr id="323" name="Google Shape;323;p32"/>
          <p:cNvSpPr txBox="1"/>
          <p:nvPr/>
        </p:nvSpPr>
        <p:spPr>
          <a:xfrm>
            <a:off x="8229600" y="4855464"/>
            <a:ext cx="4800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/>
          </a:p>
        </p:txBody>
      </p:sp>
      <p:cxnSp>
        <p:nvCxnSpPr>
          <p:cNvPr id="324" name="Google Shape;324;p32"/>
          <p:cNvCxnSpPr/>
          <p:nvPr/>
        </p:nvCxnSpPr>
        <p:spPr>
          <a:xfrm>
            <a:off x="412655" y="1117805"/>
            <a:ext cx="831870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5" name="Google Shape;325;p32"/>
          <p:cNvSpPr txBox="1"/>
          <p:nvPr/>
        </p:nvSpPr>
        <p:spPr>
          <a:xfrm>
            <a:off x="548650" y="2100364"/>
            <a:ext cx="8044500" cy="18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 b="0" i="1">
                <a:solidFill>
                  <a:srgbClr val="333333"/>
                </a:solidFill>
                <a:latin typeface="Arial"/>
              </a:rPr>
              <a:t>GPU-STM gives a general transaction abstraction and specialized systems (GPMA/+, Hornet, GTX) optimize storage and locking, yet per-vertex synchronization stays a hotspot under skew: independent edges (A,F) vs (A,G) are needlessly serialized, while true same-edge conflicts and multi-edge atomicity lack exact-edge handling on GPUs. Whether vertex work can be factorized into independent physical allocation, exact logical identity, and single-descriptor commit — with snapshots deferred to sealed epochs — is still uncharacterized.</a:t>
            </a:r>
            <a:endParaRPr i="1" sz="12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8  —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A5F"/>
                </a:solidFill>
                <a:latin typeface="Arial"/>
              </a:rPr>
              <a:t>Three Ideas, Four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8229600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773168"/>
            <a:ext cx="8229600" cy="137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09744"/>
            <a:ext cx="68580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5A5A"/>
                </a:solidFill>
                <a:latin typeface="Arial"/>
              </a:rPr>
              <a:t>Factorized GPU Transactions for Concurrent Dynamic Graphs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572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5A5A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333333"/>
                </a:solidFill>
                <a:latin typeface="Arial"/>
              </a:rPr>
              <a:t>Independent storage, exact identity, atomic visibility — everything else makes these efficient.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81328"/>
            <a:ext cx="2651760" cy="658368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1. Independent physical storage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unique slot per insert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81328"/>
            <a:ext cx="2651760" cy="658368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2. Exact edge, not vertex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same (A,F) → conflict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81328"/>
            <a:ext cx="2651760" cy="658368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3. One descriptor → atomic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PENDING → COMMITTED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67712"/>
            <a:ext cx="399592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3A5F"/>
                </a:solidFill>
                <a:latin typeface="Arial"/>
              </a:rPr>
              <a:t>Q1  Where to put the edge?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Chunk + bump slot — slot = atomicAdd(&amp;fill, 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90872" y="2267712"/>
            <a:ext cx="3995928" cy="932688"/>
          </a:xfrm>
          <a:prstGeom prst="roundRect">
            <a:avLst/>
          </a:prstGeom>
          <a:solidFill>
            <a:srgbClr val="EFF2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3A5F"/>
                </a:solidFill>
                <a:latin typeface="Arial"/>
              </a:rPr>
              <a:t>Q2  Same logical edge?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Directory + Anchor — (A,F)→813, (A,G)→125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10128"/>
            <a:ext cx="399592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3A5F"/>
                </a:solidFill>
                <a:latin typeface="Arial"/>
              </a:rPr>
              <a:t>Q3  When does it become real?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One descriptor CAS — all changes together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0872" y="3310128"/>
            <a:ext cx="3995928" cy="932688"/>
          </a:xfrm>
          <a:prstGeom prst="roundRect">
            <a:avLst/>
          </a:prstGeom>
          <a:solidFill>
            <a:srgbClr val="EFF2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3A5F"/>
                </a:solidFill>
                <a:latin typeface="Arial"/>
              </a:rPr>
              <a:t>Q4  Which history to read?  [planned]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Sealed epochs — versions ≤ 50; CSR for 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52544"/>
            <a:ext cx="8229600" cy="347472"/>
          </a:xfrm>
          <a:prstGeom prst="roundRect">
            <a:avLst/>
          </a:prstGeom>
          <a:solidFill>
            <a:srgbClr val="EFF2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Use graph semantics to know true conflicts; give independent ops independent ownership.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9  — 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A5F"/>
                </a:solidFill>
                <a:latin typeface="Arial"/>
              </a:rPr>
              <a:t>Physical Storage: Chunks + Warps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8229600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773168"/>
            <a:ext cx="8229600" cy="137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09744"/>
            <a:ext cx="68580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5A5A"/>
                </a:solidFill>
                <a:latin typeface="Arial"/>
              </a:rPr>
              <a:t>Factorized GPU Transactions for Concurrent Dynamic Graphs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572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5A5A"/>
                </a:solidFill>
                <a:latin typeface="Arial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333333"/>
                </a:solidFill>
                <a:latin typeface="Arial"/>
              </a:rPr>
              <a:t>Give every insertion its own location; cooperate only to add capacity.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81328"/>
            <a:ext cx="399592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F3A5F"/>
                </a:solidFill>
                <a:latin typeface="Arial"/>
              </a:rPr>
              <a:t>Adjacency chunks  —  32 slots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A → Chunk 812 → 1902 → … in global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slot = atomicAdd(&amp;fill, 1):  T1 → 5,  T2 → 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Owner-only write: slot 5 belongs to T1 alone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One tiny atomic; edge writes stay parallel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481328"/>
            <a:ext cx="3995928" cy="214884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Warp-aggregated extension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•  32 lanes need A → __match_any_sync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•  Leader allocates + links one chunk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•  Broadcast address; lanes reserve slots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•  1034 linked vs ~1000 ideal · 100% uniform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8229600" cy="502920"/>
          </a:xfrm>
          <a:prstGeom prst="roundRect">
            <a:avLst/>
          </a:prstGeom>
          <a:solidFill>
            <a:srgbClr val="EFF2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Chunk = storage (32 slots)  •  Warp = 32 threads cooperating  •  32 is convenience, not identity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10  — 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A5F"/>
                </a:solidFill>
                <a:latin typeface="Arial"/>
              </a:rPr>
              <a:t>Logical Identity + Atomic Commit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8229600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773168"/>
            <a:ext cx="8229600" cy="137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09744"/>
            <a:ext cx="68580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5A5A"/>
                </a:solidFill>
                <a:latin typeface="Arial"/>
              </a:rPr>
              <a:t>Factorized GPU Transactions for Concurrent Dynamic Graphs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572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5A5A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333333"/>
                </a:solidFill>
                <a:latin typeface="Arial"/>
              </a:rPr>
              <a:t>Same vertex ≠ conflict.  Same exact edge = conflict.  Many edges → one visibility event.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81328"/>
            <a:ext cx="399592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F3A5F"/>
                </a:solidFill>
                <a:latin typeface="Arial"/>
              </a:rPr>
              <a:t>Exact Edge Directory + Anchor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hash(A,F) → Anchor 813;  (A,G) → 125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Fingerprint + handle; full-key check decides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Build privately → CAS(EMPTY, candidate)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3A5F"/>
                </a:solidFill>
                <a:latin typeface="Arial"/>
              </a:rPr>
              <a:t>•  (A,F) × 2 → same anchor: true conflict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481328"/>
            <a:ext cx="3995928" cy="214884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Transaction descriptor (Tx42)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•  Prepare invisible intents; PENDING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•  PENDING → COMMITTED in one CAS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•  ABORT is metadata only; GC reclaims later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•  Swap test: no torn pair ever observed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8229600" cy="502920"/>
          </a:xfrm>
          <a:prstGeom prst="roundRect">
            <a:avLst/>
          </a:prstGeom>
          <a:solidFill>
            <a:srgbClr val="EFF2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(A,F), (A,G), (A,H) independent  •  delete(A,B) + insert(A,J) atomic  •  same exact edge → conflict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11  — 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A5F"/>
                </a:solidFill>
                <a:latin typeface="Arial"/>
              </a:rPr>
              <a:t>True Conflicts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8229600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773168"/>
            <a:ext cx="8229600" cy="137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09744"/>
            <a:ext cx="68580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5A5A"/>
                </a:solidFill>
                <a:latin typeface="Arial"/>
              </a:rPr>
              <a:t>Factorized GPU Transactions for Concurrent Dynamic Graphs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572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5A5A"/>
                </a:solidFill>
                <a:latin typeface="Arial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333333"/>
                </a:solidFill>
                <a:latin typeface="Arial"/>
              </a:rPr>
              <a:t>Contend only where graph semantics truly conflict — never wait, never deadlock.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81328"/>
            <a:ext cx="399592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F3A5F"/>
                </a:solidFill>
                <a:latin typeface="Arial"/>
              </a:rPr>
              <a:t>Deterministic wounding (same anchor)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T10 pri 100 beats T20 pri 200 (older wins)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Winner CAS(loser: PENDING → ABORTED)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Loser need not run; keeps birth priority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Younger cannot starve older indefinitely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481328"/>
            <a:ext cx="3995928" cy="214884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Vertex generation validation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•  A alive, gen 7 — transaction records 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•  Delete + recreate → gen 8;  7 ≠ 8 → abort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•  Old txn cannot attach to the new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•  Generation-change detection proven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8229600" cy="502920"/>
          </a:xfrm>
          <a:prstGeom prst="roundRect">
            <a:avLst/>
          </a:prstGeom>
          <a:solidFill>
            <a:srgbClr val="EFF2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Uniform 100%  •  Skewed packing 1034 ≈ 1000 ideal  •  Concurrent swap held atomic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12  — 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A5F"/>
                </a:solidFill>
                <a:latin typeface="Arial"/>
              </a:rPr>
              <a:t>Snapshots and How We Differ  [Planned]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8229600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773168"/>
            <a:ext cx="8229600" cy="137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09744"/>
            <a:ext cx="68580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5A5A"/>
                </a:solidFill>
                <a:latin typeface="Arial"/>
              </a:rPr>
              <a:t>Factorized GPU Transactions for Concurrent Dynamic Graphs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572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5A5A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333333"/>
                </a:solidFill>
                <a:latin typeface="Arial"/>
              </a:rPr>
              <a:t>Built today: clean single records.  Planned: whole-graph snapshots + fast analytics layout.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81328"/>
            <a:ext cx="399592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F3A5F"/>
                </a:solidFill>
                <a:latin typeface="Arial"/>
              </a:rPr>
              <a:t>Sealed epochs + version chains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Epoch 50 open → seal → 51; read ≤ 50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Anchor: DEL@55 → INS@36 → DEL@20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GC below oldest reader; stable slots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No global-timestamp hotspot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690872" y="1481328"/>
          <a:ext cx="3995928" cy="2147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517904"/>
                <a:gridCol w="1517904"/>
              </a:tblGrid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Organization</a:t>
                      </a:r>
                    </a:p>
                  </a:txBody>
                  <a:tcPr anchor="ctr"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Conflict unit</a:t>
                      </a:r>
                    </a:p>
                  </a:txBody>
                  <a:tcPr anchor="ctr" marL="54864" marR="54864" marT="27432" marB="27432">
                    <a:solidFill>
                      <a:srgbClr val="1F3A5F"/>
                    </a:solidFill>
                  </a:tcPr>
                </a:tc>
              </a:tr>
              <a:tr h="57881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GPMA+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Rebalance on update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Region / vertex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57881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GTX</a:t>
                      </a:r>
                    </a:p>
                  </a:txBody>
                  <a:tcPr anchor="ctr" marL="54864" marR="54864" marT="27432" marB="27432">
                    <a:solidFill>
                      <a:srgbClr val="EFF2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Delta-chains (CPU)</a:t>
                      </a:r>
                    </a:p>
                  </a:txBody>
                  <a:tcPr anchor="ctr" marL="54864" marR="54864" marT="27432" marB="27432">
                    <a:solidFill>
                      <a:srgbClr val="EFF2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Chain granularity</a:t>
                      </a:r>
                    </a:p>
                  </a:txBody>
                  <a:tcPr anchor="ctr" marL="54864" marR="54864" marT="27432" marB="27432">
                    <a:solidFill>
                      <a:srgbClr val="EFF2F7"/>
                    </a:solidFill>
                  </a:tcPr>
                </a:tc>
              </a:tr>
              <a:tr h="57881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Ours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Append cheap; CSR later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Exact edge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" y="3749039"/>
            <a:ext cx="8229600" cy="502920"/>
          </a:xfrm>
          <a:prstGeom prst="roundRect">
            <a:avLst/>
          </a:prstGeom>
          <a:solidFill>
            <a:srgbClr val="EFF2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Live graph  →  snapshot Epoch 100 → CSR_100 → BFS / PageRank  •  writers continue live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13  —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A5F"/>
                </a:solidFill>
                <a:latin typeface="Arial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8229600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773168"/>
            <a:ext cx="8229600" cy="137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09744"/>
            <a:ext cx="68580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5A5A"/>
                </a:solidFill>
                <a:latin typeface="Arial"/>
              </a:rPr>
              <a:t>Factorized GPU Transactions for Concurrent Dynamic Graphs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572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5A5A"/>
                </a:solidFill>
                <a:latin typeface="Arial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78992"/>
            <a:ext cx="822960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9144" bIns="914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333333"/>
                </a:solidFill>
                <a:latin typeface="Arial"/>
              </a:rPr>
              <a:t>Conflicts come from graph semantics — not from threads touching the same memory.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72768"/>
            <a:ext cx="2651760" cy="205740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Built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•  Chunks + bump slots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•  Warp aggregation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•  Directory + anchors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•  Descriptors + wound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•  Generation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572768"/>
            <a:ext cx="26517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F3A5F"/>
                </a:solidFill>
                <a:latin typeface="Arial"/>
              </a:rPr>
              <a:t>Measured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100% uniform inserts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1034 vs ~1000 ideal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Swap held atomic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Gen-change aborts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Exact-edge split proven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572768"/>
            <a:ext cx="2651760" cy="2057400"/>
          </a:xfrm>
          <a:prstGeom prst="roundRect">
            <a:avLst/>
          </a:prstGeom>
          <a:solidFill>
            <a:srgbClr val="EFF2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F3A5F"/>
                </a:solidFill>
                <a:latin typeface="Arial"/>
              </a:rPr>
              <a:t>Next  [roadmap]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Sealed epochs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Version chains + GC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Stable slots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CSR snapshots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•  Full isolation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