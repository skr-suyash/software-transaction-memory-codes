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2BF6F4-9913-4CAA-A3A7-F83A76B423C0}">
  <a:tblStyle styleId="{362BF6F4-9913-4CAA-A3A7-F83A76B423C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409d8601990_2_7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g409d8601990_2_7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409d8601990_2_7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409d8601990_2_1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g409d8601990_2_1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409d8601990_2_1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409d8601990_2_15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g409d8601990_2_15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409d8601990_2_15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409d8601990_2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409d8601990_2_18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409d8601990_2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409d8601990_2_2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409d8601990_2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409d8601990_2_2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409d8601990_2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409d8601990_2_2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409d8601990_2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409d8601990_2_28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409d8601990_2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409d8601990_2_30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409d8601990_2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g409d8601990_2_3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50" y="1597819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00" y="2914650"/>
            <a:ext cx="48006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35" y="3305175"/>
            <a:ext cx="58293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15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0" y="204788"/>
            <a:ext cx="225623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0" y="1076325"/>
            <a:ext cx="225623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764" y="-188714"/>
            <a:ext cx="3394472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253" y="1628775"/>
            <a:ext cx="4388644" cy="154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03" y="142875"/>
            <a:ext cx="4388644" cy="4514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880"/>
              <a:t>Evaluating General-Purpose GPU Software Transactional Memory for Concurrent Dynamic Graph Updates </a:t>
            </a:r>
            <a:endParaRPr sz="3880"/>
          </a:p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311700" y="2834125"/>
            <a:ext cx="8520600" cy="17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Group - Suyash Kumar, Aryan Pandey, Vivek G Nair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Department - IT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Indian Institute of Information Technology, Allahabad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/>
        </p:nvSpPr>
        <p:spPr>
          <a:xfrm>
            <a:off x="411480" y="171450"/>
            <a:ext cx="82981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1  —  INTRODUCTION</a:t>
            </a:r>
            <a:endParaRPr sz="1100"/>
          </a:p>
        </p:txBody>
      </p:sp>
      <p:sp>
        <p:nvSpPr>
          <p:cNvPr id="137" name="Google Shape;137;p26"/>
          <p:cNvSpPr txBox="1"/>
          <p:nvPr/>
        </p:nvSpPr>
        <p:spPr>
          <a:xfrm>
            <a:off x="411480" y="342900"/>
            <a:ext cx="829818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What is a Dynamic Graph?</a:t>
            </a:r>
            <a:endParaRPr sz="1100"/>
          </a:p>
        </p:txBody>
      </p:sp>
      <p:cxnSp>
        <p:nvCxnSpPr>
          <p:cNvPr id="138" name="Google Shape;138;p26"/>
          <p:cNvCxnSpPr/>
          <p:nvPr/>
        </p:nvCxnSpPr>
        <p:spPr>
          <a:xfrm>
            <a:off x="411480" y="857250"/>
            <a:ext cx="8318754" cy="0"/>
          </a:xfrm>
          <a:prstGeom prst="straightConnector1">
            <a:avLst/>
          </a:prstGeom>
          <a:noFill/>
          <a:ln cap="flat" cmpd="sng" w="1905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39" name="Google Shape;139;p26"/>
          <p:cNvCxnSpPr/>
          <p:nvPr/>
        </p:nvCxnSpPr>
        <p:spPr>
          <a:xfrm>
            <a:off x="411480" y="4834890"/>
            <a:ext cx="831875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40" name="Google Shape;140;p26"/>
          <p:cNvSpPr txBox="1"/>
          <p:nvPr/>
        </p:nvSpPr>
        <p:spPr>
          <a:xfrm>
            <a:off x="411480" y="4855464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General-Purpose STM for Concurrent Dynamic Graph Updates on GPUs</a:t>
            </a:r>
            <a:endParaRPr sz="1100"/>
          </a:p>
        </p:txBody>
      </p:sp>
      <p:sp>
        <p:nvSpPr>
          <p:cNvPr id="141" name="Google Shape;141;p26"/>
          <p:cNvSpPr txBox="1"/>
          <p:nvPr/>
        </p:nvSpPr>
        <p:spPr>
          <a:xfrm>
            <a:off x="8229600" y="4855464"/>
            <a:ext cx="4800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/>
          </a:p>
        </p:txBody>
      </p:sp>
      <p:sp>
        <p:nvSpPr>
          <p:cNvPr id="142" name="Google Shape;142;p26"/>
          <p:cNvSpPr txBox="1"/>
          <p:nvPr/>
        </p:nvSpPr>
        <p:spPr>
          <a:xfrm>
            <a:off x="411480" y="994410"/>
            <a:ext cx="8318754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 dynamic graph G(t) = (V(t), E(t)) is a graph whose vertex and edge sets change over time through insertions and deletions.</a:t>
            </a:r>
            <a:endParaRPr sz="1100"/>
          </a:p>
        </p:txBody>
      </p:sp>
      <p:sp>
        <p:nvSpPr>
          <p:cNvPr id="143" name="Google Shape;143;p26"/>
          <p:cNvSpPr txBox="1"/>
          <p:nvPr/>
        </p:nvSpPr>
        <p:spPr>
          <a:xfrm>
            <a:off x="411480" y="1440180"/>
            <a:ext cx="246888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Static graph — fixed structure</a:t>
            </a:r>
            <a:endParaRPr sz="1100"/>
          </a:p>
        </p:txBody>
      </p:sp>
      <p:cxnSp>
        <p:nvCxnSpPr>
          <p:cNvPr id="144" name="Google Shape;144;p26"/>
          <p:cNvCxnSpPr/>
          <p:nvPr/>
        </p:nvCxnSpPr>
        <p:spPr>
          <a:xfrm flipH="1" rot="10800000">
            <a:off x="1028700" y="1954529"/>
            <a:ext cx="651509" cy="137161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5" name="Google Shape;145;p26"/>
          <p:cNvCxnSpPr/>
          <p:nvPr/>
        </p:nvCxnSpPr>
        <p:spPr>
          <a:xfrm>
            <a:off x="1680209" y="1954529"/>
            <a:ext cx="411481" cy="480061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6" name="Google Shape;146;p26"/>
          <p:cNvCxnSpPr/>
          <p:nvPr/>
        </p:nvCxnSpPr>
        <p:spPr>
          <a:xfrm>
            <a:off x="1028700" y="2091690"/>
            <a:ext cx="1062990" cy="342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7" name="Google Shape;147;p26"/>
          <p:cNvCxnSpPr/>
          <p:nvPr/>
        </p:nvCxnSpPr>
        <p:spPr>
          <a:xfrm>
            <a:off x="1028700" y="2091690"/>
            <a:ext cx="240030" cy="75438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48" name="Google Shape;148;p26"/>
          <p:cNvSpPr/>
          <p:nvPr/>
        </p:nvSpPr>
        <p:spPr>
          <a:xfrm>
            <a:off x="822960" y="1885950"/>
            <a:ext cx="411480" cy="41148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100"/>
          </a:p>
        </p:txBody>
      </p:sp>
      <p:sp>
        <p:nvSpPr>
          <p:cNvPr id="149" name="Google Shape;149;p26"/>
          <p:cNvSpPr/>
          <p:nvPr/>
        </p:nvSpPr>
        <p:spPr>
          <a:xfrm>
            <a:off x="1474470" y="1748790"/>
            <a:ext cx="411480" cy="41148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100"/>
          </a:p>
        </p:txBody>
      </p:sp>
      <p:sp>
        <p:nvSpPr>
          <p:cNvPr id="150" name="Google Shape;150;p26"/>
          <p:cNvSpPr/>
          <p:nvPr/>
        </p:nvSpPr>
        <p:spPr>
          <a:xfrm>
            <a:off x="1885950" y="2228850"/>
            <a:ext cx="411480" cy="41148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100"/>
          </a:p>
        </p:txBody>
      </p:sp>
      <p:sp>
        <p:nvSpPr>
          <p:cNvPr id="151" name="Google Shape;151;p26"/>
          <p:cNvSpPr/>
          <p:nvPr/>
        </p:nvSpPr>
        <p:spPr>
          <a:xfrm>
            <a:off x="1062990" y="2640330"/>
            <a:ext cx="411480" cy="41148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100"/>
          </a:p>
        </p:txBody>
      </p:sp>
      <p:sp>
        <p:nvSpPr>
          <p:cNvPr id="152" name="Google Shape;152;p26"/>
          <p:cNvSpPr txBox="1"/>
          <p:nvPr/>
        </p:nvSpPr>
        <p:spPr>
          <a:xfrm>
            <a:off x="411480" y="3154680"/>
            <a:ext cx="24688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Built once, then analysed.</a:t>
            </a:r>
            <a:endParaRPr sz="1100"/>
          </a:p>
        </p:txBody>
      </p:sp>
      <p:cxnSp>
        <p:nvCxnSpPr>
          <p:cNvPr id="153" name="Google Shape;153;p26"/>
          <p:cNvCxnSpPr/>
          <p:nvPr/>
        </p:nvCxnSpPr>
        <p:spPr>
          <a:xfrm>
            <a:off x="3086100" y="1440180"/>
            <a:ext cx="0" cy="198882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4" name="Google Shape;154;p26"/>
          <p:cNvSpPr txBox="1"/>
          <p:nvPr/>
        </p:nvSpPr>
        <p:spPr>
          <a:xfrm>
            <a:off x="3360420" y="1440180"/>
            <a:ext cx="28803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Dynamic graph — evolving structure</a:t>
            </a:r>
            <a:endParaRPr sz="1100"/>
          </a:p>
        </p:txBody>
      </p:sp>
      <p:sp>
        <p:nvSpPr>
          <p:cNvPr id="155" name="Google Shape;155;p26"/>
          <p:cNvSpPr txBox="1"/>
          <p:nvPr/>
        </p:nvSpPr>
        <p:spPr>
          <a:xfrm>
            <a:off x="3360420" y="1748790"/>
            <a:ext cx="11658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 sz="1100"/>
          </a:p>
        </p:txBody>
      </p:sp>
      <p:cxnSp>
        <p:nvCxnSpPr>
          <p:cNvPr id="156" name="Google Shape;156;p26"/>
          <p:cNvCxnSpPr/>
          <p:nvPr/>
        </p:nvCxnSpPr>
        <p:spPr>
          <a:xfrm flipH="1" rot="10800000">
            <a:off x="3710178" y="2098547"/>
            <a:ext cx="445770" cy="102871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57" name="Google Shape;157;p26"/>
          <p:cNvCxnSpPr/>
          <p:nvPr/>
        </p:nvCxnSpPr>
        <p:spPr>
          <a:xfrm>
            <a:off x="4155948" y="2098547"/>
            <a:ext cx="240030" cy="377191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58" name="Google Shape;158;p26"/>
          <p:cNvCxnSpPr/>
          <p:nvPr/>
        </p:nvCxnSpPr>
        <p:spPr>
          <a:xfrm>
            <a:off x="3710178" y="2201418"/>
            <a:ext cx="685800" cy="27432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59" name="Google Shape;159;p26"/>
          <p:cNvCxnSpPr/>
          <p:nvPr/>
        </p:nvCxnSpPr>
        <p:spPr>
          <a:xfrm>
            <a:off x="3710178" y="2201418"/>
            <a:ext cx="102870" cy="582929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60" name="Google Shape;160;p26"/>
          <p:cNvSpPr/>
          <p:nvPr/>
        </p:nvSpPr>
        <p:spPr>
          <a:xfrm>
            <a:off x="3531870" y="2023110"/>
            <a:ext cx="356616" cy="356616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100"/>
          </a:p>
        </p:txBody>
      </p:sp>
      <p:sp>
        <p:nvSpPr>
          <p:cNvPr id="161" name="Google Shape;161;p26"/>
          <p:cNvSpPr/>
          <p:nvPr/>
        </p:nvSpPr>
        <p:spPr>
          <a:xfrm>
            <a:off x="3977640" y="1920240"/>
            <a:ext cx="356616" cy="356616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100"/>
          </a:p>
        </p:txBody>
      </p:sp>
      <p:sp>
        <p:nvSpPr>
          <p:cNvPr id="162" name="Google Shape;162;p26"/>
          <p:cNvSpPr/>
          <p:nvPr/>
        </p:nvSpPr>
        <p:spPr>
          <a:xfrm>
            <a:off x="4217670" y="2297430"/>
            <a:ext cx="356616" cy="356616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100"/>
          </a:p>
        </p:txBody>
      </p:sp>
      <p:sp>
        <p:nvSpPr>
          <p:cNvPr id="163" name="Google Shape;163;p26"/>
          <p:cNvSpPr/>
          <p:nvPr/>
        </p:nvSpPr>
        <p:spPr>
          <a:xfrm>
            <a:off x="3634740" y="2606040"/>
            <a:ext cx="356616" cy="356616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100"/>
          </a:p>
        </p:txBody>
      </p:sp>
      <p:sp>
        <p:nvSpPr>
          <p:cNvPr id="164" name="Google Shape;164;p26"/>
          <p:cNvSpPr txBox="1"/>
          <p:nvPr/>
        </p:nvSpPr>
        <p:spPr>
          <a:xfrm>
            <a:off x="4697730" y="2228850"/>
            <a:ext cx="4800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100"/>
          </a:p>
        </p:txBody>
      </p:sp>
      <p:sp>
        <p:nvSpPr>
          <p:cNvPr id="165" name="Google Shape;165;p26"/>
          <p:cNvSpPr txBox="1"/>
          <p:nvPr/>
        </p:nvSpPr>
        <p:spPr>
          <a:xfrm>
            <a:off x="4560570" y="2468880"/>
            <a:ext cx="7543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(A, E)</a:t>
            </a:r>
            <a:endParaRPr sz="1100"/>
          </a:p>
        </p:txBody>
      </p:sp>
      <p:sp>
        <p:nvSpPr>
          <p:cNvPr id="166" name="Google Shape;166;p26"/>
          <p:cNvSpPr txBox="1"/>
          <p:nvPr/>
        </p:nvSpPr>
        <p:spPr>
          <a:xfrm>
            <a:off x="5280660" y="1748790"/>
            <a:ext cx="13030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endParaRPr sz="1100"/>
          </a:p>
        </p:txBody>
      </p:sp>
      <p:cxnSp>
        <p:nvCxnSpPr>
          <p:cNvPr id="167" name="Google Shape;167;p26"/>
          <p:cNvCxnSpPr/>
          <p:nvPr/>
        </p:nvCxnSpPr>
        <p:spPr>
          <a:xfrm flipH="1" rot="10800000">
            <a:off x="5630418" y="2098547"/>
            <a:ext cx="445769" cy="102871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68" name="Google Shape;168;p26"/>
          <p:cNvCxnSpPr/>
          <p:nvPr/>
        </p:nvCxnSpPr>
        <p:spPr>
          <a:xfrm>
            <a:off x="6076187" y="2098547"/>
            <a:ext cx="240031" cy="377191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69" name="Google Shape;169;p26"/>
          <p:cNvCxnSpPr/>
          <p:nvPr/>
        </p:nvCxnSpPr>
        <p:spPr>
          <a:xfrm>
            <a:off x="5630418" y="2201418"/>
            <a:ext cx="685800" cy="27432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70" name="Google Shape;170;p26"/>
          <p:cNvCxnSpPr/>
          <p:nvPr/>
        </p:nvCxnSpPr>
        <p:spPr>
          <a:xfrm>
            <a:off x="5630418" y="2201418"/>
            <a:ext cx="68580" cy="582929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71" name="Google Shape;171;p26"/>
          <p:cNvCxnSpPr/>
          <p:nvPr/>
        </p:nvCxnSpPr>
        <p:spPr>
          <a:xfrm>
            <a:off x="5630418" y="2201418"/>
            <a:ext cx="822960" cy="617220"/>
          </a:xfrm>
          <a:prstGeom prst="straightConnector1">
            <a:avLst/>
          </a:prstGeom>
          <a:noFill/>
          <a:ln cap="flat" cmpd="sng" w="222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72" name="Google Shape;172;p26"/>
          <p:cNvSpPr/>
          <p:nvPr/>
        </p:nvSpPr>
        <p:spPr>
          <a:xfrm>
            <a:off x="5452110" y="2023110"/>
            <a:ext cx="356616" cy="356616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100"/>
          </a:p>
        </p:txBody>
      </p:sp>
      <p:sp>
        <p:nvSpPr>
          <p:cNvPr id="173" name="Google Shape;173;p26"/>
          <p:cNvSpPr/>
          <p:nvPr/>
        </p:nvSpPr>
        <p:spPr>
          <a:xfrm>
            <a:off x="5897880" y="1920240"/>
            <a:ext cx="356616" cy="356616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100"/>
          </a:p>
        </p:txBody>
      </p:sp>
      <p:sp>
        <p:nvSpPr>
          <p:cNvPr id="174" name="Google Shape;174;p26"/>
          <p:cNvSpPr/>
          <p:nvPr/>
        </p:nvSpPr>
        <p:spPr>
          <a:xfrm>
            <a:off x="6137909" y="2297430"/>
            <a:ext cx="356616" cy="356616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100"/>
          </a:p>
        </p:txBody>
      </p:sp>
      <p:sp>
        <p:nvSpPr>
          <p:cNvPr id="175" name="Google Shape;175;p26"/>
          <p:cNvSpPr/>
          <p:nvPr/>
        </p:nvSpPr>
        <p:spPr>
          <a:xfrm>
            <a:off x="5520690" y="2606040"/>
            <a:ext cx="356616" cy="356616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100"/>
          </a:p>
        </p:txBody>
      </p:sp>
      <p:sp>
        <p:nvSpPr>
          <p:cNvPr id="176" name="Google Shape;176;p26"/>
          <p:cNvSpPr/>
          <p:nvPr/>
        </p:nvSpPr>
        <p:spPr>
          <a:xfrm>
            <a:off x="6275070" y="2640330"/>
            <a:ext cx="356616" cy="356616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1100"/>
          </a:p>
        </p:txBody>
      </p:sp>
      <p:sp>
        <p:nvSpPr>
          <p:cNvPr id="177" name="Google Shape;177;p26"/>
          <p:cNvSpPr txBox="1"/>
          <p:nvPr/>
        </p:nvSpPr>
        <p:spPr>
          <a:xfrm>
            <a:off x="3360420" y="3154680"/>
            <a:ext cx="32232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Edge (A, E) inserted; deletions analogous.</a:t>
            </a:r>
            <a:endParaRPr sz="1100"/>
          </a:p>
        </p:txBody>
      </p:sp>
      <p:cxnSp>
        <p:nvCxnSpPr>
          <p:cNvPr id="178" name="Google Shape;178;p26"/>
          <p:cNvCxnSpPr/>
          <p:nvPr/>
        </p:nvCxnSpPr>
        <p:spPr>
          <a:xfrm>
            <a:off x="6789420" y="1440180"/>
            <a:ext cx="0" cy="198882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79" name="Google Shape;179;p26"/>
          <p:cNvSpPr txBox="1"/>
          <p:nvPr/>
        </p:nvSpPr>
        <p:spPr>
          <a:xfrm>
            <a:off x="6995160" y="1440180"/>
            <a:ext cx="17145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Typical examples</a:t>
            </a:r>
            <a:endParaRPr sz="1100"/>
          </a:p>
        </p:txBody>
      </p:sp>
      <p:sp>
        <p:nvSpPr>
          <p:cNvPr id="180" name="Google Shape;180;p26"/>
          <p:cNvSpPr txBox="1"/>
          <p:nvPr/>
        </p:nvSpPr>
        <p:spPr>
          <a:xfrm>
            <a:off x="6995160" y="1783080"/>
            <a:ext cx="17145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Social networks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Road networks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Communication networks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Recommendation graphs</a:t>
            </a:r>
            <a:endParaRPr sz="1100"/>
          </a:p>
        </p:txBody>
      </p:sp>
      <p:sp>
        <p:nvSpPr>
          <p:cNvPr id="181" name="Google Shape;181;p26"/>
          <p:cNvSpPr txBox="1"/>
          <p:nvPr/>
        </p:nvSpPr>
        <p:spPr>
          <a:xfrm>
            <a:off x="411480" y="3771900"/>
            <a:ext cx="8318754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idea:  unlike static analysis, the graph is updated continuously as new data arrives, e.g. new friendships formed or roads closed.</a:t>
            </a:r>
            <a:endParaRPr sz="1100"/>
          </a:p>
        </p:txBody>
      </p:sp>
      <p:cxnSp>
        <p:nvCxnSpPr>
          <p:cNvPr id="182" name="Google Shape;182;p26"/>
          <p:cNvCxnSpPr/>
          <p:nvPr/>
        </p:nvCxnSpPr>
        <p:spPr>
          <a:xfrm>
            <a:off x="411480" y="3669030"/>
            <a:ext cx="831875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 txBox="1"/>
          <p:nvPr/>
        </p:nvSpPr>
        <p:spPr>
          <a:xfrm>
            <a:off x="411480" y="171450"/>
            <a:ext cx="82981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2  —  PROBLEM</a:t>
            </a:r>
            <a:endParaRPr sz="1100"/>
          </a:p>
        </p:txBody>
      </p:sp>
      <p:sp>
        <p:nvSpPr>
          <p:cNvPr id="189" name="Google Shape;189;p27"/>
          <p:cNvSpPr txBox="1"/>
          <p:nvPr/>
        </p:nvSpPr>
        <p:spPr>
          <a:xfrm>
            <a:off x="411480" y="342900"/>
            <a:ext cx="8298180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Why concurrent updates are a problem?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27"/>
          <p:cNvCxnSpPr/>
          <p:nvPr/>
        </p:nvCxnSpPr>
        <p:spPr>
          <a:xfrm>
            <a:off x="411480" y="857250"/>
            <a:ext cx="8318754" cy="0"/>
          </a:xfrm>
          <a:prstGeom prst="straightConnector1">
            <a:avLst/>
          </a:prstGeom>
          <a:noFill/>
          <a:ln cap="flat" cmpd="sng" w="1905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91" name="Google Shape;191;p27"/>
          <p:cNvCxnSpPr/>
          <p:nvPr/>
        </p:nvCxnSpPr>
        <p:spPr>
          <a:xfrm>
            <a:off x="411480" y="4834890"/>
            <a:ext cx="831875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2" name="Google Shape;192;p27"/>
          <p:cNvSpPr txBox="1"/>
          <p:nvPr/>
        </p:nvSpPr>
        <p:spPr>
          <a:xfrm>
            <a:off x="411480" y="4855464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General-Purpose STM for Concurrent Dynamic Graph Updates on GPUs</a:t>
            </a:r>
            <a:endParaRPr sz="1100"/>
          </a:p>
        </p:txBody>
      </p:sp>
      <p:sp>
        <p:nvSpPr>
          <p:cNvPr id="193" name="Google Shape;193;p27"/>
          <p:cNvSpPr txBox="1"/>
          <p:nvPr/>
        </p:nvSpPr>
        <p:spPr>
          <a:xfrm>
            <a:off x="8229600" y="4855464"/>
            <a:ext cx="4800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/>
          </a:p>
        </p:txBody>
      </p:sp>
      <p:sp>
        <p:nvSpPr>
          <p:cNvPr id="194" name="Google Shape;194;p27"/>
          <p:cNvSpPr txBox="1"/>
          <p:nvPr/>
        </p:nvSpPr>
        <p:spPr>
          <a:xfrm>
            <a:off x="411480" y="994410"/>
            <a:ext cx="8318754" cy="2192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Consider multiple threads applying updates concurrently, many targeting the same vertex.</a:t>
            </a:r>
            <a:endParaRPr sz="1100"/>
          </a:p>
        </p:txBody>
      </p:sp>
      <p:sp>
        <p:nvSpPr>
          <p:cNvPr id="195" name="Google Shape;195;p27"/>
          <p:cNvSpPr txBox="1"/>
          <p:nvPr/>
        </p:nvSpPr>
        <p:spPr>
          <a:xfrm>
            <a:off x="1192530" y="1430870"/>
            <a:ext cx="26060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Concurrent updates to vertex A</a:t>
            </a:r>
            <a:endParaRPr sz="1100"/>
          </a:p>
        </p:txBody>
      </p:sp>
      <p:sp>
        <p:nvSpPr>
          <p:cNvPr id="196" name="Google Shape;196;p27"/>
          <p:cNvSpPr txBox="1"/>
          <p:nvPr/>
        </p:nvSpPr>
        <p:spPr>
          <a:xfrm>
            <a:off x="1192530" y="1739481"/>
            <a:ext cx="22631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T1: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Insert (A, E)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T2: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Delete (A, B)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T3: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Insert (A, F)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T4: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Insert (A, G)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T5: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Delete (A, C)  ...</a:t>
            </a:r>
            <a:endParaRPr sz="1100"/>
          </a:p>
        </p:txBody>
      </p:sp>
      <p:sp>
        <p:nvSpPr>
          <p:cNvPr id="197" name="Google Shape;197;p27"/>
          <p:cNvSpPr/>
          <p:nvPr/>
        </p:nvSpPr>
        <p:spPr>
          <a:xfrm>
            <a:off x="3592829" y="2013801"/>
            <a:ext cx="1165860" cy="7543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Vertex A</a:t>
            </a:r>
            <a:br>
              <a:rPr b="1" i="0" lang="en" sz="9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9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adjacency</a:t>
            </a:r>
            <a:endParaRPr sz="1100"/>
          </a:p>
        </p:txBody>
      </p:sp>
      <p:cxnSp>
        <p:nvCxnSpPr>
          <p:cNvPr id="198" name="Google Shape;198;p27"/>
          <p:cNvCxnSpPr/>
          <p:nvPr/>
        </p:nvCxnSpPr>
        <p:spPr>
          <a:xfrm>
            <a:off x="3455670" y="1842351"/>
            <a:ext cx="137159" cy="548640"/>
          </a:xfrm>
          <a:prstGeom prst="straightConnector1">
            <a:avLst/>
          </a:prstGeom>
          <a:noFill/>
          <a:ln cap="flat" cmpd="sng" w="12700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99" name="Google Shape;199;p27"/>
          <p:cNvCxnSpPr/>
          <p:nvPr/>
        </p:nvCxnSpPr>
        <p:spPr>
          <a:xfrm>
            <a:off x="3455670" y="2116671"/>
            <a:ext cx="137159" cy="274320"/>
          </a:xfrm>
          <a:prstGeom prst="straightConnector1">
            <a:avLst/>
          </a:prstGeom>
          <a:noFill/>
          <a:ln cap="flat" cmpd="sng" w="12700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00" name="Google Shape;200;p27"/>
          <p:cNvCxnSpPr/>
          <p:nvPr/>
        </p:nvCxnSpPr>
        <p:spPr>
          <a:xfrm>
            <a:off x="3455670" y="2356701"/>
            <a:ext cx="137159" cy="34290"/>
          </a:xfrm>
          <a:prstGeom prst="straightConnector1">
            <a:avLst/>
          </a:prstGeom>
          <a:noFill/>
          <a:ln cap="flat" cmpd="sng" w="12700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01" name="Google Shape;201;p27"/>
          <p:cNvCxnSpPr/>
          <p:nvPr/>
        </p:nvCxnSpPr>
        <p:spPr>
          <a:xfrm flipH="1" rot="10800000">
            <a:off x="3455670" y="2390991"/>
            <a:ext cx="137159" cy="205740"/>
          </a:xfrm>
          <a:prstGeom prst="straightConnector1">
            <a:avLst/>
          </a:prstGeom>
          <a:noFill/>
          <a:ln cap="flat" cmpd="sng" w="12700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02" name="Google Shape;202;p27"/>
          <p:cNvCxnSpPr/>
          <p:nvPr/>
        </p:nvCxnSpPr>
        <p:spPr>
          <a:xfrm flipH="1" rot="10800000">
            <a:off x="3455670" y="2390991"/>
            <a:ext cx="137159" cy="445769"/>
          </a:xfrm>
          <a:prstGeom prst="straightConnector1">
            <a:avLst/>
          </a:prstGeom>
          <a:noFill/>
          <a:ln cap="flat" cmpd="sng" w="12700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3" name="Google Shape;203;p27"/>
          <p:cNvSpPr txBox="1"/>
          <p:nvPr/>
        </p:nvSpPr>
        <p:spPr>
          <a:xfrm>
            <a:off x="3524250" y="2871051"/>
            <a:ext cx="13030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shared adjacency structure</a:t>
            </a:r>
            <a:endParaRPr sz="1100"/>
          </a:p>
        </p:txBody>
      </p:sp>
      <p:cxnSp>
        <p:nvCxnSpPr>
          <p:cNvPr id="204" name="Google Shape;204;p27"/>
          <p:cNvCxnSpPr/>
          <p:nvPr/>
        </p:nvCxnSpPr>
        <p:spPr>
          <a:xfrm>
            <a:off x="4998720" y="1430870"/>
            <a:ext cx="0" cy="2023111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5" name="Google Shape;205;p27"/>
          <p:cNvSpPr txBox="1"/>
          <p:nvPr/>
        </p:nvSpPr>
        <p:spPr>
          <a:xfrm>
            <a:off x="5238750" y="1430870"/>
            <a:ext cx="20574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Without synchronisation</a:t>
            </a:r>
            <a:endParaRPr sz="1100"/>
          </a:p>
        </p:txBody>
      </p:sp>
      <p:sp>
        <p:nvSpPr>
          <p:cNvPr id="206" name="Google Shape;206;p27"/>
          <p:cNvSpPr txBox="1"/>
          <p:nvPr/>
        </p:nvSpPr>
        <p:spPr>
          <a:xfrm>
            <a:off x="5238750" y="1739481"/>
            <a:ext cx="2057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Race conditions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concurrent modification of shared state.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Lost updates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one update overwrites another.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Inconsistent state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result does not reflect requested updates.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Corruption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structural invariants violated.</a:t>
            </a:r>
            <a:endParaRPr sz="1100"/>
          </a:p>
        </p:txBody>
      </p:sp>
      <p:cxnSp>
        <p:nvCxnSpPr>
          <p:cNvPr id="207" name="Google Shape;207;p27"/>
          <p:cNvCxnSpPr/>
          <p:nvPr/>
        </p:nvCxnSpPr>
        <p:spPr>
          <a:xfrm>
            <a:off x="411480" y="3634740"/>
            <a:ext cx="831875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8" name="Google Shape;208;p27"/>
          <p:cNvSpPr txBox="1"/>
          <p:nvPr/>
        </p:nvSpPr>
        <p:spPr>
          <a:xfrm>
            <a:off x="411480" y="3771900"/>
            <a:ext cx="8318754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Research question</a:t>
            </a:r>
            <a:endParaRPr sz="1100"/>
          </a:p>
        </p:txBody>
      </p:sp>
      <p:sp>
        <p:nvSpPr>
          <p:cNvPr id="209" name="Google Shape;209;p27"/>
          <p:cNvSpPr txBox="1"/>
          <p:nvPr/>
        </p:nvSpPr>
        <p:spPr>
          <a:xfrm>
            <a:off x="1028700" y="4011930"/>
            <a:ext cx="708431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How can thousands of GPU threads update a shared dynamic graph concurrently while preserving correctness and performance?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8"/>
          <p:cNvSpPr txBox="1"/>
          <p:nvPr/>
        </p:nvSpPr>
        <p:spPr>
          <a:xfrm>
            <a:off x="411480" y="171450"/>
            <a:ext cx="82981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3  —  MOTIVATION</a:t>
            </a:r>
            <a:endParaRPr sz="1100"/>
          </a:p>
        </p:txBody>
      </p:sp>
      <p:sp>
        <p:nvSpPr>
          <p:cNvPr id="216" name="Google Shape;216;p28"/>
          <p:cNvSpPr txBox="1"/>
          <p:nvPr/>
        </p:nvSpPr>
        <p:spPr>
          <a:xfrm>
            <a:off x="411480" y="342900"/>
            <a:ext cx="829818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Why Do We Need a Synchronization Abstraction?</a:t>
            </a:r>
            <a:endParaRPr sz="1100"/>
          </a:p>
        </p:txBody>
      </p:sp>
      <p:cxnSp>
        <p:nvCxnSpPr>
          <p:cNvPr id="217" name="Google Shape;217;p28"/>
          <p:cNvCxnSpPr/>
          <p:nvPr/>
        </p:nvCxnSpPr>
        <p:spPr>
          <a:xfrm>
            <a:off x="411480" y="857250"/>
            <a:ext cx="8318754" cy="0"/>
          </a:xfrm>
          <a:prstGeom prst="straightConnector1">
            <a:avLst/>
          </a:prstGeom>
          <a:noFill/>
          <a:ln cap="flat" cmpd="sng" w="1905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18" name="Google Shape;218;p28"/>
          <p:cNvCxnSpPr/>
          <p:nvPr/>
        </p:nvCxnSpPr>
        <p:spPr>
          <a:xfrm>
            <a:off x="411480" y="4834890"/>
            <a:ext cx="831875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19" name="Google Shape;219;p28"/>
          <p:cNvSpPr txBox="1"/>
          <p:nvPr/>
        </p:nvSpPr>
        <p:spPr>
          <a:xfrm>
            <a:off x="411480" y="4855464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General-Purpose STM for Concurrent Dynamic GraphUpdates on GPUs</a:t>
            </a:r>
            <a:endParaRPr sz="1100"/>
          </a:p>
        </p:txBody>
      </p:sp>
      <p:sp>
        <p:nvSpPr>
          <p:cNvPr id="220" name="Google Shape;220;p28"/>
          <p:cNvSpPr txBox="1"/>
          <p:nvPr/>
        </p:nvSpPr>
        <p:spPr>
          <a:xfrm>
            <a:off x="8229600" y="4855464"/>
            <a:ext cx="4800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/>
          </a:p>
        </p:txBody>
      </p:sp>
      <p:sp>
        <p:nvSpPr>
          <p:cNvPr id="221" name="Google Shape;221;p28"/>
          <p:cNvSpPr txBox="1"/>
          <p:nvPr/>
        </p:nvSpPr>
        <p:spPr>
          <a:xfrm>
            <a:off x="411480" y="994410"/>
            <a:ext cx="8318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Manual GPU synchronization with locks, atomics, and CAS is complex and error-prone. (Write complex </a:t>
            </a:r>
            <a:r>
              <a:rPr i="1" lang="en" sz="1000">
                <a:solidFill>
                  <a:srgbClr val="333333"/>
                </a:solidFill>
              </a:rPr>
              <a:t>synchronization code)</a:t>
            </a:r>
            <a:endParaRPr sz="1100"/>
          </a:p>
        </p:txBody>
      </p:sp>
      <p:sp>
        <p:nvSpPr>
          <p:cNvPr id="222" name="Google Shape;222;p28"/>
          <p:cNvSpPr txBox="1"/>
          <p:nvPr/>
        </p:nvSpPr>
        <p:spPr>
          <a:xfrm>
            <a:off x="3086100" y="1317563"/>
            <a:ext cx="22631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GPUs make it harder (SIMT)</a:t>
            </a:r>
            <a:endParaRPr sz="1100"/>
          </a:p>
        </p:txBody>
      </p:sp>
      <p:sp>
        <p:nvSpPr>
          <p:cNvPr id="223" name="Google Shape;223;p28"/>
          <p:cNvSpPr txBox="1"/>
          <p:nvPr/>
        </p:nvSpPr>
        <p:spPr>
          <a:xfrm>
            <a:off x="3120390" y="1652778"/>
            <a:ext cx="22631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Developers add locks, atomics, CAS, retries, ordering.</a:t>
            </a:r>
            <a:endParaRPr sz="1100"/>
          </a:p>
        </p:txBody>
      </p:sp>
      <p:sp>
        <p:nvSpPr>
          <p:cNvPr id="224" name="Google Shape;224;p28"/>
          <p:cNvSpPr/>
          <p:nvPr/>
        </p:nvSpPr>
        <p:spPr>
          <a:xfrm>
            <a:off x="3223260" y="1995678"/>
            <a:ext cx="1988820" cy="21945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Fine-grained locks</a:t>
            </a:r>
            <a:endParaRPr sz="1100"/>
          </a:p>
        </p:txBody>
      </p:sp>
      <p:sp>
        <p:nvSpPr>
          <p:cNvPr id="225" name="Google Shape;225;p28"/>
          <p:cNvSpPr txBox="1"/>
          <p:nvPr/>
        </p:nvSpPr>
        <p:spPr>
          <a:xfrm>
            <a:off x="3977640" y="2215134"/>
            <a:ext cx="4800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100"/>
          </a:p>
        </p:txBody>
      </p:sp>
      <p:sp>
        <p:nvSpPr>
          <p:cNvPr id="226" name="Google Shape;226;p28"/>
          <p:cNvSpPr/>
          <p:nvPr/>
        </p:nvSpPr>
        <p:spPr>
          <a:xfrm>
            <a:off x="3223260" y="2352294"/>
            <a:ext cx="1988820" cy="21945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Warp divergence</a:t>
            </a:r>
            <a:endParaRPr sz="1100"/>
          </a:p>
        </p:txBody>
      </p:sp>
      <p:sp>
        <p:nvSpPr>
          <p:cNvPr id="227" name="Google Shape;227;p28"/>
          <p:cNvSpPr txBox="1"/>
          <p:nvPr/>
        </p:nvSpPr>
        <p:spPr>
          <a:xfrm>
            <a:off x="3977640" y="2571750"/>
            <a:ext cx="4800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100"/>
          </a:p>
        </p:txBody>
      </p:sp>
      <p:sp>
        <p:nvSpPr>
          <p:cNvPr id="228" name="Google Shape;228;p28"/>
          <p:cNvSpPr/>
          <p:nvPr/>
        </p:nvSpPr>
        <p:spPr>
          <a:xfrm>
            <a:off x="3223260" y="2708910"/>
            <a:ext cx="1988820" cy="21945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Deadlock / livelock risk</a:t>
            </a:r>
            <a:endParaRPr sz="1100"/>
          </a:p>
        </p:txBody>
      </p:sp>
      <p:sp>
        <p:nvSpPr>
          <p:cNvPr id="229" name="Google Shape;229;p28"/>
          <p:cNvSpPr txBox="1"/>
          <p:nvPr/>
        </p:nvSpPr>
        <p:spPr>
          <a:xfrm>
            <a:off x="3977640" y="2928366"/>
            <a:ext cx="4800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100"/>
          </a:p>
        </p:txBody>
      </p:sp>
      <p:sp>
        <p:nvSpPr>
          <p:cNvPr id="230" name="Google Shape;230;p28"/>
          <p:cNvSpPr/>
          <p:nvPr/>
        </p:nvSpPr>
        <p:spPr>
          <a:xfrm>
            <a:off x="3223260" y="3065526"/>
            <a:ext cx="1988820" cy="21945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Complex logic</a:t>
            </a:r>
            <a:endParaRPr sz="1100"/>
          </a:p>
        </p:txBody>
      </p:sp>
      <p:sp>
        <p:nvSpPr>
          <p:cNvPr id="231" name="Google Shape;231;p28"/>
          <p:cNvSpPr txBox="1"/>
          <p:nvPr/>
        </p:nvSpPr>
        <p:spPr>
          <a:xfrm>
            <a:off x="3977640" y="3284982"/>
            <a:ext cx="4800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100"/>
          </a:p>
        </p:txBody>
      </p:sp>
      <p:sp>
        <p:nvSpPr>
          <p:cNvPr id="232" name="Google Shape;232;p28"/>
          <p:cNvSpPr/>
          <p:nvPr/>
        </p:nvSpPr>
        <p:spPr>
          <a:xfrm>
            <a:off x="3223260" y="3422142"/>
            <a:ext cx="1988820" cy="21945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Concurrency bugs</a:t>
            </a:r>
            <a:endParaRPr sz="1100"/>
          </a:p>
        </p:txBody>
      </p:sp>
      <p:sp>
        <p:nvSpPr>
          <p:cNvPr id="233" name="Google Shape;233;p28"/>
          <p:cNvSpPr txBox="1"/>
          <p:nvPr/>
        </p:nvSpPr>
        <p:spPr>
          <a:xfrm>
            <a:off x="6240780" y="1405889"/>
            <a:ext cx="246888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Core trade-off</a:t>
            </a:r>
            <a:endParaRPr sz="1100"/>
          </a:p>
        </p:txBody>
      </p:sp>
      <p:sp>
        <p:nvSpPr>
          <p:cNvPr id="234" name="Google Shape;234;p28"/>
          <p:cNvSpPr/>
          <p:nvPr/>
        </p:nvSpPr>
        <p:spPr>
          <a:xfrm>
            <a:off x="6240780" y="1714500"/>
            <a:ext cx="2468880" cy="78867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8"/>
          <p:cNvSpPr txBox="1"/>
          <p:nvPr/>
        </p:nvSpPr>
        <p:spPr>
          <a:xfrm>
            <a:off x="6343650" y="1769364"/>
            <a:ext cx="22631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Specialized synchronization</a:t>
            </a:r>
            <a:endParaRPr sz="1100"/>
          </a:p>
        </p:txBody>
      </p:sp>
      <p:cxnSp>
        <p:nvCxnSpPr>
          <p:cNvPr id="236" name="Google Shape;236;p28"/>
          <p:cNvCxnSpPr/>
          <p:nvPr/>
        </p:nvCxnSpPr>
        <p:spPr>
          <a:xfrm>
            <a:off x="6343650" y="2002536"/>
            <a:ext cx="2263139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37" name="Google Shape;237;p28"/>
          <p:cNvSpPr txBox="1"/>
          <p:nvPr/>
        </p:nvSpPr>
        <p:spPr>
          <a:xfrm>
            <a:off x="6343650" y="2057400"/>
            <a:ext cx="2263140" cy="37718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High performance</a:t>
            </a:r>
            <a:endParaRPr sz="1100"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High complexity</a:t>
            </a:r>
            <a:endParaRPr sz="1100"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Error-prone</a:t>
            </a:r>
            <a:endParaRPr sz="1100"/>
          </a:p>
        </p:txBody>
      </p:sp>
      <p:sp>
        <p:nvSpPr>
          <p:cNvPr id="238" name="Google Shape;238;p28"/>
          <p:cNvSpPr txBox="1"/>
          <p:nvPr/>
        </p:nvSpPr>
        <p:spPr>
          <a:xfrm>
            <a:off x="7200900" y="2503170"/>
            <a:ext cx="5486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↓  Goal</a:t>
            </a:r>
            <a:endParaRPr sz="1100"/>
          </a:p>
        </p:txBody>
      </p:sp>
      <p:sp>
        <p:nvSpPr>
          <p:cNvPr id="239" name="Google Shape;239;p28"/>
          <p:cNvSpPr/>
          <p:nvPr/>
        </p:nvSpPr>
        <p:spPr>
          <a:xfrm>
            <a:off x="6240780" y="2743200"/>
            <a:ext cx="2468880" cy="720090"/>
          </a:xfrm>
          <a:prstGeom prst="roundRect">
            <a:avLst>
              <a:gd fmla="val 16667" name="adj"/>
            </a:avLst>
          </a:prstGeom>
          <a:solidFill>
            <a:srgbClr val="EFF2F7"/>
          </a:solidFill>
          <a:ln cap="flat" cmpd="sng" w="1905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8"/>
          <p:cNvSpPr txBox="1"/>
          <p:nvPr/>
        </p:nvSpPr>
        <p:spPr>
          <a:xfrm>
            <a:off x="6343650" y="2777490"/>
            <a:ext cx="22631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GPU-STM abstraction</a:t>
            </a:r>
            <a:endParaRPr sz="1100"/>
          </a:p>
        </p:txBody>
      </p:sp>
      <p:cxnSp>
        <p:nvCxnSpPr>
          <p:cNvPr id="241" name="Google Shape;241;p28"/>
          <p:cNvCxnSpPr/>
          <p:nvPr/>
        </p:nvCxnSpPr>
        <p:spPr>
          <a:xfrm>
            <a:off x="6343650" y="2983229"/>
            <a:ext cx="2263140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2" name="Google Shape;242;p28"/>
          <p:cNvSpPr txBox="1"/>
          <p:nvPr/>
        </p:nvSpPr>
        <p:spPr>
          <a:xfrm>
            <a:off x="6343650" y="3017520"/>
            <a:ext cx="22631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Lower complexity; fewer bugs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≈ competitive performance ?</a:t>
            </a:r>
            <a:endParaRPr sz="1100"/>
          </a:p>
        </p:txBody>
      </p:sp>
      <p:sp>
        <p:nvSpPr>
          <p:cNvPr id="243" name="Google Shape;243;p28"/>
          <p:cNvSpPr txBox="1"/>
          <p:nvPr/>
        </p:nvSpPr>
        <p:spPr>
          <a:xfrm>
            <a:off x="58293" y="3856291"/>
            <a:ext cx="831875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Key research goal</a:t>
            </a:r>
            <a:endParaRPr sz="1100"/>
          </a:p>
        </p:txBody>
      </p:sp>
      <p:sp>
        <p:nvSpPr>
          <p:cNvPr id="244" name="Google Shape;244;p28"/>
          <p:cNvSpPr txBox="1"/>
          <p:nvPr/>
        </p:nvSpPr>
        <p:spPr>
          <a:xfrm>
            <a:off x="469773" y="4096321"/>
            <a:ext cx="749579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Reduce synchronization complexity and bugs — without sacrificing significant performance.</a:t>
            </a:r>
            <a:endParaRPr sz="1100"/>
          </a:p>
        </p:txBody>
      </p:sp>
      <p:sp>
        <p:nvSpPr>
          <p:cNvPr id="245" name="Google Shape;245;p28"/>
          <p:cNvSpPr txBox="1"/>
          <p:nvPr/>
        </p:nvSpPr>
        <p:spPr>
          <a:xfrm>
            <a:off x="451802" y="1424369"/>
            <a:ext cx="178308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CPU vs. GPU</a:t>
            </a:r>
            <a:endParaRPr sz="1100"/>
          </a:p>
        </p:txBody>
      </p:sp>
      <p:sp>
        <p:nvSpPr>
          <p:cNvPr id="246" name="Google Shape;246;p28"/>
          <p:cNvSpPr txBox="1"/>
          <p:nvPr/>
        </p:nvSpPr>
        <p:spPr>
          <a:xfrm>
            <a:off x="451802" y="1645921"/>
            <a:ext cx="178308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CPU: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few threads; limited contention.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GPU: 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thousands of threads; massive contention.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9"/>
          <p:cNvSpPr txBox="1"/>
          <p:nvPr/>
        </p:nvSpPr>
        <p:spPr>
          <a:xfrm>
            <a:off x="411480" y="171450"/>
            <a:ext cx="82981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4  —  ABSTRACTION</a:t>
            </a:r>
            <a:endParaRPr sz="1100"/>
          </a:p>
        </p:txBody>
      </p:sp>
      <p:sp>
        <p:nvSpPr>
          <p:cNvPr id="252" name="Google Shape;252;p29"/>
          <p:cNvSpPr txBox="1"/>
          <p:nvPr/>
        </p:nvSpPr>
        <p:spPr>
          <a:xfrm>
            <a:off x="411480" y="342900"/>
            <a:ext cx="829818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Software Transactional Memory (STM): The Abstraction</a:t>
            </a:r>
            <a:endParaRPr sz="1100"/>
          </a:p>
        </p:txBody>
      </p:sp>
      <p:cxnSp>
        <p:nvCxnSpPr>
          <p:cNvPr id="253" name="Google Shape;253;p29"/>
          <p:cNvCxnSpPr/>
          <p:nvPr/>
        </p:nvCxnSpPr>
        <p:spPr>
          <a:xfrm>
            <a:off x="411480" y="857250"/>
            <a:ext cx="8318754" cy="0"/>
          </a:xfrm>
          <a:prstGeom prst="straightConnector1">
            <a:avLst/>
          </a:prstGeom>
          <a:noFill/>
          <a:ln cap="flat" cmpd="sng" w="1905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54" name="Google Shape;254;p29"/>
          <p:cNvCxnSpPr/>
          <p:nvPr/>
        </p:nvCxnSpPr>
        <p:spPr>
          <a:xfrm>
            <a:off x="411480" y="4834890"/>
            <a:ext cx="831875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5" name="Google Shape;255;p29"/>
          <p:cNvSpPr txBox="1"/>
          <p:nvPr/>
        </p:nvSpPr>
        <p:spPr>
          <a:xfrm>
            <a:off x="411480" y="4855464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General-Purpose STM for Concurrent Dynamic Graph Updates on GPUs</a:t>
            </a:r>
            <a:endParaRPr sz="1100"/>
          </a:p>
        </p:txBody>
      </p:sp>
      <p:sp>
        <p:nvSpPr>
          <p:cNvPr id="256" name="Google Shape;256;p29"/>
          <p:cNvSpPr txBox="1"/>
          <p:nvPr/>
        </p:nvSpPr>
        <p:spPr>
          <a:xfrm>
            <a:off x="8229600" y="4855464"/>
            <a:ext cx="4800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/>
          </a:p>
        </p:txBody>
      </p:sp>
      <p:sp>
        <p:nvSpPr>
          <p:cNvPr id="257" name="Google Shape;257;p29"/>
          <p:cNvSpPr txBox="1"/>
          <p:nvPr/>
        </p:nvSpPr>
        <p:spPr>
          <a:xfrm>
            <a:off x="411480" y="994410"/>
            <a:ext cx="831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Instead of managing synchronization manually, programmers express operations as transactions.</a:t>
            </a:r>
            <a:endParaRPr sz="1100"/>
          </a:p>
        </p:txBody>
      </p:sp>
      <p:sp>
        <p:nvSpPr>
          <p:cNvPr id="258" name="Google Shape;258;p29"/>
          <p:cNvSpPr txBox="1"/>
          <p:nvPr/>
        </p:nvSpPr>
        <p:spPr>
          <a:xfrm>
            <a:off x="411480" y="1405889"/>
            <a:ext cx="24003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Manual synchronization</a:t>
            </a:r>
            <a:endParaRPr sz="1100"/>
          </a:p>
        </p:txBody>
      </p:sp>
      <p:sp>
        <p:nvSpPr>
          <p:cNvPr id="259" name="Google Shape;259;p29"/>
          <p:cNvSpPr/>
          <p:nvPr/>
        </p:nvSpPr>
        <p:spPr>
          <a:xfrm>
            <a:off x="685800" y="1748790"/>
            <a:ext cx="1851660" cy="28803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Lock</a:t>
            </a:r>
            <a:endParaRPr sz="1100"/>
          </a:p>
        </p:txBody>
      </p:sp>
      <p:sp>
        <p:nvSpPr>
          <p:cNvPr id="260" name="Google Shape;260;p29"/>
          <p:cNvSpPr txBox="1"/>
          <p:nvPr/>
        </p:nvSpPr>
        <p:spPr>
          <a:xfrm>
            <a:off x="685800" y="2036826"/>
            <a:ext cx="18516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100"/>
          </a:p>
        </p:txBody>
      </p:sp>
      <p:sp>
        <p:nvSpPr>
          <p:cNvPr id="261" name="Google Shape;261;p29"/>
          <p:cNvSpPr/>
          <p:nvPr/>
        </p:nvSpPr>
        <p:spPr>
          <a:xfrm>
            <a:off x="685800" y="2187702"/>
            <a:ext cx="1851660" cy="28803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Modify graph</a:t>
            </a:r>
            <a:endParaRPr sz="1100"/>
          </a:p>
        </p:txBody>
      </p:sp>
      <p:sp>
        <p:nvSpPr>
          <p:cNvPr id="262" name="Google Shape;262;p29"/>
          <p:cNvSpPr txBox="1"/>
          <p:nvPr/>
        </p:nvSpPr>
        <p:spPr>
          <a:xfrm>
            <a:off x="685800" y="2475738"/>
            <a:ext cx="18516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100"/>
          </a:p>
        </p:txBody>
      </p:sp>
      <p:sp>
        <p:nvSpPr>
          <p:cNvPr id="263" name="Google Shape;263;p29"/>
          <p:cNvSpPr/>
          <p:nvPr/>
        </p:nvSpPr>
        <p:spPr>
          <a:xfrm>
            <a:off x="685800" y="2626614"/>
            <a:ext cx="1851660" cy="28803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Unlock</a:t>
            </a:r>
            <a:endParaRPr sz="1100"/>
          </a:p>
        </p:txBody>
      </p:sp>
      <p:sp>
        <p:nvSpPr>
          <p:cNvPr id="264" name="Google Shape;264;p29"/>
          <p:cNvSpPr txBox="1"/>
          <p:nvPr/>
        </p:nvSpPr>
        <p:spPr>
          <a:xfrm>
            <a:off x="411480" y="3154680"/>
            <a:ext cx="24003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Programmer manages synchronization</a:t>
            </a:r>
            <a:endParaRPr sz="1100"/>
          </a:p>
        </p:txBody>
      </p:sp>
      <p:sp>
        <p:nvSpPr>
          <p:cNvPr id="265" name="Google Shape;265;p29"/>
          <p:cNvSpPr txBox="1"/>
          <p:nvPr/>
        </p:nvSpPr>
        <p:spPr>
          <a:xfrm>
            <a:off x="2846070" y="2263140"/>
            <a:ext cx="3771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100"/>
          </a:p>
        </p:txBody>
      </p:sp>
      <p:sp>
        <p:nvSpPr>
          <p:cNvPr id="266" name="Google Shape;266;p29"/>
          <p:cNvSpPr txBox="1"/>
          <p:nvPr/>
        </p:nvSpPr>
        <p:spPr>
          <a:xfrm>
            <a:off x="3326130" y="1405889"/>
            <a:ext cx="233172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STM abstraction</a:t>
            </a:r>
            <a:endParaRPr sz="1100"/>
          </a:p>
        </p:txBody>
      </p:sp>
      <p:sp>
        <p:nvSpPr>
          <p:cNvPr id="267" name="Google Shape;267;p29"/>
          <p:cNvSpPr/>
          <p:nvPr/>
        </p:nvSpPr>
        <p:spPr>
          <a:xfrm>
            <a:off x="3326130" y="1748790"/>
            <a:ext cx="2331720" cy="1337310"/>
          </a:xfrm>
          <a:prstGeom prst="roundRect">
            <a:avLst>
              <a:gd fmla="val 16667" name="adj"/>
            </a:avLst>
          </a:prstGeom>
          <a:solidFill>
            <a:srgbClr val="EFF2F7"/>
          </a:solidFill>
          <a:ln cap="flat" cmpd="sng" w="22225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9"/>
          <p:cNvSpPr txBox="1"/>
          <p:nvPr/>
        </p:nvSpPr>
        <p:spPr>
          <a:xfrm>
            <a:off x="3463290" y="1851659"/>
            <a:ext cx="20574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transaction {</a:t>
            </a:r>
            <a:endParaRPr sz="1100"/>
          </a:p>
        </p:txBody>
      </p:sp>
      <p:sp>
        <p:nvSpPr>
          <p:cNvPr id="269" name="Google Shape;269;p29"/>
          <p:cNvSpPr txBox="1"/>
          <p:nvPr/>
        </p:nvSpPr>
        <p:spPr>
          <a:xfrm>
            <a:off x="3463290" y="2194559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 / Modify graph</a:t>
            </a:r>
            <a:endParaRPr sz="1100"/>
          </a:p>
        </p:txBody>
      </p:sp>
      <p:sp>
        <p:nvSpPr>
          <p:cNvPr id="270" name="Google Shape;270;p29"/>
          <p:cNvSpPr txBox="1"/>
          <p:nvPr/>
        </p:nvSpPr>
        <p:spPr>
          <a:xfrm>
            <a:off x="3463290" y="2674620"/>
            <a:ext cx="20574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100"/>
          </a:p>
        </p:txBody>
      </p:sp>
      <p:sp>
        <p:nvSpPr>
          <p:cNvPr id="271" name="Google Shape;271;p29"/>
          <p:cNvSpPr txBox="1"/>
          <p:nvPr/>
        </p:nvSpPr>
        <p:spPr>
          <a:xfrm>
            <a:off x="3326130" y="3154680"/>
            <a:ext cx="233172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8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Programmer specifies operation only</a:t>
            </a:r>
            <a:endParaRPr sz="1100"/>
          </a:p>
        </p:txBody>
      </p:sp>
      <p:sp>
        <p:nvSpPr>
          <p:cNvPr id="272" name="Google Shape;272;p29"/>
          <p:cNvSpPr txBox="1"/>
          <p:nvPr/>
        </p:nvSpPr>
        <p:spPr>
          <a:xfrm>
            <a:off x="5726430" y="2263140"/>
            <a:ext cx="3771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100"/>
          </a:p>
        </p:txBody>
      </p:sp>
      <p:sp>
        <p:nvSpPr>
          <p:cNvPr id="273" name="Google Shape;273;p29"/>
          <p:cNvSpPr txBox="1"/>
          <p:nvPr/>
        </p:nvSpPr>
        <p:spPr>
          <a:xfrm>
            <a:off x="6206490" y="1405889"/>
            <a:ext cx="250317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STM handles</a:t>
            </a:r>
            <a:endParaRPr sz="1100"/>
          </a:p>
        </p:txBody>
      </p:sp>
      <p:sp>
        <p:nvSpPr>
          <p:cNvPr id="274" name="Google Shape;274;p29"/>
          <p:cNvSpPr/>
          <p:nvPr/>
        </p:nvSpPr>
        <p:spPr>
          <a:xfrm>
            <a:off x="6446520" y="1748790"/>
            <a:ext cx="2023110" cy="2606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 / write tracking</a:t>
            </a:r>
            <a:endParaRPr sz="1100"/>
          </a:p>
        </p:txBody>
      </p:sp>
      <p:sp>
        <p:nvSpPr>
          <p:cNvPr id="275" name="Google Shape;275;p29"/>
          <p:cNvSpPr txBox="1"/>
          <p:nvPr/>
        </p:nvSpPr>
        <p:spPr>
          <a:xfrm>
            <a:off x="6446520" y="2009393"/>
            <a:ext cx="202311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100"/>
          </a:p>
        </p:txBody>
      </p:sp>
      <p:sp>
        <p:nvSpPr>
          <p:cNvPr id="276" name="Google Shape;276;p29"/>
          <p:cNvSpPr/>
          <p:nvPr/>
        </p:nvSpPr>
        <p:spPr>
          <a:xfrm>
            <a:off x="6446520" y="2146554"/>
            <a:ext cx="2023110" cy="2606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Conflict detection</a:t>
            </a:r>
            <a:endParaRPr sz="1100"/>
          </a:p>
        </p:txBody>
      </p:sp>
      <p:sp>
        <p:nvSpPr>
          <p:cNvPr id="277" name="Google Shape;277;p29"/>
          <p:cNvSpPr txBox="1"/>
          <p:nvPr/>
        </p:nvSpPr>
        <p:spPr>
          <a:xfrm>
            <a:off x="6446520" y="2407158"/>
            <a:ext cx="202311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100"/>
          </a:p>
        </p:txBody>
      </p:sp>
      <p:sp>
        <p:nvSpPr>
          <p:cNvPr id="278" name="Google Shape;278;p29"/>
          <p:cNvSpPr/>
          <p:nvPr/>
        </p:nvSpPr>
        <p:spPr>
          <a:xfrm>
            <a:off x="6446520" y="2544318"/>
            <a:ext cx="2023110" cy="2606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endParaRPr sz="1100"/>
          </a:p>
        </p:txBody>
      </p:sp>
      <p:sp>
        <p:nvSpPr>
          <p:cNvPr id="279" name="Google Shape;279;p29"/>
          <p:cNvSpPr txBox="1"/>
          <p:nvPr/>
        </p:nvSpPr>
        <p:spPr>
          <a:xfrm>
            <a:off x="6446520" y="2804922"/>
            <a:ext cx="202311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100"/>
          </a:p>
        </p:txBody>
      </p:sp>
      <p:sp>
        <p:nvSpPr>
          <p:cNvPr id="280" name="Google Shape;280;p29"/>
          <p:cNvSpPr/>
          <p:nvPr/>
        </p:nvSpPr>
        <p:spPr>
          <a:xfrm>
            <a:off x="6446520" y="2942082"/>
            <a:ext cx="2023110" cy="260604"/>
          </a:xfrm>
          <a:prstGeom prst="roundRect">
            <a:avLst>
              <a:gd fmla="val 16667" name="adj"/>
            </a:avLst>
          </a:prstGeom>
          <a:solidFill>
            <a:srgbClr val="EFF2F7"/>
          </a:solidFill>
          <a:ln cap="flat" cmpd="sng" w="15875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Commit / abort</a:t>
            </a:r>
            <a:endParaRPr sz="1100"/>
          </a:p>
        </p:txBody>
      </p:sp>
      <p:sp>
        <p:nvSpPr>
          <p:cNvPr id="281" name="Google Shape;281;p29"/>
          <p:cNvSpPr txBox="1"/>
          <p:nvPr/>
        </p:nvSpPr>
        <p:spPr>
          <a:xfrm>
            <a:off x="6206490" y="3394710"/>
            <a:ext cx="25031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STM manages synchronization</a:t>
            </a:r>
            <a:endParaRPr sz="1100"/>
          </a:p>
        </p:txBody>
      </p:sp>
      <p:cxnSp>
        <p:nvCxnSpPr>
          <p:cNvPr id="282" name="Google Shape;282;p29"/>
          <p:cNvCxnSpPr/>
          <p:nvPr/>
        </p:nvCxnSpPr>
        <p:spPr>
          <a:xfrm>
            <a:off x="411480" y="3806190"/>
            <a:ext cx="831875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83" name="Google Shape;283;p29"/>
          <p:cNvSpPr txBox="1"/>
          <p:nvPr/>
        </p:nvSpPr>
        <p:spPr>
          <a:xfrm>
            <a:off x="411480" y="3909060"/>
            <a:ext cx="831875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Takeaway</a:t>
            </a:r>
            <a:endParaRPr sz="1100"/>
          </a:p>
        </p:txBody>
      </p:sp>
      <p:sp>
        <p:nvSpPr>
          <p:cNvPr id="284" name="Google Shape;284;p29"/>
          <p:cNvSpPr txBox="1"/>
          <p:nvPr/>
        </p:nvSpPr>
        <p:spPr>
          <a:xfrm>
            <a:off x="1028700" y="4149090"/>
            <a:ext cx="708431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STM separates application logic from synchronization management.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0"/>
          <p:cNvSpPr txBox="1"/>
          <p:nvPr/>
        </p:nvSpPr>
        <p:spPr>
          <a:xfrm>
            <a:off x="411480" y="171450"/>
            <a:ext cx="82981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5  —  LITERATURE</a:t>
            </a:r>
            <a:endParaRPr sz="1100"/>
          </a:p>
        </p:txBody>
      </p:sp>
      <p:sp>
        <p:nvSpPr>
          <p:cNvPr id="290" name="Google Shape;290;p30"/>
          <p:cNvSpPr txBox="1"/>
          <p:nvPr/>
        </p:nvSpPr>
        <p:spPr>
          <a:xfrm>
            <a:off x="411480" y="342900"/>
            <a:ext cx="829818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Software Transactional Memory: From CPUs to GPUs</a:t>
            </a:r>
            <a:endParaRPr sz="1100"/>
          </a:p>
        </p:txBody>
      </p:sp>
      <p:cxnSp>
        <p:nvCxnSpPr>
          <p:cNvPr id="291" name="Google Shape;291;p30"/>
          <p:cNvCxnSpPr/>
          <p:nvPr/>
        </p:nvCxnSpPr>
        <p:spPr>
          <a:xfrm>
            <a:off x="411480" y="857250"/>
            <a:ext cx="8318754" cy="0"/>
          </a:xfrm>
          <a:prstGeom prst="straightConnector1">
            <a:avLst/>
          </a:prstGeom>
          <a:noFill/>
          <a:ln cap="flat" cmpd="sng" w="1905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92" name="Google Shape;292;p30"/>
          <p:cNvCxnSpPr/>
          <p:nvPr/>
        </p:nvCxnSpPr>
        <p:spPr>
          <a:xfrm>
            <a:off x="411480" y="4834890"/>
            <a:ext cx="831875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3" name="Google Shape;293;p30"/>
          <p:cNvSpPr txBox="1"/>
          <p:nvPr/>
        </p:nvSpPr>
        <p:spPr>
          <a:xfrm>
            <a:off x="411480" y="4855464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General-Purpose STM for Concurrent Dynamic Graph Updates on GPUs</a:t>
            </a:r>
            <a:endParaRPr sz="1100"/>
          </a:p>
        </p:txBody>
      </p:sp>
      <p:sp>
        <p:nvSpPr>
          <p:cNvPr id="294" name="Google Shape;294;p30"/>
          <p:cNvSpPr txBox="1"/>
          <p:nvPr/>
        </p:nvSpPr>
        <p:spPr>
          <a:xfrm>
            <a:off x="8229600" y="4855464"/>
            <a:ext cx="4800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/>
          </a:p>
        </p:txBody>
      </p:sp>
      <p:graphicFrame>
        <p:nvGraphicFramePr>
          <p:cNvPr id="295" name="Google Shape;295;p30"/>
          <p:cNvGraphicFramePr/>
          <p:nvPr/>
        </p:nvGraphicFramePr>
        <p:xfrm>
          <a:off x="274320" y="9944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{362BF6F4-9913-4CAA-A3A7-F83A76B423C0}</a:tableStyleId>
              </a:tblPr>
              <a:tblGrid>
                <a:gridCol w="1303000"/>
                <a:gridCol w="2571750"/>
                <a:gridCol w="2537450"/>
                <a:gridCol w="2180850"/>
              </a:tblGrid>
              <a:tr h="30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Work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Core contribution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 idea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What it gives us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1F3A5F"/>
                    </a:solidFill>
                  </a:tcPr>
                </a:tc>
              </a:tr>
              <a:tr h="50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STM (199</a:t>
                      </a:r>
                      <a:r>
                        <a:rPr b="1" lang="en" sz="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r>
                        <a:rPr b="1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Introduces STM as a higher-level concurrency abstraction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Transactions provide atomicity/consistency without explicit lock management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Separates application logic from synchronization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</a:tr>
              <a:tr h="50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DSTM (2003)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Extends STM to dynamically sized data structures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Dynamic read/write tracking; demonstrated with red-black trees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Relevant to dynamically changing structures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EFF2F7"/>
                    </a:solidFill>
                  </a:tcPr>
                </a:tc>
              </a:tr>
              <a:tr h="50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GPU-STM (2013)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Adapts STM to GPU architectures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Hierarchical validation + encounter-time lock sorting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Shows STM is feasible on GPUs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</a:tr>
              <a:tr h="50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CSMV (2022)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Multi-version GPU STM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Client-server design separates execution from commit processing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Shows GPU-STM can be further optimized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EFF2F7"/>
                    </a:solidFill>
                  </a:tcPr>
                </a:tc>
              </a:tr>
              <a:tr h="50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OF-GPU-STM (2025)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Explores obstruction-free GPU STM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Non-blocking progress approach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Addresses GPU synchronization/progress challenges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96" name="Google Shape;296;p30"/>
          <p:cNvCxnSpPr/>
          <p:nvPr/>
        </p:nvCxnSpPr>
        <p:spPr>
          <a:xfrm>
            <a:off x="411480" y="3909060"/>
            <a:ext cx="831875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7" name="Google Shape;297;p30"/>
          <p:cNvSpPr txBox="1"/>
          <p:nvPr/>
        </p:nvSpPr>
        <p:spPr>
          <a:xfrm>
            <a:off x="411480" y="3977640"/>
            <a:ext cx="8318754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STM evolved from a general abstraction → dynamic structures → GPU-specific synchronization.</a:t>
            </a:r>
            <a:endParaRPr sz="1100"/>
          </a:p>
        </p:txBody>
      </p:sp>
      <p:sp>
        <p:nvSpPr>
          <p:cNvPr id="298" name="Google Shape;298;p30"/>
          <p:cNvSpPr txBox="1"/>
          <p:nvPr/>
        </p:nvSpPr>
        <p:spPr>
          <a:xfrm>
            <a:off x="411480" y="4286250"/>
            <a:ext cx="831875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Gap: GPU-STM has been evaluated on general workloads, not concurrent dynamic graph updates.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1"/>
          <p:cNvSpPr txBox="1"/>
          <p:nvPr/>
        </p:nvSpPr>
        <p:spPr>
          <a:xfrm>
            <a:off x="411480" y="171450"/>
            <a:ext cx="82981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6  —  LITERATURE</a:t>
            </a:r>
            <a:endParaRPr sz="1100"/>
          </a:p>
        </p:txBody>
      </p:sp>
      <p:sp>
        <p:nvSpPr>
          <p:cNvPr id="304" name="Google Shape;304;p31"/>
          <p:cNvSpPr txBox="1"/>
          <p:nvPr/>
        </p:nvSpPr>
        <p:spPr>
          <a:xfrm>
            <a:off x="411480" y="342900"/>
            <a:ext cx="829818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Dynamic Graph Processing on GPUs</a:t>
            </a:r>
            <a:endParaRPr sz="1100"/>
          </a:p>
        </p:txBody>
      </p:sp>
      <p:cxnSp>
        <p:nvCxnSpPr>
          <p:cNvPr id="305" name="Google Shape;305;p31"/>
          <p:cNvCxnSpPr/>
          <p:nvPr/>
        </p:nvCxnSpPr>
        <p:spPr>
          <a:xfrm>
            <a:off x="411480" y="857250"/>
            <a:ext cx="8318754" cy="0"/>
          </a:xfrm>
          <a:prstGeom prst="straightConnector1">
            <a:avLst/>
          </a:prstGeom>
          <a:noFill/>
          <a:ln cap="flat" cmpd="sng" w="1905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06" name="Google Shape;306;p31"/>
          <p:cNvCxnSpPr/>
          <p:nvPr/>
        </p:nvCxnSpPr>
        <p:spPr>
          <a:xfrm>
            <a:off x="411480" y="4834890"/>
            <a:ext cx="831875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07" name="Google Shape;307;p31"/>
          <p:cNvSpPr txBox="1"/>
          <p:nvPr/>
        </p:nvSpPr>
        <p:spPr>
          <a:xfrm>
            <a:off x="411480" y="4855464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General-Purpose STM for Concurrent Dynamic Graph Updates on GPUs</a:t>
            </a:r>
            <a:endParaRPr sz="1100"/>
          </a:p>
        </p:txBody>
      </p:sp>
      <p:sp>
        <p:nvSpPr>
          <p:cNvPr id="308" name="Google Shape;308;p31"/>
          <p:cNvSpPr txBox="1"/>
          <p:nvPr/>
        </p:nvSpPr>
        <p:spPr>
          <a:xfrm>
            <a:off x="8229600" y="4855464"/>
            <a:ext cx="4800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/>
          </a:p>
        </p:txBody>
      </p:sp>
      <p:graphicFrame>
        <p:nvGraphicFramePr>
          <p:cNvPr id="309" name="Google Shape;309;p31"/>
          <p:cNvGraphicFramePr/>
          <p:nvPr/>
        </p:nvGraphicFramePr>
        <p:xfrm>
          <a:off x="274320" y="9944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{362BF6F4-9913-4CAA-A3A7-F83A76B423C0}</a:tableStyleId>
              </a:tblPr>
              <a:tblGrid>
                <a:gridCol w="1303000"/>
                <a:gridCol w="2571750"/>
                <a:gridCol w="2537450"/>
                <a:gridCol w="2180850"/>
              </a:tblGrid>
              <a:tr h="30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Work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Core contribution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 idea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What it gives us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1F3A5F"/>
                    </a:solidFill>
                  </a:tcPr>
                </a:tc>
              </a:tr>
              <a:tr h="55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GPMA (2017)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GPU framework for large batches of dynamic graph updates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Packed-memory-array-based organization adapted for GPU parallelism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Strong specialized baseline for updates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</a:tr>
              <a:tr h="55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Hornet (2018)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Dynamic sparse graph data structure for GPUs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Hierarchical representation + dynamic memory management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Shows need for specialized graph structures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EFF2F7"/>
                    </a:solidFill>
                  </a:tcPr>
                </a:tc>
              </a:tr>
              <a:tr h="55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GPMA+ / Lock-Free Updates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Improves handling of highly conflicting updates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Lock-free update strategy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Highlights contention as a key factor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</a:tr>
              <a:tr h="55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GPU Dynamic Graph Survey (2023)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cap="none" strike="noStrike"/>
                        <a:t>Taxonomy of GPU dynamic-graph approaches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cap="none" strike="noStrike"/>
                        <a:t>Organizes representations, updates and analytics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cap="none" strike="noStrike"/>
                        <a:t>Places the problem in the broader field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EFF2F7"/>
                    </a:solidFill>
                  </a:tcPr>
                </a:tc>
              </a:tr>
            </a:tbl>
          </a:graphicData>
        </a:graphic>
      </p:graphicFrame>
      <p:cxnSp>
        <p:nvCxnSpPr>
          <p:cNvPr id="310" name="Google Shape;310;p31"/>
          <p:cNvCxnSpPr/>
          <p:nvPr/>
        </p:nvCxnSpPr>
        <p:spPr>
          <a:xfrm>
            <a:off x="411480" y="3669030"/>
            <a:ext cx="831875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11" name="Google Shape;311;p31"/>
          <p:cNvSpPr txBox="1"/>
          <p:nvPr/>
        </p:nvSpPr>
        <p:spPr>
          <a:xfrm>
            <a:off x="411480" y="3771900"/>
            <a:ext cx="8318754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Takeaway</a:t>
            </a:r>
            <a:endParaRPr sz="1100"/>
          </a:p>
        </p:txBody>
      </p:sp>
      <p:sp>
        <p:nvSpPr>
          <p:cNvPr id="312" name="Google Shape;312;p31"/>
          <p:cNvSpPr txBox="1"/>
          <p:nvPr/>
        </p:nvSpPr>
        <p:spPr>
          <a:xfrm>
            <a:off x="548640" y="3977640"/>
            <a:ext cx="8044434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Dynamic GPU graph systems achieve high performance through specialized structures and synchronization.</a:t>
            </a:r>
            <a:endParaRPr sz="1100"/>
          </a:p>
        </p:txBody>
      </p:sp>
      <p:sp>
        <p:nvSpPr>
          <p:cNvPr id="313" name="Google Shape;313;p31"/>
          <p:cNvSpPr txBox="1"/>
          <p:nvPr/>
        </p:nvSpPr>
        <p:spPr>
          <a:xfrm>
            <a:off x="411480" y="4457700"/>
            <a:ext cx="831875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Our question: can GPU-STM provide a general abstraction without giving up competitive performance?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2"/>
          <p:cNvSpPr txBox="1"/>
          <p:nvPr/>
        </p:nvSpPr>
        <p:spPr>
          <a:xfrm>
            <a:off x="411480" y="171450"/>
            <a:ext cx="82981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7  —  GAP</a:t>
            </a:r>
            <a:endParaRPr sz="1100"/>
          </a:p>
        </p:txBody>
      </p:sp>
      <p:sp>
        <p:nvSpPr>
          <p:cNvPr id="319" name="Google Shape;319;p32"/>
          <p:cNvSpPr txBox="1"/>
          <p:nvPr/>
        </p:nvSpPr>
        <p:spPr>
          <a:xfrm>
            <a:off x="411480" y="342900"/>
            <a:ext cx="829818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Literature Gap</a:t>
            </a:r>
            <a:endParaRPr sz="1100"/>
          </a:p>
        </p:txBody>
      </p:sp>
      <p:cxnSp>
        <p:nvCxnSpPr>
          <p:cNvPr id="320" name="Google Shape;320;p32"/>
          <p:cNvCxnSpPr/>
          <p:nvPr/>
        </p:nvCxnSpPr>
        <p:spPr>
          <a:xfrm>
            <a:off x="411480" y="857250"/>
            <a:ext cx="8318754" cy="0"/>
          </a:xfrm>
          <a:prstGeom prst="straightConnector1">
            <a:avLst/>
          </a:prstGeom>
          <a:noFill/>
          <a:ln cap="flat" cmpd="sng" w="1905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21" name="Google Shape;321;p32"/>
          <p:cNvCxnSpPr/>
          <p:nvPr/>
        </p:nvCxnSpPr>
        <p:spPr>
          <a:xfrm>
            <a:off x="411480" y="4834890"/>
            <a:ext cx="831875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22" name="Google Shape;322;p32"/>
          <p:cNvSpPr txBox="1"/>
          <p:nvPr/>
        </p:nvSpPr>
        <p:spPr>
          <a:xfrm>
            <a:off x="411480" y="4855464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General-Purpose STM for Concurrent Dynamic Graph Updates on GPUs</a:t>
            </a:r>
            <a:endParaRPr sz="1100"/>
          </a:p>
        </p:txBody>
      </p:sp>
      <p:sp>
        <p:nvSpPr>
          <p:cNvPr id="323" name="Google Shape;323;p32"/>
          <p:cNvSpPr txBox="1"/>
          <p:nvPr/>
        </p:nvSpPr>
        <p:spPr>
          <a:xfrm>
            <a:off x="8229600" y="4855464"/>
            <a:ext cx="4800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100"/>
          </a:p>
        </p:txBody>
      </p:sp>
      <p:cxnSp>
        <p:nvCxnSpPr>
          <p:cNvPr id="324" name="Google Shape;324;p32"/>
          <p:cNvCxnSpPr/>
          <p:nvPr/>
        </p:nvCxnSpPr>
        <p:spPr>
          <a:xfrm>
            <a:off x="412655" y="1117805"/>
            <a:ext cx="8318700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25" name="Google Shape;325;p32"/>
          <p:cNvSpPr txBox="1"/>
          <p:nvPr/>
        </p:nvSpPr>
        <p:spPr>
          <a:xfrm>
            <a:off x="548650" y="2100364"/>
            <a:ext cx="8044500" cy="18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rgbClr val="333333"/>
                </a:solidFill>
              </a:rPr>
              <a:t>Existing research has developed general-purpose GPU transactional memory and specialized mechanisms for concurrent dynamic graph updates. However, the interaction between GPU-STM's transaction model and the irregular access patterns of dynamic graph updates remains insufficiently characterized, particularly with respect to transaction granularity, graph-induced contention, and transactional overhead. </a:t>
            </a:r>
            <a:endParaRPr i="1" sz="1200">
              <a:solidFill>
                <a:srgbClr val="333333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333333"/>
              </a:solidFill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3"/>
          <p:cNvSpPr txBox="1"/>
          <p:nvPr/>
        </p:nvSpPr>
        <p:spPr>
          <a:xfrm>
            <a:off x="480060" y="171450"/>
            <a:ext cx="81610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2875" spcFirstLastPara="1" rIns="102875" wrap="square" tIns="3810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EVALUATION  1 / 3</a:t>
            </a:r>
            <a:endParaRPr sz="1100"/>
          </a:p>
        </p:txBody>
      </p:sp>
      <p:sp>
        <p:nvSpPr>
          <p:cNvPr id="331" name="Google Shape;331;p33"/>
          <p:cNvSpPr txBox="1"/>
          <p:nvPr/>
        </p:nvSpPr>
        <p:spPr>
          <a:xfrm>
            <a:off x="480060" y="377190"/>
            <a:ext cx="816102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2875" spcFirstLastPara="1" rIns="102875" wrap="square" tIns="3810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Systems, Workloads &amp; Metrics</a:t>
            </a:r>
            <a:endParaRPr sz="1100"/>
          </a:p>
        </p:txBody>
      </p:sp>
      <p:cxnSp>
        <p:nvCxnSpPr>
          <p:cNvPr id="332" name="Google Shape;332;p33"/>
          <p:cNvCxnSpPr/>
          <p:nvPr/>
        </p:nvCxnSpPr>
        <p:spPr>
          <a:xfrm>
            <a:off x="480060" y="877824"/>
            <a:ext cx="8181594" cy="0"/>
          </a:xfrm>
          <a:prstGeom prst="straightConnector1">
            <a:avLst/>
          </a:prstGeom>
          <a:noFill/>
          <a:ln cap="flat" cmpd="sng" w="22225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33" name="Google Shape;333;p33"/>
          <p:cNvCxnSpPr/>
          <p:nvPr/>
        </p:nvCxnSpPr>
        <p:spPr>
          <a:xfrm>
            <a:off x="480060" y="4814316"/>
            <a:ext cx="818159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34" name="Google Shape;334;p33"/>
          <p:cNvSpPr txBox="1"/>
          <p:nvPr/>
        </p:nvSpPr>
        <p:spPr>
          <a:xfrm>
            <a:off x="480060" y="4841748"/>
            <a:ext cx="651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2875" spcFirstLastPara="1" rIns="102875" wrap="square" tIns="38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A5A5A"/>
                </a:solidFill>
              </a:rPr>
              <a:t>General-Purpose STM for Concurrent Dynamic Graph Updates on GPUs</a:t>
            </a:r>
            <a:endParaRPr sz="700">
              <a:solidFill>
                <a:srgbClr val="5A5A5A"/>
              </a:solidFill>
            </a:endParaRPr>
          </a:p>
        </p:txBody>
      </p:sp>
      <p:sp>
        <p:nvSpPr>
          <p:cNvPr id="335" name="Google Shape;335;p33"/>
          <p:cNvSpPr txBox="1"/>
          <p:nvPr/>
        </p:nvSpPr>
        <p:spPr>
          <a:xfrm>
            <a:off x="8161020" y="4841748"/>
            <a:ext cx="4800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2875" spcFirstLastPara="1" rIns="102875" wrap="square" tIns="381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100"/>
          </a:p>
        </p:txBody>
      </p:sp>
      <p:sp>
        <p:nvSpPr>
          <p:cNvPr id="336" name="Google Shape;336;p33"/>
          <p:cNvSpPr/>
          <p:nvPr/>
        </p:nvSpPr>
        <p:spPr>
          <a:xfrm>
            <a:off x="480060" y="1062990"/>
            <a:ext cx="1783080" cy="445770"/>
          </a:xfrm>
          <a:prstGeom prst="roundRect">
            <a:avLst>
              <a:gd fmla="val 16667" name="adj"/>
            </a:avLst>
          </a:prstGeom>
          <a:solidFill>
            <a:srgbClr val="1F3A5F"/>
          </a:solidFill>
          <a:ln cap="flat" cmpd="sng" w="1905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875" lIns="123425" spcFirstLastPara="1" rIns="123425" wrap="square" tIns="54875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Same update stream</a:t>
            </a:r>
            <a:endParaRPr sz="1100"/>
          </a:p>
        </p:txBody>
      </p:sp>
      <p:cxnSp>
        <p:nvCxnSpPr>
          <p:cNvPr id="337" name="Google Shape;337;p33"/>
          <p:cNvCxnSpPr/>
          <p:nvPr/>
        </p:nvCxnSpPr>
        <p:spPr>
          <a:xfrm>
            <a:off x="2263140" y="1282446"/>
            <a:ext cx="240030" cy="0"/>
          </a:xfrm>
          <a:prstGeom prst="straightConnector1">
            <a:avLst/>
          </a:prstGeom>
          <a:noFill/>
          <a:ln cap="flat" cmpd="sng" w="22225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38" name="Google Shape;338;p33"/>
          <p:cNvSpPr/>
          <p:nvPr/>
        </p:nvSpPr>
        <p:spPr>
          <a:xfrm>
            <a:off x="2503170" y="1062990"/>
            <a:ext cx="1371600" cy="44577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875" lIns="123425" spcFirstLastPara="1" rIns="123425" wrap="square" tIns="54875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Atomic / CAS</a:t>
            </a:r>
            <a:endParaRPr sz="1100"/>
          </a:p>
        </p:txBody>
      </p:sp>
      <p:sp>
        <p:nvSpPr>
          <p:cNvPr id="339" name="Google Shape;339;p33"/>
          <p:cNvSpPr/>
          <p:nvPr/>
        </p:nvSpPr>
        <p:spPr>
          <a:xfrm>
            <a:off x="4011930" y="1062990"/>
            <a:ext cx="1577340" cy="445770"/>
          </a:xfrm>
          <a:prstGeom prst="roundRect">
            <a:avLst>
              <a:gd fmla="val 16667" name="adj"/>
            </a:avLst>
          </a:prstGeom>
          <a:solidFill>
            <a:srgbClr val="1F3A5F"/>
          </a:solidFill>
          <a:ln cap="flat" cmpd="sng" w="2540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875" lIns="123425" spcFirstLastPara="1" rIns="123425" wrap="square" tIns="54875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GPU-STM  (proposed)</a:t>
            </a:r>
            <a:endParaRPr sz="1100"/>
          </a:p>
        </p:txBody>
      </p:sp>
      <p:sp>
        <p:nvSpPr>
          <p:cNvPr id="340" name="Google Shape;340;p33"/>
          <p:cNvSpPr/>
          <p:nvPr/>
        </p:nvSpPr>
        <p:spPr>
          <a:xfrm>
            <a:off x="5726430" y="1062990"/>
            <a:ext cx="1371600" cy="44577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875" lIns="123425" spcFirstLastPara="1" rIns="123425" wrap="square" tIns="54875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GPMA+</a:t>
            </a:r>
            <a:endParaRPr sz="1100"/>
          </a:p>
        </p:txBody>
      </p:sp>
      <p:cxnSp>
        <p:nvCxnSpPr>
          <p:cNvPr id="341" name="Google Shape;341;p33"/>
          <p:cNvCxnSpPr/>
          <p:nvPr/>
        </p:nvCxnSpPr>
        <p:spPr>
          <a:xfrm>
            <a:off x="3874770" y="1282446"/>
            <a:ext cx="137160" cy="0"/>
          </a:xfrm>
          <a:prstGeom prst="straightConnector1">
            <a:avLst/>
          </a:prstGeom>
          <a:noFill/>
          <a:ln cap="flat" cmpd="sng" w="22225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42" name="Google Shape;342;p33"/>
          <p:cNvCxnSpPr/>
          <p:nvPr/>
        </p:nvCxnSpPr>
        <p:spPr>
          <a:xfrm>
            <a:off x="5589270" y="1282446"/>
            <a:ext cx="137160" cy="0"/>
          </a:xfrm>
          <a:prstGeom prst="straightConnector1">
            <a:avLst/>
          </a:prstGeom>
          <a:noFill/>
          <a:ln cap="flat" cmpd="sng" w="22225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43" name="Google Shape;343;p33"/>
          <p:cNvSpPr/>
          <p:nvPr/>
        </p:nvSpPr>
        <p:spPr>
          <a:xfrm>
            <a:off x="7235190" y="1062990"/>
            <a:ext cx="1426464" cy="445770"/>
          </a:xfrm>
          <a:prstGeom prst="roundRect">
            <a:avLst>
              <a:gd fmla="val 16667" name="adj"/>
            </a:avLst>
          </a:prstGeom>
          <a:solidFill>
            <a:srgbClr val="EFF2F7"/>
          </a:solidFill>
          <a:ln cap="flat" cmpd="sng" w="1905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875" lIns="123425" spcFirstLastPara="1" rIns="123425" wrap="square" tIns="54875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Compare</a:t>
            </a:r>
            <a:endParaRPr sz="1100"/>
          </a:p>
        </p:txBody>
      </p:sp>
      <p:cxnSp>
        <p:nvCxnSpPr>
          <p:cNvPr id="344" name="Google Shape;344;p33"/>
          <p:cNvCxnSpPr/>
          <p:nvPr/>
        </p:nvCxnSpPr>
        <p:spPr>
          <a:xfrm>
            <a:off x="7098030" y="1282446"/>
            <a:ext cx="137160" cy="0"/>
          </a:xfrm>
          <a:prstGeom prst="straightConnector1">
            <a:avLst/>
          </a:prstGeom>
          <a:noFill/>
          <a:ln cap="flat" cmpd="sng" w="22225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45" name="Google Shape;345;p33"/>
          <p:cNvSpPr txBox="1"/>
          <p:nvPr/>
        </p:nvSpPr>
        <p:spPr>
          <a:xfrm>
            <a:off x="480060" y="1563623"/>
            <a:ext cx="8181594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2875" spcFirstLastPara="1" rIns="102875" wrap="square" tIns="3810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Atomic/CAS ↔ GPU-STM isolates the cost / benefit of the STM abstraction.</a:t>
            </a:r>
            <a:endParaRPr sz="1100"/>
          </a:p>
        </p:txBody>
      </p:sp>
      <p:graphicFrame>
        <p:nvGraphicFramePr>
          <p:cNvPr id="346" name="Google Shape;346;p33"/>
          <p:cNvGraphicFramePr/>
          <p:nvPr/>
        </p:nvGraphicFramePr>
        <p:xfrm>
          <a:off x="480060" y="18859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{362BF6F4-9913-4CAA-A3A7-F83A76B423C0}</a:tableStyleId>
              </a:tblPr>
              <a:tblGrid>
                <a:gridCol w="1165850"/>
                <a:gridCol w="1508750"/>
                <a:gridCol w="2331700"/>
              </a:tblGrid>
              <a:tr h="30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Role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Implementation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1F3A5F"/>
                    </a:solidFill>
                  </a:tcPr>
                </a:tc>
              </a:tr>
              <a:tr h="425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1F3A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Atomic/CAS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Controlled baseline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Same graph + logic as GPU-STM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</a:tr>
              <a:tr h="425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1F3A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GPU-STM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Proposed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Transactional synchronization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EFF2F7"/>
                    </a:solidFill>
                  </a:tcPr>
                </a:tc>
              </a:tr>
              <a:tr h="425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1F3A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GPMA+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Specialized baseline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Existing specialized approach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7" name="Google Shape;347;p33"/>
          <p:cNvSpPr/>
          <p:nvPr/>
        </p:nvSpPr>
        <p:spPr>
          <a:xfrm>
            <a:off x="5692140" y="1885950"/>
            <a:ext cx="2969514" cy="15773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875" lIns="123425" spcFirstLastPara="1" rIns="123425" wrap="square" tIns="54875">
            <a:noAutofit/>
          </a:bodyPr>
          <a:lstStyle/>
          <a:p>
            <a:pPr indent="0" lvl="0" marL="0" marR="0" rtl="0" algn="ctr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3"/>
          <p:cNvSpPr txBox="1"/>
          <p:nvPr/>
        </p:nvSpPr>
        <p:spPr>
          <a:xfrm>
            <a:off x="5863590" y="1954530"/>
            <a:ext cx="267462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2875" spcFirstLastPara="1" rIns="102875" wrap="square" tIns="38100">
            <a:sp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Workloads &amp; Metrics</a:t>
            </a:r>
            <a:endParaRPr sz="1100"/>
          </a:p>
        </p:txBody>
      </p:sp>
      <p:sp>
        <p:nvSpPr>
          <p:cNvPr id="349" name="Google Shape;349;p33"/>
          <p:cNvSpPr txBox="1"/>
          <p:nvPr/>
        </p:nvSpPr>
        <p:spPr>
          <a:xfrm>
            <a:off x="5863590" y="2228850"/>
            <a:ext cx="267462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102875" spcFirstLastPara="1" rIns="102875" wrap="square" tIns="34275">
            <a:spAutoFit/>
          </a:bodyPr>
          <a:lstStyle/>
          <a:p>
            <a:pPr indent="0" lvl="0" marL="0" marR="0" rtl="0" algn="l">
              <a:lnSpc>
                <a:spcPct val="1434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Insert / Delete / Mixed</a:t>
            </a:r>
            <a:endParaRPr sz="1100"/>
          </a:p>
          <a:p>
            <a:pPr indent="0" lvl="0" marL="0" marR="0" rtl="0" algn="l">
              <a:lnSpc>
                <a:spcPct val="143478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Random  /  Power-law</a:t>
            </a:r>
            <a:endParaRPr sz="1100"/>
          </a:p>
          <a:p>
            <a:pPr indent="0" lvl="0" marL="0" marR="0" rtl="0" algn="l">
              <a:lnSpc>
                <a:spcPct val="143478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Low / Medium / High contention</a:t>
            </a:r>
            <a:endParaRPr sz="1100"/>
          </a:p>
          <a:p>
            <a:pPr indent="0" lvl="0" marL="0" marR="0" rtl="0" algn="l">
              <a:lnSpc>
                <a:spcPct val="143478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Throughput  +  Abort rate  +  Correctness</a:t>
            </a:r>
            <a:endParaRPr sz="1100"/>
          </a:p>
        </p:txBody>
      </p:sp>
      <p:sp>
        <p:nvSpPr>
          <p:cNvPr id="350" name="Google Shape;350;p33"/>
          <p:cNvSpPr/>
          <p:nvPr/>
        </p:nvSpPr>
        <p:spPr>
          <a:xfrm>
            <a:off x="480060" y="3669030"/>
            <a:ext cx="8181594" cy="925830"/>
          </a:xfrm>
          <a:prstGeom prst="roundRect">
            <a:avLst>
              <a:gd fmla="val 16667" name="adj"/>
            </a:avLst>
          </a:prstGeom>
          <a:solidFill>
            <a:srgbClr val="EFF2F7"/>
          </a:solidFill>
          <a:ln cap="flat" cmpd="sng" w="15875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875" lIns="123425" spcFirstLastPara="1" rIns="123425" wrap="square" tIns="54875">
            <a:noAutofit/>
          </a:bodyPr>
          <a:lstStyle/>
          <a:p>
            <a:pPr indent="0" lvl="0" marL="0" marR="0" rtl="0" algn="ctr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3"/>
          <p:cNvSpPr txBox="1"/>
          <p:nvPr/>
        </p:nvSpPr>
        <p:spPr>
          <a:xfrm>
            <a:off x="651510" y="3737610"/>
            <a:ext cx="781812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2875" spcFirstLastPara="1" rIns="102875" wrap="square" tIns="3810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Correctness vs. sequential reference  —  no lost updates  ·  no duplicates  ·  correct multi-object updates</a:t>
            </a:r>
            <a:endParaRPr sz="1100"/>
          </a:p>
        </p:txBody>
      </p:sp>
      <p:sp>
        <p:nvSpPr>
          <p:cNvPr id="352" name="Google Shape;352;p33"/>
          <p:cNvSpPr txBox="1"/>
          <p:nvPr/>
        </p:nvSpPr>
        <p:spPr>
          <a:xfrm>
            <a:off x="651510" y="4080510"/>
            <a:ext cx="781812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2875" spcFirstLastPara="1" rIns="102875" wrap="square" tIns="38100">
            <a:spAutoFit/>
          </a:bodyPr>
          <a:lstStyle/>
          <a:p>
            <a:pPr indent="0" lvl="0" marL="0" marR="0" rtl="0" algn="ctr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Sequential reference  →  Expected graph  ↔  GPU result  ···  to be measured, no invented numbers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4"/>
          <p:cNvSpPr txBox="1"/>
          <p:nvPr/>
        </p:nvSpPr>
        <p:spPr>
          <a:xfrm>
            <a:off x="480060" y="171450"/>
            <a:ext cx="81610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2875" spcFirstLastPara="1" rIns="102875" wrap="square" tIns="3810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EVALUATION  2 / 3</a:t>
            </a:r>
            <a:endParaRPr sz="1100"/>
          </a:p>
        </p:txBody>
      </p:sp>
      <p:sp>
        <p:nvSpPr>
          <p:cNvPr id="358" name="Google Shape;358;p34"/>
          <p:cNvSpPr txBox="1"/>
          <p:nvPr/>
        </p:nvSpPr>
        <p:spPr>
          <a:xfrm>
            <a:off x="480060" y="377190"/>
            <a:ext cx="816102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2875" spcFirstLastPara="1" rIns="102875" wrap="square" tIns="3810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Performance Under Increasing Contention</a:t>
            </a:r>
            <a:endParaRPr sz="1100"/>
          </a:p>
        </p:txBody>
      </p:sp>
      <p:cxnSp>
        <p:nvCxnSpPr>
          <p:cNvPr id="359" name="Google Shape;359;p34"/>
          <p:cNvCxnSpPr/>
          <p:nvPr/>
        </p:nvCxnSpPr>
        <p:spPr>
          <a:xfrm>
            <a:off x="480060" y="877824"/>
            <a:ext cx="8181594" cy="0"/>
          </a:xfrm>
          <a:prstGeom prst="straightConnector1">
            <a:avLst/>
          </a:prstGeom>
          <a:noFill/>
          <a:ln cap="flat" cmpd="sng" w="22225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60" name="Google Shape;360;p34"/>
          <p:cNvCxnSpPr/>
          <p:nvPr/>
        </p:nvCxnSpPr>
        <p:spPr>
          <a:xfrm>
            <a:off x="480060" y="4814316"/>
            <a:ext cx="818159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61" name="Google Shape;361;p34"/>
          <p:cNvSpPr txBox="1"/>
          <p:nvPr/>
        </p:nvSpPr>
        <p:spPr>
          <a:xfrm>
            <a:off x="480060" y="4841748"/>
            <a:ext cx="651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2875" spcFirstLastPara="1" rIns="102875" wrap="square" tIns="38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A5A5A"/>
                </a:solidFill>
              </a:rPr>
              <a:t>General-Purpose STM for Concurrent Dynamic Graph Updates on GPUs</a:t>
            </a:r>
            <a:endParaRPr sz="700">
              <a:solidFill>
                <a:srgbClr val="5A5A5A"/>
              </a:solidFill>
            </a:endParaRPr>
          </a:p>
        </p:txBody>
      </p:sp>
      <p:sp>
        <p:nvSpPr>
          <p:cNvPr id="362" name="Google Shape;362;p34"/>
          <p:cNvSpPr txBox="1"/>
          <p:nvPr/>
        </p:nvSpPr>
        <p:spPr>
          <a:xfrm>
            <a:off x="8161020" y="4841748"/>
            <a:ext cx="4800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2875" spcFirstLastPara="1" rIns="102875" wrap="square" tIns="381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100"/>
          </a:p>
        </p:txBody>
      </p:sp>
      <p:sp>
        <p:nvSpPr>
          <p:cNvPr id="363" name="Google Shape;363;p34"/>
          <p:cNvSpPr/>
          <p:nvPr/>
        </p:nvSpPr>
        <p:spPr>
          <a:xfrm>
            <a:off x="480060" y="1062990"/>
            <a:ext cx="3909060" cy="339471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875" lIns="123425" spcFirstLastPara="1" rIns="123425" wrap="square" tIns="54875">
            <a:noAutofit/>
          </a:bodyPr>
          <a:lstStyle/>
          <a:p>
            <a:pPr indent="0" lvl="0" marL="0" marR="0" rtl="0" algn="ctr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4"/>
          <p:cNvSpPr txBox="1"/>
          <p:nvPr/>
        </p:nvSpPr>
        <p:spPr>
          <a:xfrm>
            <a:off x="651510" y="1152144"/>
            <a:ext cx="3566160" cy="237422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2875" spcFirstLastPara="1" rIns="102875" wrap="square" tIns="38100">
            <a:sp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Experiment 1  -  Basic performance</a:t>
            </a:r>
            <a:endParaRPr sz="1100"/>
          </a:p>
        </p:txBody>
      </p:sp>
      <p:sp>
        <p:nvSpPr>
          <p:cNvPr id="365" name="Google Shape;365;p34"/>
          <p:cNvSpPr txBox="1"/>
          <p:nvPr/>
        </p:nvSpPr>
        <p:spPr>
          <a:xfrm>
            <a:off x="651510" y="1495044"/>
            <a:ext cx="356616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102875" spcFirstLastPara="1" rIns="102875" wrap="square" tIns="34275">
            <a:spAutoFit/>
          </a:bodyPr>
          <a:lstStyle/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Edge insertion  /  deletion  /  mixed</a:t>
            </a:r>
            <a:endParaRPr sz="1100"/>
          </a:p>
          <a:p>
            <a:pPr indent="0" lvl="0" marL="0" marR="0" rtl="0" algn="l">
              <a:lnSpc>
                <a:spcPct val="141666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Throughput  +  execution time</a:t>
            </a:r>
            <a:endParaRPr sz="1100"/>
          </a:p>
          <a:p>
            <a:pPr indent="0" lvl="0" marL="0" marR="0" rtl="0" algn="l">
              <a:lnSpc>
                <a:spcPct val="141666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Same stream on Atomic, GPU-STM, GPMA+</a:t>
            </a:r>
            <a:endParaRPr sz="1100"/>
          </a:p>
        </p:txBody>
      </p:sp>
      <p:sp>
        <p:nvSpPr>
          <p:cNvPr id="366" name="Google Shape;366;p34"/>
          <p:cNvSpPr/>
          <p:nvPr/>
        </p:nvSpPr>
        <p:spPr>
          <a:xfrm>
            <a:off x="651510" y="2571750"/>
            <a:ext cx="3566160" cy="720090"/>
          </a:xfrm>
          <a:prstGeom prst="roundRect">
            <a:avLst>
              <a:gd fmla="val 16667" name="adj"/>
            </a:avLst>
          </a:prstGeom>
          <a:solidFill>
            <a:srgbClr val="EFF2F7"/>
          </a:solidFill>
          <a:ln cap="flat" cmpd="sng" w="1905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875" lIns="123425" spcFirstLastPara="1" rIns="123425" wrap="square" tIns="54875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RQ1: What overhead does GPU-STM add over atomic/CAS?</a:t>
            </a:r>
            <a:endParaRPr sz="1100"/>
          </a:p>
        </p:txBody>
      </p:sp>
      <p:sp>
        <p:nvSpPr>
          <p:cNvPr id="367" name="Google Shape;367;p34"/>
          <p:cNvSpPr txBox="1"/>
          <p:nvPr/>
        </p:nvSpPr>
        <p:spPr>
          <a:xfrm>
            <a:off x="651510" y="3429000"/>
            <a:ext cx="35661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2875" spcFirstLastPara="1" rIns="102875" wrap="square" tIns="38100">
            <a:sp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800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Planned result: to be measured.</a:t>
            </a:r>
            <a:endParaRPr sz="1100"/>
          </a:p>
        </p:txBody>
      </p:sp>
      <p:sp>
        <p:nvSpPr>
          <p:cNvPr id="368" name="Google Shape;368;p34"/>
          <p:cNvSpPr txBox="1"/>
          <p:nvPr/>
        </p:nvSpPr>
        <p:spPr>
          <a:xfrm>
            <a:off x="651510" y="380619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2875" spcFirstLastPara="1" rIns="102875" wrap="square" tIns="38100">
            <a:sp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Manual: fast (?) but complex  vs.  STM: simpler, perf. ?</a:t>
            </a:r>
            <a:endParaRPr sz="1100"/>
          </a:p>
        </p:txBody>
      </p:sp>
      <p:sp>
        <p:nvSpPr>
          <p:cNvPr id="369" name="Google Shape;369;p34"/>
          <p:cNvSpPr/>
          <p:nvPr/>
        </p:nvSpPr>
        <p:spPr>
          <a:xfrm>
            <a:off x="4732020" y="1062990"/>
            <a:ext cx="3929634" cy="3394710"/>
          </a:xfrm>
          <a:prstGeom prst="roundRect">
            <a:avLst>
              <a:gd fmla="val 16667" name="adj"/>
            </a:avLst>
          </a:prstGeom>
          <a:solidFill>
            <a:srgbClr val="FFFBEB"/>
          </a:solidFill>
          <a:ln cap="flat" cmpd="sng" w="22225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875" lIns="123425" spcFirstLastPara="1" rIns="123425" wrap="square" tIns="54875">
            <a:noAutofit/>
          </a:bodyPr>
          <a:lstStyle/>
          <a:p>
            <a:pPr indent="0" lvl="0" marL="0" marR="0" rtl="0" algn="ctr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4"/>
          <p:cNvSpPr txBox="1"/>
          <p:nvPr/>
        </p:nvSpPr>
        <p:spPr>
          <a:xfrm>
            <a:off x="4903470" y="1152144"/>
            <a:ext cx="3566160" cy="237422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2875" spcFirstLastPara="1" rIns="102875" wrap="square" tIns="38100">
            <a:sp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Experiment 2  -  Contention (focal)</a:t>
            </a:r>
            <a:endParaRPr sz="1100"/>
          </a:p>
        </p:txBody>
      </p:sp>
      <p:sp>
        <p:nvSpPr>
          <p:cNvPr id="371" name="Google Shape;371;p34"/>
          <p:cNvSpPr/>
          <p:nvPr/>
        </p:nvSpPr>
        <p:spPr>
          <a:xfrm>
            <a:off x="4903470" y="1508760"/>
            <a:ext cx="1062990" cy="411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875" lIns="123425" spcFirstLastPara="1" rIns="123425" wrap="square" tIns="54875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LOW</a:t>
            </a:r>
            <a:endParaRPr sz="1100"/>
          </a:p>
        </p:txBody>
      </p:sp>
      <p:sp>
        <p:nvSpPr>
          <p:cNvPr id="372" name="Google Shape;372;p34"/>
          <p:cNvSpPr/>
          <p:nvPr/>
        </p:nvSpPr>
        <p:spPr>
          <a:xfrm>
            <a:off x="6103620" y="1508760"/>
            <a:ext cx="1062990" cy="411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875" lIns="123425" spcFirstLastPara="1" rIns="123425" wrap="square" tIns="54875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MEDIUM</a:t>
            </a:r>
            <a:endParaRPr sz="1100"/>
          </a:p>
        </p:txBody>
      </p:sp>
      <p:sp>
        <p:nvSpPr>
          <p:cNvPr id="373" name="Google Shape;373;p34"/>
          <p:cNvSpPr/>
          <p:nvPr/>
        </p:nvSpPr>
        <p:spPr>
          <a:xfrm>
            <a:off x="7303770" y="1508760"/>
            <a:ext cx="1062990" cy="411480"/>
          </a:xfrm>
          <a:prstGeom prst="roundRect">
            <a:avLst>
              <a:gd fmla="val 16667" name="adj"/>
            </a:avLst>
          </a:prstGeom>
          <a:solidFill>
            <a:srgbClr val="1F3A5F"/>
          </a:solidFill>
          <a:ln cap="flat" cmpd="sng" w="1905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875" lIns="123425" spcFirstLastPara="1" rIns="123425" wrap="square" tIns="54875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sz="1100"/>
          </a:p>
        </p:txBody>
      </p:sp>
      <p:sp>
        <p:nvSpPr>
          <p:cNvPr id="374" name="Google Shape;374;p34"/>
          <p:cNvSpPr txBox="1"/>
          <p:nvPr/>
        </p:nvSpPr>
        <p:spPr>
          <a:xfrm>
            <a:off x="4903470" y="1975104"/>
            <a:ext cx="106299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2875" spcFirstLastPara="1" rIns="102875" wrap="square" tIns="38100">
            <a:spAutoFit/>
          </a:bodyPr>
          <a:lstStyle/>
          <a:p>
            <a:pPr indent="0" lvl="0" marL="0" marR="0" rtl="0" algn="ctr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unrelated regions</a:t>
            </a:r>
            <a:endParaRPr sz="1100"/>
          </a:p>
        </p:txBody>
      </p:sp>
      <p:sp>
        <p:nvSpPr>
          <p:cNvPr id="375" name="Google Shape;375;p34"/>
          <p:cNvSpPr txBox="1"/>
          <p:nvPr/>
        </p:nvSpPr>
        <p:spPr>
          <a:xfrm>
            <a:off x="6103620" y="1975104"/>
            <a:ext cx="106299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2875" spcFirstLastPara="1" rIns="102875" wrap="square" tIns="38100">
            <a:spAutoFit/>
          </a:bodyPr>
          <a:lstStyle/>
          <a:p>
            <a:pPr indent="0" lvl="0" marL="0" marR="0" rtl="0" algn="ctr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some shared vertices</a:t>
            </a:r>
            <a:endParaRPr sz="1100"/>
          </a:p>
        </p:txBody>
      </p:sp>
      <p:sp>
        <p:nvSpPr>
          <p:cNvPr id="376" name="Google Shape;376;p34"/>
          <p:cNvSpPr txBox="1"/>
          <p:nvPr/>
        </p:nvSpPr>
        <p:spPr>
          <a:xfrm>
            <a:off x="7303770" y="1975104"/>
            <a:ext cx="106299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2875" spcFirstLastPara="1" rIns="102875" wrap="square" tIns="38100">
            <a:spAutoFit/>
          </a:bodyPr>
          <a:lstStyle/>
          <a:p>
            <a:pPr indent="0" lvl="0" marL="0" marR="0" rtl="0" algn="ctr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hot high-degree vertices</a:t>
            </a:r>
            <a:endParaRPr sz="1100"/>
          </a:p>
        </p:txBody>
      </p:sp>
      <p:sp>
        <p:nvSpPr>
          <p:cNvPr id="377" name="Google Shape;377;p34"/>
          <p:cNvSpPr/>
          <p:nvPr/>
        </p:nvSpPr>
        <p:spPr>
          <a:xfrm>
            <a:off x="4903470" y="2468880"/>
            <a:ext cx="3586734" cy="445770"/>
          </a:xfrm>
          <a:prstGeom prst="roundRect">
            <a:avLst>
              <a:gd fmla="val 16667" name="adj"/>
            </a:avLst>
          </a:prstGeom>
          <a:solidFill>
            <a:srgbClr val="1F3A5F"/>
          </a:solidFill>
          <a:ln cap="flat" cmpd="sng" w="1905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875" lIns="123425" spcFirstLastPara="1" rIns="123425" wrap="square" tIns="54875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Contention ↑  →  Conflicts ↑  →  Abort ↑  →  Throughput ?</a:t>
            </a:r>
            <a:endParaRPr sz="1100"/>
          </a:p>
        </p:txBody>
      </p:sp>
      <p:sp>
        <p:nvSpPr>
          <p:cNvPr id="378" name="Google Shape;378;p34"/>
          <p:cNvSpPr txBox="1"/>
          <p:nvPr/>
        </p:nvSpPr>
        <p:spPr>
          <a:xfrm>
            <a:off x="4903470" y="2983229"/>
            <a:ext cx="3586734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102875" spcFirstLastPara="1" rIns="102875" wrap="square" tIns="34275">
            <a:spAutoFit/>
          </a:bodyPr>
          <a:lstStyle/>
          <a:p>
            <a:pPr indent="0" lvl="0" marL="0" marR="0" rtl="0" algn="l">
              <a:lnSpc>
                <a:spcPct val="1434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Random + Power-law  →  Low / Med / High</a:t>
            </a:r>
            <a:endParaRPr sz="1100"/>
          </a:p>
          <a:p>
            <a:pPr indent="0" lvl="0" marL="0" marR="0" rtl="0" algn="l">
              <a:lnSpc>
                <a:spcPct val="143478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Throughput, abort rate, retry count</a:t>
            </a:r>
            <a:endParaRPr sz="1100"/>
          </a:p>
        </p:txBody>
      </p:sp>
      <p:sp>
        <p:nvSpPr>
          <p:cNvPr id="379" name="Google Shape;379;p34"/>
          <p:cNvSpPr/>
          <p:nvPr/>
        </p:nvSpPr>
        <p:spPr>
          <a:xfrm>
            <a:off x="4903470" y="3634740"/>
            <a:ext cx="3586734" cy="65151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875" lIns="123425" spcFirstLastPara="1" rIns="123425" wrap="square" tIns="54875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RQ2: Where does GPU-STM stop being competitive, and why?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5"/>
          <p:cNvSpPr txBox="1"/>
          <p:nvPr/>
        </p:nvSpPr>
        <p:spPr>
          <a:xfrm>
            <a:off x="480060" y="171450"/>
            <a:ext cx="81610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2875" spcFirstLastPara="1" rIns="102875" wrap="square" tIns="3810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EVALUATION  3 / 3</a:t>
            </a:r>
            <a:endParaRPr sz="1100"/>
          </a:p>
        </p:txBody>
      </p:sp>
      <p:sp>
        <p:nvSpPr>
          <p:cNvPr id="385" name="Google Shape;385;p35"/>
          <p:cNvSpPr txBox="1"/>
          <p:nvPr/>
        </p:nvSpPr>
        <p:spPr>
          <a:xfrm>
            <a:off x="480060" y="377190"/>
            <a:ext cx="816102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2875" spcFirstLastPara="1" rIns="102875" wrap="square" tIns="3810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Does the Abstraction Actually Help?</a:t>
            </a:r>
            <a:endParaRPr sz="1100"/>
          </a:p>
        </p:txBody>
      </p:sp>
      <p:cxnSp>
        <p:nvCxnSpPr>
          <p:cNvPr id="386" name="Google Shape;386;p35"/>
          <p:cNvCxnSpPr/>
          <p:nvPr/>
        </p:nvCxnSpPr>
        <p:spPr>
          <a:xfrm>
            <a:off x="480060" y="877824"/>
            <a:ext cx="8181594" cy="0"/>
          </a:xfrm>
          <a:prstGeom prst="straightConnector1">
            <a:avLst/>
          </a:prstGeom>
          <a:noFill/>
          <a:ln cap="flat" cmpd="sng" w="22225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87" name="Google Shape;387;p35"/>
          <p:cNvCxnSpPr/>
          <p:nvPr/>
        </p:nvCxnSpPr>
        <p:spPr>
          <a:xfrm>
            <a:off x="480060" y="4814316"/>
            <a:ext cx="818159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88" name="Google Shape;388;p35"/>
          <p:cNvSpPr txBox="1"/>
          <p:nvPr/>
        </p:nvSpPr>
        <p:spPr>
          <a:xfrm>
            <a:off x="480060" y="4841748"/>
            <a:ext cx="651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2875" spcFirstLastPara="1" rIns="102875" wrap="square" tIns="38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A5A5A"/>
                </a:solidFill>
              </a:rPr>
              <a:t>General-Purpose STM for Concurrent Dynamic Graph Updates on GPUs</a:t>
            </a:r>
            <a:endParaRPr sz="700">
              <a:solidFill>
                <a:srgbClr val="5A5A5A"/>
              </a:solidFill>
            </a:endParaRPr>
          </a:p>
        </p:txBody>
      </p:sp>
      <p:sp>
        <p:nvSpPr>
          <p:cNvPr id="389" name="Google Shape;389;p35"/>
          <p:cNvSpPr txBox="1"/>
          <p:nvPr/>
        </p:nvSpPr>
        <p:spPr>
          <a:xfrm>
            <a:off x="8161020" y="4841748"/>
            <a:ext cx="4800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2875" spcFirstLastPara="1" rIns="102875" wrap="square" tIns="381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100"/>
          </a:p>
        </p:txBody>
      </p:sp>
      <p:sp>
        <p:nvSpPr>
          <p:cNvPr id="390" name="Google Shape;390;p35"/>
          <p:cNvSpPr/>
          <p:nvPr/>
        </p:nvSpPr>
        <p:spPr>
          <a:xfrm>
            <a:off x="480060" y="1062990"/>
            <a:ext cx="2194560" cy="58293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875" lIns="123425" spcFirstLastPara="1" rIns="123425" wrap="square" tIns="54875">
            <a:noAutofit/>
          </a:bodyPr>
          <a:lstStyle/>
          <a:p>
            <a:pPr indent="0" lvl="0" marL="0" marR="0" rtl="0" algn="ctr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Simple:  update(v)</a:t>
            </a:r>
            <a:endParaRPr sz="1100"/>
          </a:p>
        </p:txBody>
      </p:sp>
      <p:sp>
        <p:nvSpPr>
          <p:cNvPr id="391" name="Google Shape;391;p35"/>
          <p:cNvSpPr/>
          <p:nvPr/>
        </p:nvSpPr>
        <p:spPr>
          <a:xfrm>
            <a:off x="2846070" y="1062990"/>
            <a:ext cx="2468880" cy="58293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875" lIns="123425" spcFirstLastPara="1" rIns="123425" wrap="square" tIns="54875">
            <a:noAutofit/>
          </a:bodyPr>
          <a:lstStyle/>
          <a:p>
            <a:pPr indent="0" lvl="0" marL="0" marR="0" rtl="0" algn="ctr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Two-object:  update(u) + update(v)</a:t>
            </a:r>
            <a:endParaRPr sz="1100"/>
          </a:p>
        </p:txBody>
      </p:sp>
      <p:sp>
        <p:nvSpPr>
          <p:cNvPr id="392" name="Google Shape;392;p35"/>
          <p:cNvSpPr/>
          <p:nvPr/>
        </p:nvSpPr>
        <p:spPr>
          <a:xfrm>
            <a:off x="5486400" y="1062990"/>
            <a:ext cx="3175254" cy="582930"/>
          </a:xfrm>
          <a:prstGeom prst="roundRect">
            <a:avLst>
              <a:gd fmla="val 16667" name="adj"/>
            </a:avLst>
          </a:prstGeom>
          <a:solidFill>
            <a:srgbClr val="EFF2F7"/>
          </a:solidFill>
          <a:ln cap="flat" cmpd="sng" w="22225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875" lIns="123425" spcFirstLastPara="1" rIns="123425" wrap="square" tIns="54875">
            <a:noAutofit/>
          </a:bodyPr>
          <a:lstStyle/>
          <a:p>
            <a:pPr indent="0" lvl="0" marL="0" marR="0" rtl="0" algn="ctr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Multi-object:  insert + adjacency + degree</a:t>
            </a:r>
            <a:endParaRPr sz="1100"/>
          </a:p>
        </p:txBody>
      </p:sp>
      <p:sp>
        <p:nvSpPr>
          <p:cNvPr id="393" name="Google Shape;393;p35"/>
          <p:cNvSpPr/>
          <p:nvPr/>
        </p:nvSpPr>
        <p:spPr>
          <a:xfrm>
            <a:off x="480060" y="1817370"/>
            <a:ext cx="4046220" cy="120015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875" lIns="123425" spcFirstLastPara="1" rIns="123425" wrap="square" tIns="54875">
            <a:noAutofit/>
          </a:bodyPr>
          <a:lstStyle/>
          <a:p>
            <a:pPr indent="0" lvl="0" marL="0" marR="0" rtl="0" algn="ctr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5"/>
          <p:cNvSpPr txBox="1"/>
          <p:nvPr/>
        </p:nvSpPr>
        <p:spPr>
          <a:xfrm>
            <a:off x="651510" y="1906524"/>
            <a:ext cx="370332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2875" spcFirstLastPara="1" rIns="102875" wrap="square" tIns="38100">
            <a:sp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Atomic/CAS  —  baseline</a:t>
            </a:r>
            <a:endParaRPr sz="1100"/>
          </a:p>
        </p:txBody>
      </p:sp>
      <p:sp>
        <p:nvSpPr>
          <p:cNvPr id="395" name="Google Shape;395;p35"/>
          <p:cNvSpPr txBox="1"/>
          <p:nvPr/>
        </p:nvSpPr>
        <p:spPr>
          <a:xfrm>
            <a:off x="651510" y="2160270"/>
            <a:ext cx="3703320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102875" spcFirstLastPara="1" rIns="102875" wrap="square" tIns="34275">
            <a:spAutoFit/>
          </a:bodyPr>
          <a:lstStyle/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Explicit sync + ordering + retries</a:t>
            </a:r>
            <a:endParaRPr sz="1100"/>
          </a:p>
          <a:p>
            <a:pPr indent="0" lvl="0" marL="0" marR="0" rtl="0" algn="l">
              <a:lnSpc>
                <a:spcPct val="141666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Multi-object atomicity: manual</a:t>
            </a:r>
            <a:endParaRPr sz="1100"/>
          </a:p>
        </p:txBody>
      </p:sp>
      <p:sp>
        <p:nvSpPr>
          <p:cNvPr id="396" name="Google Shape;396;p35"/>
          <p:cNvSpPr/>
          <p:nvPr/>
        </p:nvSpPr>
        <p:spPr>
          <a:xfrm>
            <a:off x="4732020" y="1817370"/>
            <a:ext cx="3929634" cy="1200150"/>
          </a:xfrm>
          <a:prstGeom prst="roundRect">
            <a:avLst>
              <a:gd fmla="val 16667" name="adj"/>
            </a:avLst>
          </a:prstGeom>
          <a:solidFill>
            <a:srgbClr val="1F3A5F"/>
          </a:solidFill>
          <a:ln cap="flat" cmpd="sng" w="1905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875" lIns="123425" spcFirstLastPara="1" rIns="123425" wrap="square" tIns="54875">
            <a:noAutofit/>
          </a:bodyPr>
          <a:lstStyle/>
          <a:p>
            <a:pPr indent="0" lvl="0" marL="0" marR="0" rtl="0" algn="ctr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5"/>
          <p:cNvSpPr txBox="1"/>
          <p:nvPr/>
        </p:nvSpPr>
        <p:spPr>
          <a:xfrm>
            <a:off x="4903470" y="1906524"/>
            <a:ext cx="35661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2875" spcFirstLastPara="1" rIns="102875" wrap="square" tIns="38100">
            <a:sp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GPU-STM  —  proposed</a:t>
            </a:r>
            <a:endParaRPr sz="1100"/>
          </a:p>
        </p:txBody>
      </p:sp>
      <p:sp>
        <p:nvSpPr>
          <p:cNvPr id="398" name="Google Shape;398;p35"/>
          <p:cNvSpPr txBox="1"/>
          <p:nvPr/>
        </p:nvSpPr>
        <p:spPr>
          <a:xfrm>
            <a:off x="4903470" y="2160270"/>
            <a:ext cx="3566160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102875" spcFirstLastPara="1" rIns="1028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 transaction { modify + metadata }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 STM: detect → validate → commit/abort</a:t>
            </a:r>
            <a:endParaRPr sz="1100"/>
          </a:p>
        </p:txBody>
      </p:sp>
      <p:graphicFrame>
        <p:nvGraphicFramePr>
          <p:cNvPr id="399" name="Google Shape;399;p35"/>
          <p:cNvGraphicFramePr/>
          <p:nvPr/>
        </p:nvGraphicFramePr>
        <p:xfrm>
          <a:off x="480060" y="31546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{362BF6F4-9913-4CAA-A3A7-F83A76B423C0}</a:tableStyleId>
              </a:tblPr>
              <a:tblGrid>
                <a:gridCol w="2057400"/>
                <a:gridCol w="1371600"/>
                <a:gridCol w="1371600"/>
              </a:tblGrid>
              <a:tr h="24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88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Atomic/CAS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GPU-STM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1F3A5F"/>
                    </a:solidFill>
                  </a:tcPr>
                </a:tc>
              </a:tr>
              <a:tr h="226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Sync. logic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1F3A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</a:tr>
              <a:tr h="226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Conflict handling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 code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1F3A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STM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EFF2F7"/>
                    </a:solidFill>
                  </a:tcPr>
                </a:tc>
              </a:tr>
              <a:tr h="226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Performance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Baseline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1F3A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Competitive?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0" name="Google Shape;400;p35"/>
          <p:cNvSpPr/>
          <p:nvPr/>
        </p:nvSpPr>
        <p:spPr>
          <a:xfrm>
            <a:off x="5486400" y="3154680"/>
            <a:ext cx="3175254" cy="925830"/>
          </a:xfrm>
          <a:prstGeom prst="roundRect">
            <a:avLst>
              <a:gd fmla="val 16667" name="adj"/>
            </a:avLst>
          </a:prstGeom>
          <a:solidFill>
            <a:srgbClr val="FFFBEB"/>
          </a:solidFill>
          <a:ln cap="flat" cmpd="sng" w="19050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875" lIns="123425" spcFirstLastPara="1" rIns="123425" wrap="square" tIns="54875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Lower complexity → lower error potential</a:t>
            </a:r>
            <a:br>
              <a:rPr b="1" lang="en" sz="9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90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Throughput + sync LOC + #atomics</a:t>
            </a:r>
            <a:endParaRPr sz="1100"/>
          </a:p>
        </p:txBody>
      </p:sp>
      <p:sp>
        <p:nvSpPr>
          <p:cNvPr id="401" name="Google Shape;401;p35"/>
          <p:cNvSpPr/>
          <p:nvPr/>
        </p:nvSpPr>
        <p:spPr>
          <a:xfrm>
            <a:off x="480060" y="4183380"/>
            <a:ext cx="8181594" cy="411480"/>
          </a:xfrm>
          <a:prstGeom prst="roundRect">
            <a:avLst>
              <a:gd fmla="val 16667" name="adj"/>
            </a:avLst>
          </a:prstGeom>
          <a:solidFill>
            <a:srgbClr val="1F3A5F"/>
          </a:solidFill>
          <a:ln cap="flat" cmpd="sng" w="1905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875" lIns="123425" spcFirstLastPara="1" rIns="123425" wrap="square" tIns="54875">
            <a:noAutofit/>
          </a:bodyPr>
          <a:lstStyle/>
          <a:p>
            <a:pPr indent="0" lvl="0" marL="0" marR="0" rtl="0" algn="ctr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RQ3: Can GPU-STM cut complexity without significant performance loss?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